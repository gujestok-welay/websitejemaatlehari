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303" r:id="rId4"/>
    <p:sldId id="304" r:id="rId5"/>
    <p:sldId id="305" r:id="rId6"/>
    <p:sldId id="306" r:id="rId7"/>
    <p:sldId id="315" r:id="rId8"/>
    <p:sldId id="317" r:id="rId9"/>
    <p:sldId id="320" r:id="rId10"/>
    <p:sldId id="321" r:id="rId11"/>
    <p:sldId id="322" r:id="rId12"/>
    <p:sldId id="323" r:id="rId13"/>
    <p:sldId id="326" r:id="rId14"/>
    <p:sldId id="318" r:id="rId15"/>
    <p:sldId id="310" r:id="rId16"/>
    <p:sldId id="311" r:id="rId17"/>
    <p:sldId id="314" r:id="rId18"/>
    <p:sldId id="313" r:id="rId19"/>
    <p:sldId id="312" r:id="rId20"/>
    <p:sldId id="327" r:id="rId21"/>
    <p:sldId id="328" r:id="rId22"/>
    <p:sldId id="329" r:id="rId23"/>
    <p:sldId id="330" r:id="rId24"/>
    <p:sldId id="332" r:id="rId25"/>
    <p:sldId id="333" r:id="rId26"/>
    <p:sldId id="335" r:id="rId27"/>
    <p:sldId id="336" r:id="rId28"/>
    <p:sldId id="339" r:id="rId29"/>
    <p:sldId id="340" r:id="rId30"/>
    <p:sldId id="337" r:id="rId31"/>
    <p:sldId id="334" r:id="rId32"/>
    <p:sldId id="33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19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8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4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4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8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DE6E6-E8BE-4FCD-81FE-96840F4FB1B6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0AE2E-41A7-47BA-BF3B-DCB4E99E1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0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435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714" y="135336"/>
            <a:ext cx="944962" cy="9083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14" y="2874204"/>
            <a:ext cx="1804572" cy="34384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2763" y="1204413"/>
            <a:ext cx="6946474" cy="253537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ALAT PEMADAM API RINGAN (APAR)</a:t>
            </a:r>
            <a:endParaRPr lang="en-US" b="1" dirty="0">
              <a:solidFill>
                <a:srgbClr val="FF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817" y="2947362"/>
            <a:ext cx="1969179" cy="3292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6737" y="154211"/>
            <a:ext cx="774259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D15A7-682D-55D1-1F1F-A593E8687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4656" y="1662271"/>
            <a:ext cx="2735333" cy="37419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06C185-0DA3-1934-582A-F987BCFAD29B}"/>
              </a:ext>
            </a:extLst>
          </p:cNvPr>
          <p:cNvSpPr txBox="1"/>
          <p:nvPr/>
        </p:nvSpPr>
        <p:spPr>
          <a:xfrm>
            <a:off x="493835" y="1584117"/>
            <a:ext cx="62004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Alat </a:t>
            </a:r>
            <a:r>
              <a:rPr lang="en-US" sz="2400" b="1" dirty="0" err="1"/>
              <a:t>pemadam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ringan</a:t>
            </a:r>
            <a:r>
              <a:rPr lang="en-US" sz="2400" b="1" dirty="0"/>
              <a:t> </a:t>
            </a:r>
            <a:r>
              <a:rPr lang="en-US" sz="2400" b="1" dirty="0" err="1"/>
              <a:t>atau</a:t>
            </a:r>
            <a:r>
              <a:rPr lang="en-US" sz="2400" b="1" dirty="0"/>
              <a:t> APAR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sebuah</a:t>
            </a:r>
            <a:r>
              <a:rPr lang="en-US" sz="2400" b="1" dirty="0"/>
              <a:t>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khusus</a:t>
            </a:r>
            <a:r>
              <a:rPr lang="en-US" sz="2400" b="1" dirty="0"/>
              <a:t> yang </a:t>
            </a:r>
            <a:r>
              <a:rPr lang="en-US" sz="2400" b="1" dirty="0" err="1"/>
              <a:t>digunakan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kecil</a:t>
            </a:r>
            <a:r>
              <a:rPr lang="en-US" sz="2400" b="1" dirty="0"/>
              <a:t>. </a:t>
            </a:r>
            <a:r>
              <a:rPr lang="en-US" sz="2400" b="1" dirty="0" err="1"/>
              <a:t>Sebelum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membesar</a:t>
            </a:r>
            <a:r>
              <a:rPr lang="en-US" sz="2400" b="1" dirty="0"/>
              <a:t> dan </a:t>
            </a:r>
            <a:r>
              <a:rPr lang="en-US" sz="2400" b="1" dirty="0" err="1"/>
              <a:t>sulit</a:t>
            </a:r>
            <a:r>
              <a:rPr lang="en-US" sz="2400" b="1" dirty="0"/>
              <a:t> </a:t>
            </a:r>
            <a:r>
              <a:rPr lang="en-US" sz="2400" b="1" dirty="0" err="1"/>
              <a:t>dikendalikan</a:t>
            </a:r>
            <a:r>
              <a:rPr lang="en-US" sz="2400" b="1" dirty="0"/>
              <a:t>,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harus</a:t>
            </a:r>
            <a:r>
              <a:rPr lang="en-US" sz="2400" b="1" dirty="0"/>
              <a:t> </a:t>
            </a:r>
            <a:r>
              <a:rPr lang="en-US" sz="2400" b="1" dirty="0" err="1"/>
              <a:t>segera</a:t>
            </a:r>
            <a:r>
              <a:rPr lang="en-US" sz="2400" b="1" dirty="0"/>
              <a:t> </a:t>
            </a:r>
            <a:r>
              <a:rPr lang="en-US" sz="2400" b="1" dirty="0" err="1"/>
              <a:t>dipadamkan</a:t>
            </a:r>
            <a:r>
              <a:rPr lang="en-US" sz="2400" b="1" dirty="0"/>
              <a:t> </a:t>
            </a:r>
            <a:r>
              <a:rPr lang="en-US" sz="2400" b="1" dirty="0" err="1"/>
              <a:t>menggunakan</a:t>
            </a:r>
            <a:r>
              <a:rPr lang="en-US" sz="2400" b="1" dirty="0"/>
              <a:t>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ini</a:t>
            </a:r>
            <a:r>
              <a:rPr lang="en-US" sz="2400" b="1" dirty="0"/>
              <a:t>. Alat </a:t>
            </a:r>
            <a:r>
              <a:rPr lang="en-US" sz="2400" b="1" dirty="0" err="1"/>
              <a:t>pemadam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terdiri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r>
              <a:rPr lang="en-US" sz="2400" b="1" dirty="0" err="1"/>
              <a:t>beberapa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yang </a:t>
            </a:r>
            <a:r>
              <a:rPr lang="en-US" sz="2400" b="1" dirty="0" err="1"/>
              <a:t>dibuat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media yang </a:t>
            </a:r>
            <a:r>
              <a:rPr lang="en-US" sz="2400" b="1" dirty="0" err="1"/>
              <a:t>berbeda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fungsi</a:t>
            </a:r>
            <a:r>
              <a:rPr lang="en-US" sz="2400" b="1" dirty="0"/>
              <a:t> yang </a:t>
            </a:r>
            <a:r>
              <a:rPr lang="en-US" sz="2400" b="1" dirty="0" err="1"/>
              <a:t>berbeda</a:t>
            </a:r>
            <a:r>
              <a:rPr lang="en-US" sz="2400" b="1" dirty="0"/>
              <a:t> pula.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8A3331-24C9-D78F-A6C4-4D84E7CBF1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7175" y="1878657"/>
            <a:ext cx="2321083" cy="275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7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05C18-29A8-930C-FAED-813D29EFE402}"/>
              </a:ext>
            </a:extLst>
          </p:cNvPr>
          <p:cNvSpPr txBox="1"/>
          <p:nvPr/>
        </p:nvSpPr>
        <p:spPr>
          <a:xfrm>
            <a:off x="834021" y="2091930"/>
            <a:ext cx="58441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Pada </a:t>
            </a:r>
            <a:r>
              <a:rPr lang="en-US" sz="2400" b="1" dirty="0" err="1"/>
              <a:t>dasarnya</a:t>
            </a:r>
            <a:r>
              <a:rPr lang="en-US" sz="2400" b="1" dirty="0"/>
              <a:t> Alat </a:t>
            </a:r>
            <a:r>
              <a:rPr lang="en-US" sz="2400" b="1" dirty="0" err="1"/>
              <a:t>Pemadam</a:t>
            </a:r>
            <a:r>
              <a:rPr lang="en-US" sz="2400" b="1" dirty="0"/>
              <a:t> Api </a:t>
            </a:r>
            <a:r>
              <a:rPr lang="en-US" sz="2400" b="1" dirty="0" err="1"/>
              <a:t>Ringan</a:t>
            </a:r>
            <a:r>
              <a:rPr lang="en-US" sz="2400" b="1" dirty="0"/>
              <a:t> </a:t>
            </a:r>
            <a:r>
              <a:rPr lang="en-US" sz="2400" b="1" dirty="0" err="1"/>
              <a:t>atau</a:t>
            </a:r>
            <a:r>
              <a:rPr lang="en-US" sz="2400" b="1" dirty="0"/>
              <a:t> APAR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suatu</a:t>
            </a:r>
            <a:r>
              <a:rPr lang="en-US" sz="2400" b="1" dirty="0"/>
              <a:t>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pemadam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yang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dibawa</a:t>
            </a:r>
            <a:r>
              <a:rPr lang="en-US" sz="2400" b="1" dirty="0"/>
              <a:t> dan </a:t>
            </a:r>
            <a:r>
              <a:rPr lang="en-US" sz="2400" b="1" dirty="0" err="1"/>
              <a:t>digunakan</a:t>
            </a:r>
            <a:r>
              <a:rPr lang="en-US" sz="2400" b="1" dirty="0"/>
              <a:t> / </a:t>
            </a:r>
            <a:r>
              <a:rPr lang="en-US" sz="2400" b="1" dirty="0" err="1"/>
              <a:t>dioperasikan</a:t>
            </a:r>
            <a:r>
              <a:rPr lang="en-US" sz="2400" b="1" dirty="0"/>
              <a:t> oleh </a:t>
            </a:r>
            <a:r>
              <a:rPr lang="en-US" sz="2400" b="1" dirty="0" err="1"/>
              <a:t>satu</a:t>
            </a:r>
            <a:r>
              <a:rPr lang="en-US" sz="2400" b="1" dirty="0"/>
              <a:t> orang </a:t>
            </a:r>
            <a:r>
              <a:rPr lang="en-US" sz="2400" b="1" dirty="0" err="1"/>
              <a:t>serta</a:t>
            </a:r>
            <a:r>
              <a:rPr lang="en-US" sz="2400" b="1" dirty="0"/>
              <a:t> </a:t>
            </a:r>
            <a:r>
              <a:rPr lang="en-US" sz="2400" b="1" dirty="0" err="1"/>
              <a:t>berdiri</a:t>
            </a:r>
            <a:r>
              <a:rPr lang="en-US" sz="2400" b="1" dirty="0"/>
              <a:t> </a:t>
            </a:r>
            <a:r>
              <a:rPr lang="en-US" sz="2400" b="1" dirty="0" err="1"/>
              <a:t>sendiri</a:t>
            </a:r>
            <a:r>
              <a:rPr lang="en-US" sz="2400" b="1" dirty="0"/>
              <a:t>. </a:t>
            </a:r>
            <a:r>
              <a:rPr lang="en-US" sz="2400" b="1" dirty="0" err="1"/>
              <a:t>Ditinjau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r>
              <a:rPr lang="en-US" sz="2400" b="1" dirty="0" err="1"/>
              <a:t>beratnya</a:t>
            </a:r>
            <a:r>
              <a:rPr lang="en-US" sz="2400" b="1" dirty="0"/>
              <a:t> Alat </a:t>
            </a:r>
            <a:r>
              <a:rPr lang="en-US" sz="2400" b="1" dirty="0" err="1"/>
              <a:t>Pemadam</a:t>
            </a:r>
            <a:r>
              <a:rPr lang="en-US" sz="2400" b="1" dirty="0"/>
              <a:t> Api </a:t>
            </a:r>
            <a:r>
              <a:rPr lang="en-US" sz="2400" b="1" dirty="0" err="1"/>
              <a:t>Ringan</a:t>
            </a:r>
            <a:r>
              <a:rPr lang="en-US" sz="2400" b="1" dirty="0"/>
              <a:t> </a:t>
            </a:r>
            <a:r>
              <a:rPr lang="en-US" sz="2400" b="1" dirty="0" err="1"/>
              <a:t>mempunyai</a:t>
            </a:r>
            <a:r>
              <a:rPr lang="en-US" sz="2400" b="1" dirty="0"/>
              <a:t> </a:t>
            </a:r>
            <a:r>
              <a:rPr lang="en-US" sz="2400" b="1" dirty="0" err="1"/>
              <a:t>berat</a:t>
            </a:r>
            <a:r>
              <a:rPr lang="en-US" sz="2400" b="1" dirty="0"/>
              <a:t> </a:t>
            </a:r>
            <a:r>
              <a:rPr lang="en-US" sz="2400" b="1" dirty="0" err="1"/>
              <a:t>berkisar</a:t>
            </a:r>
            <a:r>
              <a:rPr lang="en-US" sz="2400" b="1" dirty="0"/>
              <a:t> </a:t>
            </a:r>
            <a:r>
              <a:rPr lang="en-US" sz="2400" b="1" dirty="0" err="1"/>
              <a:t>antara</a:t>
            </a:r>
            <a:r>
              <a:rPr lang="en-US" sz="2400" b="1" dirty="0"/>
              <a:t> 1 </a:t>
            </a:r>
            <a:r>
              <a:rPr lang="en-US" sz="2400" b="1" dirty="0" err="1"/>
              <a:t>Lb</a:t>
            </a:r>
            <a:r>
              <a:rPr lang="en-US" sz="2400" b="1" dirty="0"/>
              <a:t> </a:t>
            </a:r>
            <a:r>
              <a:rPr lang="en-US" sz="2400" b="1" dirty="0" err="1"/>
              <a:t>sampai</a:t>
            </a:r>
            <a:r>
              <a:rPr lang="en-US" sz="2400" b="1" dirty="0"/>
              <a:t> 32 </a:t>
            </a:r>
            <a:r>
              <a:rPr lang="en-US" sz="2400" b="1" dirty="0" err="1"/>
              <a:t>Lbs</a:t>
            </a:r>
            <a:r>
              <a:rPr lang="en-US" sz="2400" b="1" dirty="0"/>
              <a:t> (0,5kg – 16kg).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91706-04EA-BEC2-3C92-5D4269721B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2749" y="1016000"/>
            <a:ext cx="5424100" cy="427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1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BDD77-21A3-D5D6-5587-ACE1C1CFF235}"/>
              </a:ext>
            </a:extLst>
          </p:cNvPr>
          <p:cNvSpPr txBox="1"/>
          <p:nvPr/>
        </p:nvSpPr>
        <p:spPr>
          <a:xfrm>
            <a:off x="4651624" y="1252502"/>
            <a:ext cx="62004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/>
              <a:t>Fungsi</a:t>
            </a:r>
            <a:r>
              <a:rPr lang="en-US" sz="4400" b="1" dirty="0"/>
              <a:t> APAR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44D4D-5AC6-9872-F11F-CBB8076B96F5}"/>
              </a:ext>
            </a:extLst>
          </p:cNvPr>
          <p:cNvSpPr txBox="1"/>
          <p:nvPr/>
        </p:nvSpPr>
        <p:spPr>
          <a:xfrm>
            <a:off x="1045394" y="2258445"/>
            <a:ext cx="106979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Fire Extinguishers, </a:t>
            </a:r>
            <a:r>
              <a:rPr lang="en-US" sz="2400" b="1" dirty="0" err="1"/>
              <a:t>atau</a:t>
            </a:r>
            <a:r>
              <a:rPr lang="en-US" sz="2400" b="1" dirty="0"/>
              <a:t> Alat </a:t>
            </a:r>
            <a:r>
              <a:rPr lang="en-US" sz="2400" b="1" dirty="0" err="1"/>
              <a:t>Pemadam</a:t>
            </a:r>
            <a:r>
              <a:rPr lang="en-US" sz="2400" b="1" dirty="0"/>
              <a:t> Api </a:t>
            </a:r>
            <a:r>
              <a:rPr lang="en-US" sz="2400" b="1" dirty="0" err="1"/>
              <a:t>Ringan</a:t>
            </a:r>
            <a:r>
              <a:rPr lang="en-US" sz="2400" b="1" dirty="0"/>
              <a:t> (APAR),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perangkat</a:t>
            </a:r>
            <a:r>
              <a:rPr lang="en-US" sz="2400" b="1" dirty="0"/>
              <a:t> </a:t>
            </a:r>
            <a:r>
              <a:rPr lang="en-US" sz="2400" b="1" dirty="0" err="1"/>
              <a:t>penting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yang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terjadi</a:t>
            </a:r>
            <a:r>
              <a:rPr lang="en-US" sz="2400" b="1" dirty="0"/>
              <a:t> </a:t>
            </a:r>
            <a:r>
              <a:rPr lang="en-US" sz="2400" b="1" dirty="0" err="1"/>
              <a:t>karena</a:t>
            </a:r>
            <a:r>
              <a:rPr lang="en-US" sz="2400" b="1" dirty="0"/>
              <a:t> </a:t>
            </a:r>
            <a:r>
              <a:rPr lang="en-US" sz="2400" b="1" dirty="0" err="1"/>
              <a:t>berbagai</a:t>
            </a:r>
            <a:r>
              <a:rPr lang="en-US" sz="2400" b="1" dirty="0"/>
              <a:t> </a:t>
            </a:r>
            <a:r>
              <a:rPr lang="en-US" sz="2400" b="1" dirty="0" err="1"/>
              <a:t>hal</a:t>
            </a:r>
            <a:r>
              <a:rPr lang="en-US" sz="2400" b="1" dirty="0"/>
              <a:t>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korsleting</a:t>
            </a:r>
            <a:r>
              <a:rPr lang="en-US" sz="2400" b="1" dirty="0"/>
              <a:t> </a:t>
            </a:r>
            <a:r>
              <a:rPr lang="en-US" sz="2400" b="1" dirty="0" err="1"/>
              <a:t>listrik</a:t>
            </a:r>
            <a:r>
              <a:rPr lang="en-US" sz="2400" b="1" dirty="0"/>
              <a:t>, gas bocor, </a:t>
            </a:r>
            <a:r>
              <a:rPr lang="en-US" sz="2400" b="1" dirty="0" err="1"/>
              <a:t>atau</a:t>
            </a:r>
            <a:r>
              <a:rPr lang="en-US" sz="2400" b="1" dirty="0"/>
              <a:t> </a:t>
            </a:r>
            <a:r>
              <a:rPr lang="en-US" sz="2400" b="1" dirty="0" err="1"/>
              <a:t>tindakan</a:t>
            </a:r>
            <a:r>
              <a:rPr lang="en-US" sz="2400" b="1" dirty="0"/>
              <a:t> </a:t>
            </a:r>
            <a:r>
              <a:rPr lang="en-US" sz="2400" b="1" dirty="0" err="1"/>
              <a:t>kriminal</a:t>
            </a:r>
            <a:r>
              <a:rPr lang="en-US" sz="2400" b="1" dirty="0"/>
              <a:t>. </a:t>
            </a:r>
            <a:r>
              <a:rPr lang="en-US" sz="2400" b="1" dirty="0" err="1"/>
              <a:t>Berikut</a:t>
            </a:r>
            <a:r>
              <a:rPr lang="en-US" sz="2400" b="1" dirty="0"/>
              <a:t>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beberapa</a:t>
            </a:r>
            <a:r>
              <a:rPr lang="en-US" sz="2400" b="1" dirty="0"/>
              <a:t> </a:t>
            </a:r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atau</a:t>
            </a:r>
            <a:r>
              <a:rPr lang="en-US" sz="2400" b="1" dirty="0"/>
              <a:t> </a:t>
            </a:r>
            <a:r>
              <a:rPr lang="en-US" sz="2400" b="1" dirty="0" err="1"/>
              <a:t>kegunaan</a:t>
            </a:r>
            <a:r>
              <a:rPr lang="en-US" sz="2400" b="1" dirty="0"/>
              <a:t> fire extinguisher: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E5954-CFAB-BEF7-A690-84B8F1204DAF}"/>
              </a:ext>
            </a:extLst>
          </p:cNvPr>
          <p:cNvSpPr txBox="1"/>
          <p:nvPr/>
        </p:nvSpPr>
        <p:spPr>
          <a:xfrm>
            <a:off x="1045394" y="4130372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EA7CD-3860-0996-6883-8278BC0EF630}"/>
              </a:ext>
            </a:extLst>
          </p:cNvPr>
          <p:cNvSpPr txBox="1"/>
          <p:nvPr/>
        </p:nvSpPr>
        <p:spPr>
          <a:xfrm>
            <a:off x="1199506" y="4894304"/>
            <a:ext cx="10194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/>
              <a:t>Fungsi</a:t>
            </a:r>
            <a:r>
              <a:rPr lang="en-US" sz="2400" b="1" dirty="0"/>
              <a:t> </a:t>
            </a:r>
            <a:r>
              <a:rPr lang="en-US" sz="2400" b="1" dirty="0" err="1"/>
              <a:t>utama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fire extinguisher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saat</a:t>
            </a:r>
            <a:r>
              <a:rPr lang="en-US" sz="2400" b="1" dirty="0"/>
              <a:t> </a:t>
            </a:r>
            <a:r>
              <a:rPr lang="en-US" sz="2400" b="1" dirty="0" err="1"/>
              <a:t>terjadi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. Alat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cepat</a:t>
            </a:r>
            <a:r>
              <a:rPr lang="en-US" sz="2400" b="1" dirty="0"/>
              <a:t> dan </a:t>
            </a:r>
            <a:r>
              <a:rPr lang="en-US" sz="2400" b="1" dirty="0" err="1"/>
              <a:t>efektif</a:t>
            </a:r>
            <a:r>
              <a:rPr lang="en-US" sz="2400" b="1" dirty="0"/>
              <a:t>, </a:t>
            </a:r>
            <a:r>
              <a:rPr lang="en-US" sz="2400" b="1" dirty="0" err="1"/>
              <a:t>sehingga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mencegah</a:t>
            </a:r>
            <a:r>
              <a:rPr lang="en-US" sz="2400" b="1" dirty="0"/>
              <a:t> </a:t>
            </a:r>
            <a:r>
              <a:rPr lang="en-US" sz="2400" b="1" dirty="0" err="1"/>
              <a:t>kerusakan</a:t>
            </a:r>
            <a:r>
              <a:rPr lang="en-US" sz="2400" b="1" dirty="0"/>
              <a:t> dan </a:t>
            </a:r>
            <a:r>
              <a:rPr lang="en-US" sz="2400" b="1" dirty="0" err="1"/>
              <a:t>bahkan</a:t>
            </a:r>
            <a:r>
              <a:rPr lang="en-US" sz="2400" b="1" dirty="0"/>
              <a:t> </a:t>
            </a:r>
            <a:r>
              <a:rPr lang="en-US" sz="2400" b="1" dirty="0" err="1"/>
              <a:t>menghindari</a:t>
            </a:r>
            <a:r>
              <a:rPr lang="en-US" sz="2400" b="1" dirty="0"/>
              <a:t> korban </a:t>
            </a:r>
            <a:r>
              <a:rPr lang="en-US" sz="2400" b="1" dirty="0" err="1"/>
              <a:t>jiwa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69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000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18831-8976-6E25-6074-42A01D2FD58E}"/>
              </a:ext>
            </a:extLst>
          </p:cNvPr>
          <p:cNvSpPr txBox="1"/>
          <p:nvPr/>
        </p:nvSpPr>
        <p:spPr>
          <a:xfrm>
            <a:off x="726896" y="1455511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</a:t>
            </a:r>
            <a:r>
              <a:rPr lang="en-US" sz="2400" b="1" dirty="0" err="1"/>
              <a:t>Mengurangi</a:t>
            </a:r>
            <a:r>
              <a:rPr lang="en-US" sz="2400" b="1" dirty="0"/>
              <a:t> </a:t>
            </a:r>
            <a:r>
              <a:rPr lang="en-US" sz="2400" b="1" dirty="0" err="1"/>
              <a:t>kerusakan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F0729-22BE-5D0F-F379-4DB01CBE41EF}"/>
              </a:ext>
            </a:extLst>
          </p:cNvPr>
          <p:cNvSpPr txBox="1"/>
          <p:nvPr/>
        </p:nvSpPr>
        <p:spPr>
          <a:xfrm>
            <a:off x="1044967" y="1890734"/>
            <a:ext cx="10102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sejak</a:t>
            </a:r>
            <a:r>
              <a:rPr lang="en-US" sz="2400" b="1" dirty="0"/>
              <a:t> </a:t>
            </a:r>
            <a:r>
              <a:rPr lang="en-US" sz="2400" b="1" dirty="0" err="1"/>
              <a:t>awal</a:t>
            </a:r>
            <a:r>
              <a:rPr lang="en-US" sz="2400" b="1" dirty="0"/>
              <a:t>,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membantu</a:t>
            </a:r>
            <a:r>
              <a:rPr lang="en-US" sz="2400" b="1" dirty="0"/>
              <a:t> </a:t>
            </a:r>
            <a:r>
              <a:rPr lang="en-US" sz="2400" b="1" dirty="0" err="1"/>
              <a:t>mengurangi</a:t>
            </a:r>
            <a:r>
              <a:rPr lang="en-US" sz="2400" b="1" dirty="0"/>
              <a:t> </a:t>
            </a:r>
            <a:r>
              <a:rPr lang="en-US" sz="2400" b="1" dirty="0" err="1"/>
              <a:t>kerusakan</a:t>
            </a:r>
            <a:r>
              <a:rPr lang="en-US" sz="2400" b="1" dirty="0"/>
              <a:t> </a:t>
            </a:r>
            <a:r>
              <a:rPr lang="en-US" sz="2400" b="1" dirty="0" err="1"/>
              <a:t>berpotensi</a:t>
            </a:r>
            <a:r>
              <a:rPr lang="en-US" sz="2400" b="1" dirty="0"/>
              <a:t> </a:t>
            </a:r>
            <a:r>
              <a:rPr lang="en-US" sz="2400" b="1" dirty="0" err="1"/>
              <a:t>terjadi</a:t>
            </a:r>
            <a:r>
              <a:rPr lang="en-US" sz="2400" b="1" dirty="0"/>
              <a:t> </a:t>
            </a:r>
            <a:r>
              <a:rPr lang="en-US" sz="2400" b="1" dirty="0" err="1"/>
              <a:t>karena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. </a:t>
            </a:r>
            <a:r>
              <a:rPr lang="en-US" sz="2400" b="1" dirty="0" err="1"/>
              <a:t>Semakin</a:t>
            </a:r>
            <a:r>
              <a:rPr lang="en-US" sz="2400" b="1" dirty="0"/>
              <a:t> </a:t>
            </a:r>
            <a:r>
              <a:rPr lang="en-US" sz="2400" b="1" dirty="0" err="1"/>
              <a:t>cepat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padam</a:t>
            </a:r>
            <a:r>
              <a:rPr lang="en-US" sz="2400" b="1" dirty="0"/>
              <a:t>, </a:t>
            </a:r>
            <a:r>
              <a:rPr lang="en-US" sz="2400" b="1" dirty="0" err="1"/>
              <a:t>maka</a:t>
            </a:r>
            <a:r>
              <a:rPr lang="en-US" sz="2400" b="1" dirty="0"/>
              <a:t> </a:t>
            </a:r>
            <a:r>
              <a:rPr lang="en-US" sz="2400" b="1" dirty="0" err="1"/>
              <a:t>semakin</a:t>
            </a:r>
            <a:r>
              <a:rPr lang="en-US" sz="2400" b="1" dirty="0"/>
              <a:t> </a:t>
            </a:r>
            <a:r>
              <a:rPr lang="en-US" sz="2400" b="1" dirty="0" err="1"/>
              <a:t>kecil</a:t>
            </a:r>
            <a:r>
              <a:rPr lang="en-US" sz="2400" b="1" dirty="0"/>
              <a:t> pula </a:t>
            </a:r>
            <a:r>
              <a:rPr lang="en-US" sz="2400" b="1" dirty="0" err="1"/>
              <a:t>kemungkinan</a:t>
            </a:r>
            <a:r>
              <a:rPr lang="en-US" sz="2400" b="1" dirty="0"/>
              <a:t> </a:t>
            </a:r>
            <a:r>
              <a:rPr lang="en-US" sz="2400" b="1" dirty="0" err="1"/>
              <a:t>kerusakan</a:t>
            </a:r>
            <a:r>
              <a:rPr lang="en-US" sz="2400" b="1" dirty="0"/>
              <a:t> yang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/>
              <a:t>terjadi</a:t>
            </a:r>
            <a:r>
              <a:rPr lang="en-US" sz="2400" b="1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6CDCEC-C88E-3BCC-829D-61DCFA35433A}"/>
              </a:ext>
            </a:extLst>
          </p:cNvPr>
          <p:cNvSpPr txBox="1"/>
          <p:nvPr/>
        </p:nvSpPr>
        <p:spPr>
          <a:xfrm>
            <a:off x="726896" y="3140821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400" b="1" dirty="0"/>
              <a:t>3. Mengurangi risiko kebakaran ulang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3CA779-0BD9-96D1-5D42-EEE2D3C932D0}"/>
              </a:ext>
            </a:extLst>
          </p:cNvPr>
          <p:cNvSpPr txBox="1"/>
          <p:nvPr/>
        </p:nvSpPr>
        <p:spPr>
          <a:xfrm>
            <a:off x="1044967" y="3602486"/>
            <a:ext cx="101020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/>
              <a:t>Selain</a:t>
            </a:r>
            <a:r>
              <a:rPr lang="en-US" sz="2400" b="1" dirty="0"/>
              <a:t> </a:t>
            </a:r>
            <a:r>
              <a:rPr lang="en-US" sz="2400" b="1" dirty="0" err="1"/>
              <a:t>itu</a:t>
            </a:r>
            <a:r>
              <a:rPr lang="en-US" sz="2400" b="1" dirty="0"/>
              <a:t>,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pemadam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ini</a:t>
            </a:r>
            <a:r>
              <a:rPr lang="en-US" sz="2400" b="1" dirty="0"/>
              <a:t> juga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membantu</a:t>
            </a:r>
            <a:r>
              <a:rPr lang="en-US" sz="2400" b="1" dirty="0"/>
              <a:t> </a:t>
            </a:r>
            <a:r>
              <a:rPr lang="en-US" sz="2400" b="1" dirty="0" err="1"/>
              <a:t>mengurangi</a:t>
            </a:r>
            <a:r>
              <a:rPr lang="en-US" sz="2400" b="1" dirty="0"/>
              <a:t> </a:t>
            </a:r>
            <a:r>
              <a:rPr lang="en-US" sz="2400" b="1" dirty="0" err="1"/>
              <a:t>risiko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ulang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memastikan</a:t>
            </a:r>
            <a:r>
              <a:rPr lang="en-US" sz="2400" b="1" dirty="0"/>
              <a:t> </a:t>
            </a:r>
            <a:r>
              <a:rPr lang="en-US" sz="2400" b="1" dirty="0" err="1"/>
              <a:t>bahwa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</a:t>
            </a:r>
            <a:r>
              <a:rPr lang="en-US" sz="2400" b="1" dirty="0" err="1"/>
              <a:t>sepenuhnya</a:t>
            </a:r>
            <a:r>
              <a:rPr lang="en-US" sz="2400" b="1" dirty="0"/>
              <a:t> </a:t>
            </a:r>
            <a:r>
              <a:rPr lang="en-US" sz="2400" b="1" dirty="0" err="1"/>
              <a:t>padam</a:t>
            </a:r>
            <a:r>
              <a:rPr lang="en-US" sz="2400" b="1" dirty="0"/>
              <a:t> </a:t>
            </a:r>
            <a:r>
              <a:rPr lang="en-US" sz="2400" b="1" dirty="0" err="1"/>
              <a:t>sebelum</a:t>
            </a:r>
            <a:r>
              <a:rPr lang="en-US" sz="2400" b="1" dirty="0"/>
              <a:t> </a:t>
            </a:r>
            <a:r>
              <a:rPr lang="en-US" sz="2400" b="1" dirty="0" err="1"/>
              <a:t>meninggalkan</a:t>
            </a:r>
            <a:r>
              <a:rPr lang="en-US" sz="2400" b="1" dirty="0"/>
              <a:t> area </a:t>
            </a:r>
            <a:r>
              <a:rPr lang="en-US" sz="2400" b="1" dirty="0" err="1"/>
              <a:t>kebakaran</a:t>
            </a:r>
            <a:r>
              <a:rPr lang="en-US" sz="2400" b="1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8AA81-23A0-7B80-9F4C-66BB3419E3F7}"/>
              </a:ext>
            </a:extLst>
          </p:cNvPr>
          <p:cNvSpPr txBox="1"/>
          <p:nvPr/>
        </p:nvSpPr>
        <p:spPr>
          <a:xfrm>
            <a:off x="726896" y="4895148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4. </a:t>
            </a:r>
            <a:r>
              <a:rPr lang="en-US" sz="2400" b="1" dirty="0" err="1"/>
              <a:t>Meningkatkan</a:t>
            </a:r>
            <a:r>
              <a:rPr lang="en-US" sz="2400" b="1" dirty="0"/>
              <a:t> </a:t>
            </a:r>
            <a:r>
              <a:rPr lang="en-US" sz="2400" b="1" dirty="0" err="1"/>
              <a:t>keselamatan</a:t>
            </a:r>
            <a:endParaRPr 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0BEFD-1225-DA85-0818-3407BDFBFE74}"/>
              </a:ext>
            </a:extLst>
          </p:cNvPr>
          <p:cNvSpPr txBox="1"/>
          <p:nvPr/>
        </p:nvSpPr>
        <p:spPr>
          <a:xfrm>
            <a:off x="1044967" y="5529772"/>
            <a:ext cx="101020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menyediakan</a:t>
            </a:r>
            <a:r>
              <a:rPr lang="en-US" sz="2400" b="1" dirty="0"/>
              <a:t>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ini</a:t>
            </a:r>
            <a:r>
              <a:rPr lang="en-US" sz="2400" b="1" dirty="0"/>
              <a:t> di </a:t>
            </a:r>
            <a:r>
              <a:rPr lang="en-US" sz="2400" b="1" dirty="0" err="1"/>
              <a:t>tempat-tempat</a:t>
            </a:r>
            <a:r>
              <a:rPr lang="en-US" sz="2400" b="1" dirty="0"/>
              <a:t> yang </a:t>
            </a:r>
            <a:r>
              <a:rPr lang="en-US" sz="2400" b="1" dirty="0" err="1"/>
              <a:t>ramai</a:t>
            </a:r>
            <a:r>
              <a:rPr lang="en-US" sz="2400" b="1" dirty="0"/>
              <a:t>,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kantor</a:t>
            </a:r>
            <a:r>
              <a:rPr lang="en-US" sz="2400" b="1" dirty="0"/>
              <a:t> </a:t>
            </a:r>
            <a:r>
              <a:rPr lang="en-US" sz="2400" b="1" dirty="0" err="1"/>
              <a:t>atau</a:t>
            </a:r>
            <a:r>
              <a:rPr lang="en-US" sz="2400" b="1" dirty="0"/>
              <a:t> </a:t>
            </a:r>
            <a:r>
              <a:rPr lang="en-US" sz="2400" b="1" dirty="0" err="1"/>
              <a:t>gedung</a:t>
            </a:r>
            <a:r>
              <a:rPr lang="en-US" sz="2400" b="1" dirty="0"/>
              <a:t>, </a:t>
            </a:r>
            <a:r>
              <a:rPr lang="en-US" sz="2400" b="1" dirty="0" err="1"/>
              <a:t>alat</a:t>
            </a:r>
            <a:r>
              <a:rPr lang="en-US" sz="2400" b="1" dirty="0"/>
              <a:t> </a:t>
            </a:r>
            <a:r>
              <a:rPr lang="en-US" sz="2400" b="1" dirty="0" err="1"/>
              <a:t>tersebut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membantu</a:t>
            </a:r>
            <a:r>
              <a:rPr lang="en-US" sz="2400" b="1" dirty="0"/>
              <a:t> </a:t>
            </a:r>
            <a:r>
              <a:rPr lang="en-US" sz="2400" b="1" dirty="0" err="1"/>
              <a:t>meningkatkan</a:t>
            </a:r>
            <a:r>
              <a:rPr lang="en-US" sz="2400" b="1" dirty="0"/>
              <a:t> </a:t>
            </a:r>
            <a:r>
              <a:rPr lang="en-US" sz="2400" b="1" dirty="0" err="1"/>
              <a:t>keselamatan</a:t>
            </a:r>
            <a:r>
              <a:rPr lang="en-US" sz="2400" b="1" dirty="0"/>
              <a:t> dan </a:t>
            </a:r>
            <a:r>
              <a:rPr lang="en-US" sz="2400" b="1" dirty="0" err="1"/>
              <a:t>meminimalkan</a:t>
            </a:r>
            <a:r>
              <a:rPr lang="en-US" sz="2400" b="1" dirty="0"/>
              <a:t> </a:t>
            </a:r>
            <a:r>
              <a:rPr lang="en-US" sz="2400" b="1" dirty="0" err="1"/>
              <a:t>risiko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111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3416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C696E-72FB-B9BF-45BA-FB760B21D6B7}"/>
              </a:ext>
            </a:extLst>
          </p:cNvPr>
          <p:cNvSpPr txBox="1"/>
          <p:nvPr/>
        </p:nvSpPr>
        <p:spPr>
          <a:xfrm>
            <a:off x="2902225" y="1113834"/>
            <a:ext cx="6200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Jenis-jenis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D5BAD-535E-0CFB-6019-CD3457446EDA}"/>
              </a:ext>
            </a:extLst>
          </p:cNvPr>
          <p:cNvSpPr txBox="1"/>
          <p:nvPr/>
        </p:nvSpPr>
        <p:spPr>
          <a:xfrm>
            <a:off x="901557" y="1883275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APAR </a:t>
            </a:r>
            <a:r>
              <a:rPr lang="en-US" sz="2400" b="1" dirty="0" err="1"/>
              <a:t>Jenis</a:t>
            </a:r>
            <a:r>
              <a:rPr lang="en-US" sz="2400" b="1" dirty="0"/>
              <a:t> Air (Water)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D70253-0BA3-6E9B-4467-E27AE6DBB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2319" y="1293610"/>
            <a:ext cx="4448175" cy="5715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BBC6C6F-FA73-8B1B-A00E-26B1D36DF23F}"/>
              </a:ext>
            </a:extLst>
          </p:cNvPr>
          <p:cNvSpPr txBox="1"/>
          <p:nvPr/>
        </p:nvSpPr>
        <p:spPr>
          <a:xfrm>
            <a:off x="910180" y="2432753"/>
            <a:ext cx="77612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APAR </a:t>
            </a:r>
            <a:r>
              <a:rPr lang="en-US" sz="2400" b="1" dirty="0" err="1"/>
              <a:t>Jenis</a:t>
            </a:r>
            <a:r>
              <a:rPr lang="en-US" sz="2400" b="1" dirty="0"/>
              <a:t> Air (Water)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APAR yang </a:t>
            </a:r>
            <a:r>
              <a:rPr lang="en-US" sz="2400" b="1" dirty="0" err="1"/>
              <a:t>disikan</a:t>
            </a:r>
            <a:r>
              <a:rPr lang="en-US" sz="2400" b="1" dirty="0"/>
              <a:t> oleh Air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tekanan</a:t>
            </a:r>
            <a:r>
              <a:rPr lang="en-US" sz="2400" b="1" dirty="0"/>
              <a:t> </a:t>
            </a:r>
            <a:r>
              <a:rPr lang="en-US" sz="2400" b="1" dirty="0" err="1"/>
              <a:t>tinggi</a:t>
            </a:r>
            <a:r>
              <a:rPr lang="en-US" sz="2400" b="1" dirty="0"/>
              <a:t>. APAR </a:t>
            </a:r>
            <a:r>
              <a:rPr lang="en-US" sz="2400" b="1" dirty="0" err="1"/>
              <a:t>Jenis</a:t>
            </a:r>
            <a:r>
              <a:rPr lang="en-US" sz="2400" b="1" dirty="0"/>
              <a:t> Air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merupakan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APAR yang paling </a:t>
            </a:r>
            <a:r>
              <a:rPr lang="en-US" sz="2400" b="1" dirty="0" err="1"/>
              <a:t>Ekonomis</a:t>
            </a:r>
            <a:r>
              <a:rPr lang="en-US" sz="2400" b="1" dirty="0"/>
              <a:t> dan </a:t>
            </a:r>
            <a:r>
              <a:rPr lang="en-US" sz="2400" b="1" dirty="0" err="1"/>
              <a:t>cocok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yang </a:t>
            </a:r>
            <a:r>
              <a:rPr lang="en-US" sz="2400" b="1" dirty="0" err="1"/>
              <a:t>dikarenakan</a:t>
            </a:r>
            <a:r>
              <a:rPr lang="en-US" sz="2400" b="1" dirty="0"/>
              <a:t> oleh </a:t>
            </a:r>
            <a:r>
              <a:rPr lang="en-US" sz="2400" b="1" dirty="0" err="1"/>
              <a:t>bahan-bahan</a:t>
            </a:r>
            <a:r>
              <a:rPr lang="en-US" sz="2400" b="1" dirty="0"/>
              <a:t> </a:t>
            </a:r>
            <a:r>
              <a:rPr lang="en-US" sz="2400" b="1" dirty="0" err="1"/>
              <a:t>padat</a:t>
            </a:r>
            <a:r>
              <a:rPr lang="en-US" sz="2400" b="1" dirty="0"/>
              <a:t> non-</a:t>
            </a:r>
            <a:r>
              <a:rPr lang="en-US" sz="2400" b="1" dirty="0" err="1"/>
              <a:t>logam</a:t>
            </a:r>
            <a:r>
              <a:rPr lang="en-US" sz="2400" b="1" dirty="0"/>
              <a:t>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Kertas</a:t>
            </a:r>
            <a:r>
              <a:rPr lang="en-US" sz="2400" b="1" dirty="0"/>
              <a:t>, Kain, </a:t>
            </a:r>
            <a:r>
              <a:rPr lang="en-US" sz="2400" b="1" dirty="0" err="1"/>
              <a:t>Karet</a:t>
            </a:r>
            <a:r>
              <a:rPr lang="en-US" sz="2400" b="1" dirty="0"/>
              <a:t>, </a:t>
            </a:r>
            <a:r>
              <a:rPr lang="en-US" sz="2400" b="1" dirty="0" err="1"/>
              <a:t>Plastik</a:t>
            </a:r>
            <a:r>
              <a:rPr lang="en-US" sz="2400" b="1" dirty="0"/>
              <a:t> dan lain </a:t>
            </a:r>
            <a:r>
              <a:rPr lang="en-US" sz="2400" b="1" dirty="0" err="1"/>
              <a:t>sebagainya</a:t>
            </a:r>
            <a:r>
              <a:rPr lang="en-US" sz="2400" b="1" dirty="0"/>
              <a:t> (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A). </a:t>
            </a:r>
            <a:r>
              <a:rPr lang="en-US" sz="2400" b="1" dirty="0" err="1"/>
              <a:t>Tetapi</a:t>
            </a:r>
            <a:r>
              <a:rPr lang="en-US" sz="2400" b="1" dirty="0"/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sangat </a:t>
            </a:r>
            <a:r>
              <a:rPr lang="en-US" sz="2400" b="1" dirty="0" err="1"/>
              <a:t>berbahaya</a:t>
            </a:r>
            <a:r>
              <a:rPr lang="en-US" sz="2400" b="1" dirty="0"/>
              <a:t> </a:t>
            </a:r>
            <a:r>
              <a:rPr lang="en-US" sz="2400" b="1" dirty="0" err="1"/>
              <a:t>jika</a:t>
            </a:r>
            <a:r>
              <a:rPr lang="en-US" sz="2400" b="1" dirty="0"/>
              <a:t> </a:t>
            </a:r>
            <a:r>
              <a:rPr lang="en-US" sz="2400" b="1" dirty="0" err="1"/>
              <a:t>dipergunakan</a:t>
            </a:r>
            <a:r>
              <a:rPr lang="en-US" sz="2400" b="1" dirty="0"/>
              <a:t> pada </a:t>
            </a:r>
            <a:r>
              <a:rPr lang="en-US" sz="2400" b="1" dirty="0" err="1"/>
              <a:t>kebakaran</a:t>
            </a:r>
            <a:r>
              <a:rPr lang="en-US" sz="2400" b="1" dirty="0"/>
              <a:t> yang </a:t>
            </a:r>
            <a:r>
              <a:rPr lang="en-US" sz="2400" b="1" dirty="0" err="1"/>
              <a:t>dikarenakan</a:t>
            </a:r>
            <a:r>
              <a:rPr lang="en-US" sz="2400" b="1" dirty="0"/>
              <a:t> </a:t>
            </a:r>
            <a:r>
              <a:rPr lang="en-US" sz="2400" b="1" dirty="0" err="1"/>
              <a:t>Instalasi</a:t>
            </a:r>
            <a:r>
              <a:rPr lang="en-US" sz="2400" b="1" dirty="0"/>
              <a:t> Listrik yang </a:t>
            </a:r>
            <a:r>
              <a:rPr lang="en-US" sz="2400" b="1" dirty="0" err="1"/>
              <a:t>bertegangan</a:t>
            </a:r>
            <a:r>
              <a:rPr lang="en-US" sz="2400" b="1" dirty="0"/>
              <a:t> (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C).</a:t>
            </a:r>
          </a:p>
        </p:txBody>
      </p:sp>
    </p:spTree>
    <p:extLst>
      <p:ext uri="{BB962C8B-B14F-4D97-AF65-F5344CB8AC3E}">
        <p14:creationId xmlns:p14="http://schemas.microsoft.com/office/powerpoint/2010/main" val="116554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F263F-7298-F8E1-2E76-F8EBDEA290BF}"/>
              </a:ext>
            </a:extLst>
          </p:cNvPr>
          <p:cNvSpPr txBox="1"/>
          <p:nvPr/>
        </p:nvSpPr>
        <p:spPr>
          <a:xfrm>
            <a:off x="809090" y="1718888"/>
            <a:ext cx="70300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2. Alat Pemadam Api (APAR) Busa / Foam (AFFF)</a:t>
            </a:r>
          </a:p>
          <a:p>
            <a:endParaRPr lang="pt-B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6CCA5-2C45-F2B9-F850-336922C45265}"/>
              </a:ext>
            </a:extLst>
          </p:cNvPr>
          <p:cNvSpPr txBox="1"/>
          <p:nvPr/>
        </p:nvSpPr>
        <p:spPr>
          <a:xfrm>
            <a:off x="1014572" y="2334317"/>
            <a:ext cx="71944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APAR </a:t>
            </a:r>
            <a:r>
              <a:rPr lang="en-US" sz="2400" b="1" dirty="0" err="1"/>
              <a:t>Jenis</a:t>
            </a:r>
            <a:r>
              <a:rPr lang="en-US" sz="2400" b="1" dirty="0"/>
              <a:t> </a:t>
            </a:r>
            <a:r>
              <a:rPr lang="en-US" sz="2400" b="1" dirty="0" err="1"/>
              <a:t>Busa</a:t>
            </a:r>
            <a:r>
              <a:rPr lang="en-US" sz="2400" b="1" dirty="0"/>
              <a:t>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APAR yang </a:t>
            </a:r>
            <a:r>
              <a:rPr lang="en-US" sz="2400" b="1" dirty="0" err="1"/>
              <a:t>terdiri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r>
              <a:rPr lang="en-US" sz="2400" b="1" dirty="0" err="1"/>
              <a:t>bahan</a:t>
            </a:r>
            <a:r>
              <a:rPr lang="en-US" sz="2400" b="1" dirty="0"/>
              <a:t> </a:t>
            </a:r>
            <a:r>
              <a:rPr lang="en-US" sz="2400" b="1" dirty="0" err="1"/>
              <a:t>kimia</a:t>
            </a:r>
            <a:r>
              <a:rPr lang="en-US" sz="2400" b="1" dirty="0"/>
              <a:t> yang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membentuk</a:t>
            </a:r>
            <a:r>
              <a:rPr lang="en-US" sz="2400" b="1" dirty="0"/>
              <a:t> </a:t>
            </a:r>
            <a:r>
              <a:rPr lang="en-US" sz="2400" b="1" dirty="0" err="1"/>
              <a:t>busa</a:t>
            </a:r>
            <a:r>
              <a:rPr lang="en-US" sz="2400" b="1" dirty="0"/>
              <a:t>. </a:t>
            </a:r>
            <a:r>
              <a:rPr lang="en-US" sz="2400" b="1" dirty="0" err="1"/>
              <a:t>Busa</a:t>
            </a:r>
            <a:r>
              <a:rPr lang="en-US" sz="2400" b="1" dirty="0"/>
              <a:t> AFFF (Aqueous Film Forming Foam) yang </a:t>
            </a:r>
            <a:r>
              <a:rPr lang="en-US" sz="2400" b="1" dirty="0" err="1"/>
              <a:t>disembur</a:t>
            </a:r>
            <a:r>
              <a:rPr lang="en-US" sz="2400" b="1" dirty="0"/>
              <a:t> </a:t>
            </a:r>
            <a:r>
              <a:rPr lang="en-US" sz="2400" b="1" dirty="0" err="1"/>
              <a:t>keluar</a:t>
            </a:r>
            <a:r>
              <a:rPr lang="en-US" sz="2400" b="1" dirty="0"/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/>
              <a:t>menutupi</a:t>
            </a:r>
            <a:r>
              <a:rPr lang="en-US" sz="2400" b="1" dirty="0"/>
              <a:t> </a:t>
            </a:r>
            <a:r>
              <a:rPr lang="en-US" sz="2400" b="1" dirty="0" err="1"/>
              <a:t>bahan</a:t>
            </a:r>
            <a:r>
              <a:rPr lang="en-US" sz="2400" b="1" dirty="0"/>
              <a:t> yang </a:t>
            </a:r>
            <a:r>
              <a:rPr lang="en-US" sz="2400" b="1" dirty="0" err="1"/>
              <a:t>terbakar</a:t>
            </a:r>
            <a:r>
              <a:rPr lang="en-US" sz="2400" b="1" dirty="0"/>
              <a:t> </a:t>
            </a:r>
            <a:r>
              <a:rPr lang="en-US" sz="2400" b="1" dirty="0" err="1"/>
              <a:t>sehingga</a:t>
            </a:r>
            <a:r>
              <a:rPr lang="en-US" sz="2400" b="1" dirty="0"/>
              <a:t> </a:t>
            </a:r>
            <a:r>
              <a:rPr lang="en-US" sz="2400" b="1" dirty="0" err="1"/>
              <a:t>Oksigen</a:t>
            </a:r>
            <a:r>
              <a:rPr lang="en-US" sz="2400" b="1" dirty="0"/>
              <a:t> </a:t>
            </a:r>
            <a:r>
              <a:rPr lang="en-US" sz="2400" b="1" dirty="0" err="1"/>
              <a:t>tidak</a:t>
            </a:r>
            <a:r>
              <a:rPr lang="en-US" sz="2400" b="1" dirty="0"/>
              <a:t>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masuk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proses </a:t>
            </a:r>
            <a:r>
              <a:rPr lang="en-US" sz="2400" b="1" dirty="0" err="1"/>
              <a:t>kebakaran</a:t>
            </a:r>
            <a:r>
              <a:rPr lang="en-US" sz="2400" b="1" dirty="0"/>
              <a:t>. APAR </a:t>
            </a:r>
            <a:r>
              <a:rPr lang="en-US" sz="2400" b="1" dirty="0" err="1"/>
              <a:t>Jenis</a:t>
            </a:r>
            <a:r>
              <a:rPr lang="en-US" sz="2400" b="1" dirty="0"/>
              <a:t> </a:t>
            </a:r>
            <a:r>
              <a:rPr lang="en-US" sz="2400" b="1" dirty="0" err="1"/>
              <a:t>Busa</a:t>
            </a:r>
            <a:r>
              <a:rPr lang="en-US" sz="2400" b="1" dirty="0"/>
              <a:t> AFFF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efektif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yang </a:t>
            </a:r>
            <a:r>
              <a:rPr lang="en-US" sz="2400" b="1" dirty="0" err="1"/>
              <a:t>ditimbulkan</a:t>
            </a:r>
            <a:r>
              <a:rPr lang="en-US" sz="2400" b="1" dirty="0"/>
              <a:t> oleh </a:t>
            </a:r>
            <a:r>
              <a:rPr lang="en-US" sz="2400" b="1" dirty="0" err="1"/>
              <a:t>bahan-bahan</a:t>
            </a:r>
            <a:r>
              <a:rPr lang="en-US" sz="2400" b="1" dirty="0"/>
              <a:t> </a:t>
            </a:r>
            <a:r>
              <a:rPr lang="en-US" sz="2400" b="1" dirty="0" err="1"/>
              <a:t>padat</a:t>
            </a:r>
            <a:r>
              <a:rPr lang="en-US" sz="2400" b="1" dirty="0"/>
              <a:t> non-</a:t>
            </a:r>
            <a:r>
              <a:rPr lang="en-US" sz="2400" b="1" dirty="0" err="1"/>
              <a:t>logam</a:t>
            </a:r>
            <a:r>
              <a:rPr lang="en-US" sz="2400" b="1" dirty="0"/>
              <a:t>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Kertas</a:t>
            </a:r>
            <a:r>
              <a:rPr lang="en-US" sz="2400" b="1" dirty="0"/>
              <a:t>, Kain, </a:t>
            </a:r>
            <a:r>
              <a:rPr lang="en-US" sz="2400" b="1" dirty="0" err="1"/>
              <a:t>Karet</a:t>
            </a:r>
            <a:r>
              <a:rPr lang="en-US" sz="2400" b="1" dirty="0"/>
              <a:t> dan lain </a:t>
            </a:r>
            <a:r>
              <a:rPr lang="en-US" sz="2400" b="1" dirty="0" err="1"/>
              <a:t>sebagainya</a:t>
            </a:r>
            <a:r>
              <a:rPr lang="en-US" sz="2400" b="1" dirty="0"/>
              <a:t> (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A) </a:t>
            </a:r>
            <a:r>
              <a:rPr lang="en-US" sz="2400" b="1" dirty="0" err="1"/>
              <a:t>serta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yang </a:t>
            </a:r>
            <a:r>
              <a:rPr lang="en-US" sz="2400" b="1" dirty="0" err="1"/>
              <a:t>dikarenakan</a:t>
            </a:r>
            <a:r>
              <a:rPr lang="en-US" sz="2400" b="1" dirty="0"/>
              <a:t> oleh </a:t>
            </a:r>
            <a:r>
              <a:rPr lang="en-US" sz="2400" b="1" dirty="0" err="1"/>
              <a:t>bahan-bahan</a:t>
            </a:r>
            <a:r>
              <a:rPr lang="en-US" sz="2400" b="1" dirty="0"/>
              <a:t> </a:t>
            </a:r>
            <a:r>
              <a:rPr lang="en-US" sz="2400" b="1" dirty="0" err="1"/>
              <a:t>cair</a:t>
            </a:r>
            <a:r>
              <a:rPr lang="en-US" sz="2400" b="1" dirty="0"/>
              <a:t> yang </a:t>
            </a:r>
            <a:r>
              <a:rPr lang="en-US" sz="2400" b="1" dirty="0" err="1"/>
              <a:t>mudah</a:t>
            </a:r>
            <a:r>
              <a:rPr lang="en-US" sz="2400" b="1" dirty="0"/>
              <a:t> </a:t>
            </a:r>
            <a:r>
              <a:rPr lang="en-US" sz="2400" b="1" dirty="0" err="1"/>
              <a:t>terbakar</a:t>
            </a:r>
            <a:r>
              <a:rPr lang="en-US" sz="2400" b="1" dirty="0"/>
              <a:t>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Minyak</a:t>
            </a:r>
            <a:r>
              <a:rPr lang="en-US" sz="2400" b="1" dirty="0"/>
              <a:t>, </a:t>
            </a:r>
            <a:r>
              <a:rPr lang="en-US" sz="2400" b="1" dirty="0" err="1"/>
              <a:t>Alkohol</a:t>
            </a:r>
            <a:r>
              <a:rPr lang="en-US" sz="2400" b="1" dirty="0"/>
              <a:t>, Solvent dan lain </a:t>
            </a:r>
            <a:r>
              <a:rPr lang="en-US" sz="2400" b="1" dirty="0" err="1"/>
              <a:t>sebagainya</a:t>
            </a:r>
            <a:r>
              <a:rPr lang="en-US" sz="2400" b="1" dirty="0"/>
              <a:t> (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B).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419546-E744-A1F4-CF26-286E059C40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0746" y="1416639"/>
            <a:ext cx="5125520" cy="51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3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1" y="14499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6C41F-0B62-BEB1-DAAA-04D86866021E}"/>
              </a:ext>
            </a:extLst>
          </p:cNvPr>
          <p:cNvSpPr txBox="1"/>
          <p:nvPr/>
        </p:nvSpPr>
        <p:spPr>
          <a:xfrm>
            <a:off x="627128" y="979128"/>
            <a:ext cx="8817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Alat </a:t>
            </a:r>
            <a:r>
              <a:rPr lang="en-US" sz="2400" b="1" dirty="0" err="1"/>
              <a:t>Pemadam</a:t>
            </a:r>
            <a:r>
              <a:rPr lang="en-US" sz="2400" b="1" dirty="0"/>
              <a:t> Api (APAR) </a:t>
            </a:r>
            <a:r>
              <a:rPr lang="en-US" sz="2400" b="1" dirty="0" err="1"/>
              <a:t>Serbuk</a:t>
            </a:r>
            <a:r>
              <a:rPr lang="en-US" sz="2400" b="1" dirty="0"/>
              <a:t> Kimia / Dry Chemical Powder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9CDC7-8263-86B9-D999-018192B41BE6}"/>
              </a:ext>
            </a:extLst>
          </p:cNvPr>
          <p:cNvSpPr txBox="1"/>
          <p:nvPr/>
        </p:nvSpPr>
        <p:spPr>
          <a:xfrm>
            <a:off x="833022" y="1562029"/>
            <a:ext cx="753014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APAR </a:t>
            </a:r>
            <a:r>
              <a:rPr lang="en-US" sz="2400" b="1" dirty="0" err="1"/>
              <a:t>Jenis</a:t>
            </a:r>
            <a:r>
              <a:rPr lang="en-US" sz="2400" b="1" dirty="0"/>
              <a:t> </a:t>
            </a:r>
            <a:r>
              <a:rPr lang="en-US" sz="2400" b="1" dirty="0" err="1"/>
              <a:t>Serbuk</a:t>
            </a:r>
            <a:r>
              <a:rPr lang="en-US" sz="2400" b="1" dirty="0"/>
              <a:t> Kimia </a:t>
            </a:r>
            <a:r>
              <a:rPr lang="en-US" sz="2400" b="1" dirty="0" err="1"/>
              <a:t>atau</a:t>
            </a:r>
            <a:r>
              <a:rPr lang="en-US" sz="2400" b="1" dirty="0"/>
              <a:t> Dry Chemical Powder Fire Extinguisher </a:t>
            </a:r>
            <a:r>
              <a:rPr lang="en-US" sz="2400" b="1" dirty="0" err="1"/>
              <a:t>terdiri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</a:t>
            </a:r>
            <a:r>
              <a:rPr lang="en-US" sz="2400" b="1" dirty="0" err="1"/>
              <a:t>serbuk</a:t>
            </a:r>
            <a:r>
              <a:rPr lang="en-US" sz="2400" b="1" dirty="0"/>
              <a:t> </a:t>
            </a:r>
            <a:r>
              <a:rPr lang="en-US" sz="2400" b="1" dirty="0" err="1"/>
              <a:t>kering</a:t>
            </a:r>
            <a:r>
              <a:rPr lang="en-US" sz="2400" b="1" dirty="0"/>
              <a:t> </a:t>
            </a:r>
            <a:r>
              <a:rPr lang="en-US" sz="2400" b="1" dirty="0" err="1"/>
              <a:t>kimia</a:t>
            </a:r>
            <a:r>
              <a:rPr lang="en-US" sz="2400" b="1" dirty="0"/>
              <a:t> yang </a:t>
            </a:r>
            <a:r>
              <a:rPr lang="en-US" sz="2400" b="1" dirty="0" err="1"/>
              <a:t>merupakan</a:t>
            </a:r>
            <a:r>
              <a:rPr lang="en-US" sz="2400" b="1" dirty="0"/>
              <a:t> </a:t>
            </a:r>
            <a:r>
              <a:rPr lang="en-US" sz="2400" b="1" dirty="0" err="1"/>
              <a:t>kombinasi</a:t>
            </a:r>
            <a:r>
              <a:rPr lang="en-US" sz="2400" b="1" dirty="0"/>
              <a:t> </a:t>
            </a:r>
            <a:r>
              <a:rPr lang="en-US" sz="2400" b="1" dirty="0" err="1"/>
              <a:t>dari</a:t>
            </a:r>
            <a:r>
              <a:rPr lang="en-US" sz="2400" b="1" dirty="0"/>
              <a:t> Mono-</a:t>
            </a:r>
            <a:r>
              <a:rPr lang="en-US" sz="2400" b="1" dirty="0" err="1"/>
              <a:t>amonium</a:t>
            </a:r>
            <a:r>
              <a:rPr lang="en-US" sz="2400" b="1" dirty="0"/>
              <a:t> </a:t>
            </a:r>
            <a:r>
              <a:rPr lang="en-US" sz="2400" b="1" dirty="0" err="1"/>
              <a:t>danammonium</a:t>
            </a:r>
            <a:r>
              <a:rPr lang="en-US" sz="2400" b="1" dirty="0"/>
              <a:t> sulphate. </a:t>
            </a:r>
            <a:r>
              <a:rPr lang="en-US" sz="2400" b="1" dirty="0" err="1"/>
              <a:t>Serbuk</a:t>
            </a:r>
            <a:r>
              <a:rPr lang="en-US" sz="2400" b="1" dirty="0"/>
              <a:t> </a:t>
            </a:r>
            <a:r>
              <a:rPr lang="en-US" sz="2400" b="1" dirty="0" err="1"/>
              <a:t>kering</a:t>
            </a:r>
            <a:r>
              <a:rPr lang="en-US" sz="2400" b="1" dirty="0"/>
              <a:t> Kimia yang </a:t>
            </a:r>
            <a:r>
              <a:rPr lang="en-US" sz="2400" b="1" dirty="0" err="1"/>
              <a:t>dikeluarkan</a:t>
            </a:r>
            <a:r>
              <a:rPr lang="en-US" sz="2400" b="1" dirty="0"/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/>
              <a:t>menyelimuti</a:t>
            </a:r>
            <a:r>
              <a:rPr lang="en-US" sz="2400" b="1" dirty="0"/>
              <a:t> </a:t>
            </a:r>
            <a:r>
              <a:rPr lang="en-US" sz="2400" b="1" dirty="0" err="1"/>
              <a:t>bahan</a:t>
            </a:r>
            <a:r>
              <a:rPr lang="en-US" sz="2400" b="1" dirty="0"/>
              <a:t> yang </a:t>
            </a:r>
            <a:r>
              <a:rPr lang="en-US" sz="2400" b="1" dirty="0" err="1"/>
              <a:t>terbakar</a:t>
            </a:r>
            <a:r>
              <a:rPr lang="en-US" sz="2400" b="1" dirty="0"/>
              <a:t> </a:t>
            </a:r>
            <a:r>
              <a:rPr lang="en-US" sz="2400" b="1" dirty="0" err="1"/>
              <a:t>sehingga</a:t>
            </a:r>
            <a:r>
              <a:rPr lang="en-US" sz="2400" b="1" dirty="0"/>
              <a:t> </a:t>
            </a:r>
            <a:r>
              <a:rPr lang="en-US" sz="2400" b="1" dirty="0" err="1"/>
              <a:t>memisahkan</a:t>
            </a:r>
            <a:r>
              <a:rPr lang="en-US" sz="2400" b="1" dirty="0"/>
              <a:t> </a:t>
            </a:r>
            <a:r>
              <a:rPr lang="en-US" sz="2400" b="1" dirty="0" err="1"/>
              <a:t>Oksigen</a:t>
            </a:r>
            <a:r>
              <a:rPr lang="en-US" sz="2400" b="1" dirty="0"/>
              <a:t> yang </a:t>
            </a:r>
            <a:r>
              <a:rPr lang="en-US" sz="2400" b="1" dirty="0" err="1"/>
              <a:t>merupakan</a:t>
            </a:r>
            <a:r>
              <a:rPr lang="en-US" sz="2400" b="1" dirty="0"/>
              <a:t> </a:t>
            </a:r>
            <a:r>
              <a:rPr lang="en-US" sz="2400" b="1" dirty="0" err="1"/>
              <a:t>unsur</a:t>
            </a:r>
            <a:r>
              <a:rPr lang="en-US" sz="2400" b="1" dirty="0"/>
              <a:t> </a:t>
            </a:r>
            <a:r>
              <a:rPr lang="en-US" sz="2400" b="1" dirty="0" err="1"/>
              <a:t>penting</a:t>
            </a:r>
            <a:r>
              <a:rPr lang="en-US" sz="2400" b="1" dirty="0"/>
              <a:t> </a:t>
            </a:r>
            <a:r>
              <a:rPr lang="en-US" sz="2400" b="1" dirty="0" err="1"/>
              <a:t>terjadinya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. APAR </a:t>
            </a:r>
            <a:r>
              <a:rPr lang="en-US" sz="2400" b="1" dirty="0" err="1"/>
              <a:t>Jenis</a:t>
            </a:r>
            <a:r>
              <a:rPr lang="en-US" sz="2400" b="1" dirty="0"/>
              <a:t> Dry Chemical Powder </a:t>
            </a:r>
            <a:r>
              <a:rPr lang="en-US" sz="2400" b="1" dirty="0" err="1"/>
              <a:t>ini</a:t>
            </a:r>
            <a:r>
              <a:rPr lang="en-US" sz="2400" b="1" dirty="0"/>
              <a:t> </a:t>
            </a:r>
            <a:r>
              <a:rPr lang="en-US" sz="2400" b="1" dirty="0" err="1"/>
              <a:t>merupakan</a:t>
            </a:r>
            <a:r>
              <a:rPr lang="en-US" sz="2400" b="1" dirty="0"/>
              <a:t> Alat </a:t>
            </a:r>
            <a:r>
              <a:rPr lang="en-US" sz="2400" b="1" dirty="0" err="1"/>
              <a:t>pemadam</a:t>
            </a:r>
            <a:r>
              <a:rPr lang="en-US" sz="2400" b="1" dirty="0"/>
              <a:t> </a:t>
            </a:r>
            <a:r>
              <a:rPr lang="en-US" sz="2400" b="1" dirty="0" err="1"/>
              <a:t>api</a:t>
            </a:r>
            <a:r>
              <a:rPr lang="en-US" sz="2400" b="1" dirty="0"/>
              <a:t> yang </a:t>
            </a:r>
            <a:r>
              <a:rPr lang="en-US" sz="2400" b="1" dirty="0" err="1"/>
              <a:t>serbaguna</a:t>
            </a:r>
            <a:r>
              <a:rPr lang="en-US" sz="2400" b="1" dirty="0"/>
              <a:t> </a:t>
            </a:r>
            <a:r>
              <a:rPr lang="en-US" sz="2400" b="1" dirty="0" err="1"/>
              <a:t>karena</a:t>
            </a:r>
            <a:r>
              <a:rPr lang="en-US" sz="2400" b="1" dirty="0"/>
              <a:t> </a:t>
            </a:r>
            <a:r>
              <a:rPr lang="en-US" sz="2400" b="1" dirty="0" err="1"/>
              <a:t>efektif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memadamkan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di </a:t>
            </a:r>
            <a:r>
              <a:rPr lang="en-US" sz="2400" b="1" dirty="0" err="1"/>
              <a:t>hampir</a:t>
            </a:r>
            <a:r>
              <a:rPr lang="en-US" sz="2400" b="1" dirty="0"/>
              <a:t> </a:t>
            </a:r>
            <a:r>
              <a:rPr lang="en-US" sz="2400" b="1" dirty="0" err="1"/>
              <a:t>semua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seperti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A, B dan C.</a:t>
            </a:r>
          </a:p>
          <a:p>
            <a:pPr algn="just"/>
            <a:r>
              <a:rPr lang="en-US" sz="2400" b="1" dirty="0"/>
              <a:t>APAR </a:t>
            </a:r>
            <a:r>
              <a:rPr lang="en-US" sz="2400" b="1" dirty="0" err="1"/>
              <a:t>Jenis</a:t>
            </a:r>
            <a:r>
              <a:rPr lang="en-US" sz="2400" b="1" dirty="0"/>
              <a:t> Dry Chemical Powder </a:t>
            </a:r>
            <a:r>
              <a:rPr lang="en-US" sz="2400" b="1" dirty="0" err="1"/>
              <a:t>tidak</a:t>
            </a:r>
            <a:r>
              <a:rPr lang="en-US" sz="2400" b="1" dirty="0"/>
              <a:t> </a:t>
            </a:r>
            <a:r>
              <a:rPr lang="en-US" sz="2400" b="1" dirty="0" err="1"/>
              <a:t>disarankan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digunakan</a:t>
            </a:r>
            <a:r>
              <a:rPr lang="en-US" sz="2400" b="1" dirty="0"/>
              <a:t> </a:t>
            </a:r>
            <a:r>
              <a:rPr lang="en-US" sz="2400" b="1" dirty="0" err="1"/>
              <a:t>dalam</a:t>
            </a:r>
            <a:r>
              <a:rPr lang="en-US" sz="2400" b="1" dirty="0"/>
              <a:t> </a:t>
            </a:r>
            <a:r>
              <a:rPr lang="en-US" sz="2400" b="1" dirty="0" err="1"/>
              <a:t>Industri</a:t>
            </a:r>
            <a:r>
              <a:rPr lang="en-US" sz="2400" b="1" dirty="0"/>
              <a:t> </a:t>
            </a:r>
            <a:r>
              <a:rPr lang="en-US" sz="2400" b="1" dirty="0" err="1"/>
              <a:t>karena</a:t>
            </a:r>
            <a:r>
              <a:rPr lang="en-US" sz="2400" b="1" dirty="0"/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/>
              <a:t>mengotori</a:t>
            </a:r>
            <a:r>
              <a:rPr lang="en-US" sz="2400" b="1" dirty="0"/>
              <a:t> dan </a:t>
            </a:r>
            <a:r>
              <a:rPr lang="en-US" sz="2400" b="1" dirty="0" err="1"/>
              <a:t>merusak</a:t>
            </a:r>
            <a:r>
              <a:rPr lang="en-US" sz="2400" b="1" dirty="0"/>
              <a:t> </a:t>
            </a:r>
            <a:r>
              <a:rPr lang="en-US" sz="2400" b="1" dirty="0" err="1"/>
              <a:t>peralatan</a:t>
            </a:r>
            <a:r>
              <a:rPr lang="en-US" sz="2400" b="1" dirty="0"/>
              <a:t> </a:t>
            </a:r>
            <a:r>
              <a:rPr lang="en-US" sz="2400" b="1" dirty="0" err="1"/>
              <a:t>produksi</a:t>
            </a:r>
            <a:r>
              <a:rPr lang="en-US" sz="2400" b="1" dirty="0"/>
              <a:t> di </a:t>
            </a:r>
            <a:r>
              <a:rPr lang="en-US" sz="2400" b="1" dirty="0" err="1"/>
              <a:t>sekitarnya</a:t>
            </a:r>
            <a:r>
              <a:rPr lang="en-US" sz="2400" b="1" dirty="0"/>
              <a:t>. APAR Dry Chemical Powder </a:t>
            </a:r>
            <a:r>
              <a:rPr lang="en-US" sz="2400" b="1" dirty="0" err="1"/>
              <a:t>umumnya</a:t>
            </a:r>
            <a:r>
              <a:rPr lang="en-US" sz="2400" b="1" dirty="0"/>
              <a:t> </a:t>
            </a:r>
            <a:r>
              <a:rPr lang="en-US" sz="2400" b="1" dirty="0" err="1"/>
              <a:t>digunakan</a:t>
            </a:r>
            <a:r>
              <a:rPr lang="en-US" sz="2400" b="1" dirty="0"/>
              <a:t> pada </a:t>
            </a:r>
            <a:r>
              <a:rPr lang="en-US" sz="2400" b="1" dirty="0" err="1"/>
              <a:t>mobil</a:t>
            </a:r>
            <a:r>
              <a:rPr lang="en-US" sz="2400" b="1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795E0A-4823-2AAE-AC79-63D17A70F2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1966" y="1688905"/>
            <a:ext cx="3955551" cy="372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5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3416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5E4F2-9B1E-8B31-CB14-79705A451BC5}"/>
              </a:ext>
            </a:extLst>
          </p:cNvPr>
          <p:cNvSpPr txBox="1"/>
          <p:nvPr/>
        </p:nvSpPr>
        <p:spPr>
          <a:xfrm>
            <a:off x="378610" y="2046636"/>
            <a:ext cx="9205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4. Alat </a:t>
            </a:r>
            <a:r>
              <a:rPr lang="en-US" sz="2400" b="1" dirty="0" err="1"/>
              <a:t>Pemadam</a:t>
            </a:r>
            <a:r>
              <a:rPr lang="en-US" sz="2400" b="1" dirty="0"/>
              <a:t> Api (APAR) Karbon </a:t>
            </a:r>
            <a:r>
              <a:rPr lang="en-US" sz="2400" b="1" dirty="0" err="1"/>
              <a:t>Dioksida</a:t>
            </a:r>
            <a:r>
              <a:rPr lang="en-US" sz="2400" b="1" dirty="0"/>
              <a:t> / Carbon Dioxide (CO2)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A253F-B540-70BD-0947-3F57C39B9C45}"/>
              </a:ext>
            </a:extLst>
          </p:cNvPr>
          <p:cNvSpPr txBox="1"/>
          <p:nvPr/>
        </p:nvSpPr>
        <p:spPr>
          <a:xfrm>
            <a:off x="1045393" y="2892464"/>
            <a:ext cx="68891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APAR </a:t>
            </a:r>
            <a:r>
              <a:rPr lang="en-US" sz="2400" b="1" dirty="0" err="1"/>
              <a:t>Jenis</a:t>
            </a:r>
            <a:r>
              <a:rPr lang="en-US" sz="2400" b="1" dirty="0"/>
              <a:t> Karbon </a:t>
            </a:r>
            <a:r>
              <a:rPr lang="en-US" sz="2400" b="1" dirty="0" err="1"/>
              <a:t>Dioksida</a:t>
            </a:r>
            <a:r>
              <a:rPr lang="en-US" sz="2400" b="1" dirty="0"/>
              <a:t> (CO2) </a:t>
            </a:r>
            <a:r>
              <a:rPr lang="en-US" sz="2400" b="1" dirty="0" err="1"/>
              <a:t>adalah</a:t>
            </a:r>
            <a:r>
              <a:rPr lang="en-US" sz="2400" b="1" dirty="0"/>
              <a:t> </a:t>
            </a:r>
            <a:r>
              <a:rPr lang="en-US" sz="2400" b="1" dirty="0" err="1"/>
              <a:t>Jenis</a:t>
            </a:r>
            <a:r>
              <a:rPr lang="en-US" sz="2400" b="1" dirty="0"/>
              <a:t> APAR yang </a:t>
            </a:r>
            <a:r>
              <a:rPr lang="en-US" sz="2400" b="1" dirty="0" err="1"/>
              <a:t>menggunakan</a:t>
            </a:r>
            <a:r>
              <a:rPr lang="en-US" sz="2400" b="1" dirty="0"/>
              <a:t> </a:t>
            </a:r>
            <a:r>
              <a:rPr lang="en-US" sz="2400" b="1" dirty="0" err="1"/>
              <a:t>bahan</a:t>
            </a:r>
            <a:r>
              <a:rPr lang="en-US" sz="2400" b="1" dirty="0"/>
              <a:t> Karbon </a:t>
            </a:r>
            <a:r>
              <a:rPr lang="en-US" sz="2400" b="1" dirty="0" err="1"/>
              <a:t>Dioksida</a:t>
            </a:r>
            <a:r>
              <a:rPr lang="en-US" sz="2400" b="1" dirty="0"/>
              <a:t> (Carbon Dioxide / CO2) </a:t>
            </a:r>
            <a:r>
              <a:rPr lang="en-US" sz="2400" b="1" dirty="0" err="1"/>
              <a:t>sebagai</a:t>
            </a:r>
            <a:r>
              <a:rPr lang="en-US" sz="2400" b="1" dirty="0"/>
              <a:t> </a:t>
            </a:r>
            <a:r>
              <a:rPr lang="en-US" sz="2400" b="1" dirty="0" err="1"/>
              <a:t>bahan</a:t>
            </a:r>
            <a:r>
              <a:rPr lang="en-US" sz="2400" b="1" dirty="0"/>
              <a:t> </a:t>
            </a:r>
            <a:r>
              <a:rPr lang="en-US" sz="2400" b="1" dirty="0" err="1"/>
              <a:t>pemadamnya</a:t>
            </a:r>
            <a:r>
              <a:rPr lang="en-US" sz="2400" b="1" dirty="0"/>
              <a:t>. APAR Karbon </a:t>
            </a:r>
            <a:r>
              <a:rPr lang="en-US" sz="2400" b="1" dirty="0" err="1"/>
              <a:t>Dioksida</a:t>
            </a:r>
            <a:r>
              <a:rPr lang="en-US" sz="2400" b="1" dirty="0"/>
              <a:t> sangat </a:t>
            </a:r>
            <a:r>
              <a:rPr lang="en-US" sz="2400" b="1" dirty="0" err="1"/>
              <a:t>cocok</a:t>
            </a:r>
            <a:r>
              <a:rPr lang="en-US" sz="2400" b="1" dirty="0"/>
              <a:t> </a:t>
            </a:r>
            <a:r>
              <a:rPr lang="en-US" sz="2400" b="1" dirty="0" err="1"/>
              <a:t>untuk</a:t>
            </a:r>
            <a:r>
              <a:rPr lang="en-US" sz="2400" b="1" dirty="0"/>
              <a:t> </a:t>
            </a:r>
            <a:r>
              <a:rPr lang="en-US" sz="2400" b="1" dirty="0" err="1"/>
              <a:t>Kebakaran</a:t>
            </a:r>
            <a:r>
              <a:rPr lang="en-US" sz="2400" b="1" dirty="0"/>
              <a:t> </a:t>
            </a:r>
            <a:r>
              <a:rPr lang="en-US" sz="2400" b="1" dirty="0" err="1"/>
              <a:t>Kelas</a:t>
            </a:r>
            <a:r>
              <a:rPr lang="en-US" sz="2400" b="1" dirty="0"/>
              <a:t> B (</a:t>
            </a:r>
            <a:r>
              <a:rPr lang="en-US" sz="2400" b="1" dirty="0" err="1"/>
              <a:t>bahan</a:t>
            </a:r>
            <a:r>
              <a:rPr lang="en-US" sz="2400" b="1" dirty="0"/>
              <a:t> </a:t>
            </a:r>
            <a:r>
              <a:rPr lang="en-US" sz="2400" b="1" dirty="0" err="1"/>
              <a:t>cair</a:t>
            </a:r>
            <a:r>
              <a:rPr lang="en-US" sz="2400" b="1" dirty="0"/>
              <a:t> yang </a:t>
            </a:r>
            <a:r>
              <a:rPr lang="en-US" sz="2400" b="1" dirty="0" err="1"/>
              <a:t>mudah</a:t>
            </a:r>
            <a:r>
              <a:rPr lang="en-US" sz="2400" b="1" dirty="0"/>
              <a:t> </a:t>
            </a:r>
            <a:r>
              <a:rPr lang="en-US" sz="2400" b="1" dirty="0" err="1"/>
              <a:t>terbakar</a:t>
            </a:r>
            <a:r>
              <a:rPr lang="en-US" sz="2400" b="1" dirty="0"/>
              <a:t>) dan </a:t>
            </a:r>
            <a:r>
              <a:rPr lang="en-US" sz="2400" b="1" dirty="0" err="1"/>
              <a:t>Kelas</a:t>
            </a:r>
            <a:r>
              <a:rPr lang="en-US" sz="2400" b="1" dirty="0"/>
              <a:t> C (</a:t>
            </a:r>
            <a:r>
              <a:rPr lang="en-US" sz="2400" b="1" dirty="0" err="1"/>
              <a:t>Instalasi</a:t>
            </a:r>
            <a:r>
              <a:rPr lang="en-US" sz="2400" b="1" dirty="0"/>
              <a:t> Listrik yang </a:t>
            </a:r>
            <a:r>
              <a:rPr lang="en-US" sz="2400" b="1" dirty="0" err="1"/>
              <a:t>bertegangan</a:t>
            </a:r>
            <a:r>
              <a:rPr lang="en-US" sz="2400" b="1" dirty="0"/>
              <a:t>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1591B8-A184-80E2-FDC9-7E4279592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5047" y="2205000"/>
            <a:ext cx="2444026" cy="323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82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3416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DA610-9339-14CA-6BEC-23EFC80ED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50" y="1581364"/>
            <a:ext cx="10477500" cy="47625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89968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93853-9C8F-1EF6-370C-A8260857C085}"/>
              </a:ext>
            </a:extLst>
          </p:cNvPr>
          <p:cNvSpPr txBox="1"/>
          <p:nvPr/>
        </p:nvSpPr>
        <p:spPr>
          <a:xfrm>
            <a:off x="911831" y="1498554"/>
            <a:ext cx="62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Safety pin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CAEDA-7BE0-BA31-18CE-24D3187AEB9A}"/>
              </a:ext>
            </a:extLst>
          </p:cNvPr>
          <p:cNvSpPr txBox="1"/>
          <p:nvPr/>
        </p:nvSpPr>
        <p:spPr>
          <a:xfrm>
            <a:off x="1168526" y="2110120"/>
            <a:ext cx="95538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menahan</a:t>
            </a:r>
            <a:r>
              <a:rPr lang="en-US" sz="2000" dirty="0"/>
              <a:t> </a:t>
            </a:r>
            <a:r>
              <a:rPr lang="en-US" sz="2000" dirty="0" err="1"/>
              <a:t>tuas</a:t>
            </a:r>
            <a:r>
              <a:rPr lang="en-US" sz="2000" dirty="0"/>
              <a:t> APAR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alat</a:t>
            </a:r>
            <a:r>
              <a:rPr lang="en-US" sz="2000" dirty="0"/>
              <a:t>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sedang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. Jika </a:t>
            </a:r>
            <a:r>
              <a:rPr lang="en-US" sz="2000" dirty="0" err="1"/>
              <a:t>tuas</a:t>
            </a:r>
            <a:r>
              <a:rPr lang="en-US" sz="2000" dirty="0"/>
              <a:t> APAR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sengaja</a:t>
            </a:r>
            <a:r>
              <a:rPr lang="en-US" sz="2000" dirty="0"/>
              <a:t> </a:t>
            </a:r>
            <a:r>
              <a:rPr lang="en-US" sz="2000" dirty="0" err="1"/>
              <a:t>tertekan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mengakibatkan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keluar</a:t>
            </a:r>
            <a:r>
              <a:rPr lang="en-US" sz="2000" dirty="0"/>
              <a:t>. Jadi,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kamu</a:t>
            </a:r>
            <a:r>
              <a:rPr lang="en-US" sz="2000" dirty="0"/>
              <a:t> </a:t>
            </a:r>
            <a:r>
              <a:rPr lang="en-US" sz="2000" dirty="0" err="1"/>
              <a:t>mau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APAR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mencabut</a:t>
            </a:r>
            <a:r>
              <a:rPr lang="en-US" sz="2000" dirty="0"/>
              <a:t> safety pin </a:t>
            </a:r>
            <a:r>
              <a:rPr lang="en-US" sz="2000" dirty="0" err="1"/>
              <a:t>terlebih</a:t>
            </a:r>
            <a:r>
              <a:rPr lang="en-US" sz="2000" dirty="0"/>
              <a:t> </a:t>
            </a:r>
            <a:r>
              <a:rPr lang="en-US" sz="2000" dirty="0" err="1"/>
              <a:t>dahulu</a:t>
            </a:r>
            <a:r>
              <a:rPr lang="en-US" sz="2000" dirty="0"/>
              <a:t> </a:t>
            </a:r>
            <a:r>
              <a:rPr lang="en-US" sz="2000" dirty="0" err="1"/>
              <a:t>supaya</a:t>
            </a:r>
            <a:r>
              <a:rPr lang="en-US" sz="2000" dirty="0"/>
              <a:t> </a:t>
            </a:r>
            <a:r>
              <a:rPr lang="en-US" sz="2000" dirty="0" err="1"/>
              <a:t>tuas</a:t>
            </a:r>
            <a:r>
              <a:rPr lang="en-US" sz="2000" dirty="0"/>
              <a:t> APAR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ditekan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9D167-3DD8-D803-FFEE-E77F4D083F00}"/>
              </a:ext>
            </a:extLst>
          </p:cNvPr>
          <p:cNvSpPr txBox="1"/>
          <p:nvPr/>
        </p:nvSpPr>
        <p:spPr>
          <a:xfrm>
            <a:off x="911831" y="3761382"/>
            <a:ext cx="6193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Pressure gauge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34A8A5-D5B6-18C9-CEB6-D0E561AAE607}"/>
              </a:ext>
            </a:extLst>
          </p:cNvPr>
          <p:cNvSpPr txBox="1"/>
          <p:nvPr/>
        </p:nvSpPr>
        <p:spPr>
          <a:xfrm>
            <a:off x="1233764" y="4288402"/>
            <a:ext cx="93155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Pressure gauge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komponen</a:t>
            </a:r>
            <a:r>
              <a:rPr lang="en-US" sz="2000" dirty="0"/>
              <a:t> yang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mengecek</a:t>
            </a:r>
            <a:r>
              <a:rPr lang="en-US" sz="2000" dirty="0"/>
              <a:t> </a:t>
            </a:r>
            <a:r>
              <a:rPr lang="en-US" sz="2000" dirty="0" err="1"/>
              <a:t>tekanan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 APAR. </a:t>
            </a:r>
            <a:r>
              <a:rPr lang="en-US" sz="2000" dirty="0" err="1"/>
              <a:t>Terutama</a:t>
            </a:r>
            <a:r>
              <a:rPr lang="en-US" sz="2000" dirty="0"/>
              <a:t> pada APAR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tekanan</a:t>
            </a:r>
            <a:r>
              <a:rPr lang="en-US" sz="2000" dirty="0"/>
              <a:t> stored pressure. </a:t>
            </a:r>
            <a:r>
              <a:rPr lang="en-US" sz="2000" dirty="0" err="1"/>
              <a:t>Tekanan</a:t>
            </a:r>
            <a:r>
              <a:rPr lang="en-US" sz="2000" dirty="0"/>
              <a:t> APAR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selalu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normal yang </a:t>
            </a:r>
            <a:r>
              <a:rPr lang="en-US" sz="2000" dirty="0" err="1"/>
              <a:t>ditandai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jarum</a:t>
            </a:r>
            <a:r>
              <a:rPr lang="en-US" sz="2000" dirty="0"/>
              <a:t> manometer </a:t>
            </a:r>
            <a:r>
              <a:rPr lang="en-US" sz="2000" dirty="0" err="1"/>
              <a:t>menunjuk</a:t>
            </a:r>
            <a:r>
              <a:rPr lang="en-US" sz="2000" dirty="0"/>
              <a:t> pada area </a:t>
            </a:r>
            <a:r>
              <a:rPr lang="en-US" sz="2000" dirty="0" err="1"/>
              <a:t>warna</a:t>
            </a:r>
            <a:r>
              <a:rPr lang="en-US" sz="2000" dirty="0"/>
              <a:t> </a:t>
            </a:r>
            <a:r>
              <a:rPr lang="en-US" sz="2000" dirty="0" err="1"/>
              <a:t>hijau</a:t>
            </a:r>
            <a:r>
              <a:rPr lang="en-US" sz="2000" dirty="0"/>
              <a:t> (green area), </a:t>
            </a:r>
            <a:r>
              <a:rPr lang="en-US" sz="2000" dirty="0" err="1"/>
              <a:t>yaitu</a:t>
            </a:r>
            <a:r>
              <a:rPr lang="en-US" sz="2000" dirty="0"/>
              <a:t> pada </a:t>
            </a:r>
            <a:r>
              <a:rPr lang="en-US" sz="2000" dirty="0" err="1"/>
              <a:t>tekanan</a:t>
            </a:r>
            <a:r>
              <a:rPr lang="en-US" sz="2000" dirty="0"/>
              <a:t> 15 – 20 bar.</a:t>
            </a:r>
          </a:p>
        </p:txBody>
      </p:sp>
    </p:spTree>
    <p:extLst>
      <p:ext uri="{BB962C8B-B14F-4D97-AF65-F5344CB8AC3E}">
        <p14:creationId xmlns:p14="http://schemas.microsoft.com/office/powerpoint/2010/main" val="353573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86591"/>
            <a:ext cx="12193057" cy="68585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22065" y="1570172"/>
            <a:ext cx="2079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3. Tuas/handle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D4C95-0AFD-85A0-5257-3358E8CEBD85}"/>
              </a:ext>
            </a:extLst>
          </p:cNvPr>
          <p:cNvSpPr txBox="1"/>
          <p:nvPr/>
        </p:nvSpPr>
        <p:spPr>
          <a:xfrm>
            <a:off x="1860083" y="2074373"/>
            <a:ext cx="91314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Tuas APAR </a:t>
            </a:r>
            <a:r>
              <a:rPr lang="en-US" sz="2000" dirty="0" err="1"/>
              <a:t>atau</a:t>
            </a:r>
            <a:r>
              <a:rPr lang="en-US" sz="2000" dirty="0"/>
              <a:t> handle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membuka</a:t>
            </a:r>
            <a:r>
              <a:rPr lang="en-US" sz="2000" dirty="0"/>
              <a:t> spindle.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tuas</a:t>
            </a:r>
            <a:r>
              <a:rPr lang="en-US" sz="2000" dirty="0"/>
              <a:t> APAR </a:t>
            </a:r>
            <a:r>
              <a:rPr lang="en-US" sz="2000" dirty="0" err="1"/>
              <a:t>ditekan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gas </a:t>
            </a:r>
            <a:r>
              <a:rPr lang="en-US" sz="2000" dirty="0" err="1"/>
              <a:t>bertekanan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membawa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keluar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 APAR.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9AD03-F7EC-C166-DB4B-81D3AA8CEBD0}"/>
              </a:ext>
            </a:extLst>
          </p:cNvPr>
          <p:cNvSpPr txBox="1"/>
          <p:nvPr/>
        </p:nvSpPr>
        <p:spPr>
          <a:xfrm>
            <a:off x="-526467" y="2967038"/>
            <a:ext cx="6376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4. </a:t>
            </a:r>
            <a:r>
              <a:rPr lang="en-US" sz="2400" b="1" dirty="0" err="1"/>
              <a:t>Selang</a:t>
            </a:r>
            <a:r>
              <a:rPr lang="en-US" sz="2400" b="1" dirty="0"/>
              <a:t>/hose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303E0-642B-82D5-7CA5-846C47EC5A85}"/>
              </a:ext>
            </a:extLst>
          </p:cNvPr>
          <p:cNvSpPr txBox="1"/>
          <p:nvPr/>
        </p:nvSpPr>
        <p:spPr>
          <a:xfrm>
            <a:off x="1963553" y="3515888"/>
            <a:ext cx="90279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0" dirty="0"/>
          </a:p>
          <a:p>
            <a:pPr algn="just"/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selang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juga </a:t>
            </a:r>
            <a:r>
              <a:rPr lang="en-US" sz="2000" dirty="0" err="1"/>
              <a:t>disebut</a:t>
            </a:r>
            <a:r>
              <a:rPr lang="en-US" sz="2000" dirty="0"/>
              <a:t> hose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menyalurkan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 </a:t>
            </a:r>
            <a:r>
              <a:rPr lang="en-US" sz="2000" dirty="0" err="1"/>
              <a:t>menuju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ujung</a:t>
            </a:r>
            <a:r>
              <a:rPr lang="en-US" sz="2000" dirty="0"/>
              <a:t> nozzle.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6FEFB-6980-52B7-3164-B152D72E1617}"/>
              </a:ext>
            </a:extLst>
          </p:cNvPr>
          <p:cNvSpPr txBox="1"/>
          <p:nvPr/>
        </p:nvSpPr>
        <p:spPr>
          <a:xfrm>
            <a:off x="1622065" y="4774411"/>
            <a:ext cx="6641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5. Nozzle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BE21E-CD36-A502-54FC-4C7D58782C7F}"/>
              </a:ext>
            </a:extLst>
          </p:cNvPr>
          <p:cNvSpPr txBox="1"/>
          <p:nvPr/>
        </p:nvSpPr>
        <p:spPr>
          <a:xfrm>
            <a:off x="1963553" y="5196794"/>
            <a:ext cx="90279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Bagian nozzle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corong</a:t>
            </a:r>
            <a:r>
              <a:rPr lang="en-US" sz="2000" dirty="0"/>
              <a:t> </a:t>
            </a:r>
            <a:r>
              <a:rPr lang="en-US" sz="2000" dirty="0" err="1"/>
              <a:t>keluarnya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menuju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titik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. Nozzle </a:t>
            </a:r>
            <a:r>
              <a:rPr lang="en-US" sz="2000" dirty="0" err="1"/>
              <a:t>berfungsi</a:t>
            </a:r>
            <a:r>
              <a:rPr lang="en-US" sz="2000" dirty="0"/>
              <a:t> agar media APAR yang </a:t>
            </a:r>
            <a:r>
              <a:rPr lang="en-US" sz="2000" dirty="0" err="1"/>
              <a:t>keluar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dipusatkan</a:t>
            </a:r>
            <a:r>
              <a:rPr lang="en-US" sz="2000" dirty="0"/>
              <a:t> pada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, </a:t>
            </a:r>
            <a:r>
              <a:rPr lang="en-US" sz="2000" dirty="0" err="1"/>
              <a:t>sehingga</a:t>
            </a:r>
            <a:r>
              <a:rPr lang="en-US" sz="2000" dirty="0"/>
              <a:t>, </a:t>
            </a:r>
            <a:r>
              <a:rPr lang="en-US" sz="2000" dirty="0" err="1"/>
              <a:t>kebakaran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dipadamkan</a:t>
            </a:r>
            <a:r>
              <a:rPr lang="en-US" sz="2000" dirty="0"/>
              <a:t>. Jadi, </a:t>
            </a:r>
            <a:r>
              <a:rPr lang="en-US" sz="2000" dirty="0" err="1"/>
              <a:t>pastikan</a:t>
            </a:r>
            <a:r>
              <a:rPr lang="en-US" sz="2000" dirty="0"/>
              <a:t> nozzle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tersumbat</a:t>
            </a:r>
            <a:r>
              <a:rPr lang="en-US" sz="2000" dirty="0"/>
              <a:t>, agar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keluar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maksimal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2234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105946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79846-296A-1C77-4E9B-B546B733E56B}"/>
              </a:ext>
            </a:extLst>
          </p:cNvPr>
          <p:cNvSpPr txBox="1"/>
          <p:nvPr/>
        </p:nvSpPr>
        <p:spPr>
          <a:xfrm>
            <a:off x="1017871" y="1421610"/>
            <a:ext cx="6193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6. </a:t>
            </a:r>
            <a:r>
              <a:rPr lang="en-US" sz="2400" b="1" dirty="0" err="1"/>
              <a:t>Tabung</a:t>
            </a:r>
            <a:r>
              <a:rPr lang="en-US" sz="2400" b="1" dirty="0"/>
              <a:t> APAR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B62BF-33A0-F11A-DF00-6A5E709917AC}"/>
              </a:ext>
            </a:extLst>
          </p:cNvPr>
          <p:cNvSpPr txBox="1"/>
          <p:nvPr/>
        </p:nvSpPr>
        <p:spPr>
          <a:xfrm>
            <a:off x="1220003" y="1883275"/>
            <a:ext cx="98490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Tabung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juga </a:t>
            </a:r>
            <a:r>
              <a:rPr lang="en-US" sz="2000" dirty="0" err="1"/>
              <a:t>biasa</a:t>
            </a:r>
            <a:r>
              <a:rPr lang="en-US" sz="2000" dirty="0"/>
              <a:t> </a:t>
            </a:r>
            <a:r>
              <a:rPr lang="en-US" sz="2000" dirty="0" err="1"/>
              <a:t>disebut</a:t>
            </a:r>
            <a:r>
              <a:rPr lang="en-US" sz="2000" dirty="0"/>
              <a:t> tube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dimana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disimpan</a:t>
            </a:r>
            <a:r>
              <a:rPr lang="en-US" sz="2000" dirty="0"/>
              <a:t>. </a:t>
            </a:r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dibuat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material yang </a:t>
            </a:r>
            <a:r>
              <a:rPr lang="en-US" sz="2000" dirty="0" err="1"/>
              <a:t>kuat</a:t>
            </a:r>
            <a:r>
              <a:rPr lang="en-US" sz="2000" dirty="0"/>
              <a:t> dan anti karat. </a:t>
            </a:r>
            <a:r>
              <a:rPr lang="en-US" sz="2000" dirty="0" err="1"/>
              <a:t>Pastikan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 APAR </a:t>
            </a:r>
            <a:r>
              <a:rPr lang="en-US" sz="2000" dirty="0" err="1"/>
              <a:t>milikmu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hydrotest </a:t>
            </a:r>
            <a:r>
              <a:rPr lang="en-US" sz="2000" dirty="0" err="1"/>
              <a:t>setiap</a:t>
            </a:r>
            <a:r>
              <a:rPr lang="en-US" sz="2000" dirty="0"/>
              <a:t> 5 </a:t>
            </a:r>
            <a:r>
              <a:rPr lang="en-US" sz="2000" dirty="0" err="1"/>
              <a:t>tahun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memastikan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kebocoran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kerusakan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4C3D5-2936-F92F-F171-2E0B0B8D1BE0}"/>
              </a:ext>
            </a:extLst>
          </p:cNvPr>
          <p:cNvSpPr txBox="1"/>
          <p:nvPr/>
        </p:nvSpPr>
        <p:spPr>
          <a:xfrm>
            <a:off x="1085249" y="3503164"/>
            <a:ext cx="6193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7. </a:t>
            </a:r>
            <a:r>
              <a:rPr lang="en-US" sz="2400" b="1" dirty="0" err="1"/>
              <a:t>Sabuk</a:t>
            </a:r>
            <a:r>
              <a:rPr lang="en-US" sz="2400" b="1" dirty="0"/>
              <a:t> </a:t>
            </a:r>
            <a:r>
              <a:rPr lang="en-US" sz="2400" b="1" dirty="0" err="1"/>
              <a:t>tabung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F5D64-0907-07EB-4720-3A99E6A5A2EB}"/>
              </a:ext>
            </a:extLst>
          </p:cNvPr>
          <p:cNvSpPr txBox="1"/>
          <p:nvPr/>
        </p:nvSpPr>
        <p:spPr>
          <a:xfrm>
            <a:off x="1240311" y="4158409"/>
            <a:ext cx="98287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Komponen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mengamankan</a:t>
            </a:r>
            <a:r>
              <a:rPr lang="en-US" sz="2000" dirty="0"/>
              <a:t> nozzle. </a:t>
            </a:r>
            <a:r>
              <a:rPr lang="en-US" sz="2000" dirty="0" err="1"/>
              <a:t>Sehingga</a:t>
            </a:r>
            <a:r>
              <a:rPr lang="en-US" sz="2000" dirty="0"/>
              <a:t>, nozzle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menggantung</a:t>
            </a:r>
            <a:r>
              <a:rPr lang="en-US" sz="2000" dirty="0"/>
              <a:t> dan </a:t>
            </a:r>
            <a:r>
              <a:rPr lang="en-US" sz="2000" dirty="0" err="1"/>
              <a:t>mudah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diambil</a:t>
            </a:r>
            <a:r>
              <a:rPr lang="en-US" sz="2000" dirty="0"/>
              <a:t>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memadamkan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.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sabuk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APAR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ringkas</a:t>
            </a:r>
            <a:r>
              <a:rPr lang="en-US" sz="2000" dirty="0"/>
              <a:t> dan </a:t>
            </a:r>
            <a:r>
              <a:rPr lang="en-US" sz="2000" dirty="0" err="1"/>
              <a:t>mudah</a:t>
            </a:r>
            <a:r>
              <a:rPr lang="en-US" sz="2000" dirty="0"/>
              <a:t> </a:t>
            </a:r>
            <a:r>
              <a:rPr lang="en-US" sz="2000" dirty="0" err="1"/>
              <a:t>dibawa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23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73643-75C4-5D9D-B873-BC442142F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250" y="1292661"/>
            <a:ext cx="6306683" cy="5291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F0ABF6-5E1E-75E4-1E62-3CC69C8F3AB0}"/>
              </a:ext>
            </a:extLst>
          </p:cNvPr>
          <p:cNvSpPr txBox="1"/>
          <p:nvPr/>
        </p:nvSpPr>
        <p:spPr>
          <a:xfrm>
            <a:off x="314931" y="1511166"/>
            <a:ext cx="5148252" cy="448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Timw new roman"/>
              </a:rPr>
              <a:t>	</a:t>
            </a:r>
            <a:r>
              <a:rPr lang="en-US" sz="2200" b="1" dirty="0" err="1">
                <a:latin typeface="Timw new roman"/>
              </a:rPr>
              <a:t>Klasifikasi</a:t>
            </a:r>
            <a:r>
              <a:rPr lang="en-US" sz="2200" b="1" dirty="0">
                <a:latin typeface="Timw new roman"/>
              </a:rPr>
              <a:t> </a:t>
            </a:r>
            <a:r>
              <a:rPr lang="en-US" sz="2200" b="1" dirty="0" err="1">
                <a:latin typeface="Timw new roman"/>
              </a:rPr>
              <a:t>Kebakaran</a:t>
            </a:r>
            <a:r>
              <a:rPr lang="en-US" sz="2200" b="1" dirty="0">
                <a:latin typeface="Timw new roman"/>
              </a:rPr>
              <a:t> </a:t>
            </a:r>
            <a:r>
              <a:rPr lang="en-US" sz="2200" b="1" dirty="0" err="1">
                <a:latin typeface="Timw new roman"/>
              </a:rPr>
              <a:t>menurut</a:t>
            </a:r>
            <a:r>
              <a:rPr lang="en-US" sz="2200" b="1" dirty="0">
                <a:latin typeface="Timw new roman"/>
              </a:rPr>
              <a:t> National Fire Protection Association (NFPA</a:t>
            </a:r>
            <a:r>
              <a:rPr lang="en-US" sz="2200" dirty="0">
                <a:latin typeface="Timw new roman"/>
              </a:rPr>
              <a:t>) 10 dan SNI 180/2021 </a:t>
            </a:r>
            <a:r>
              <a:rPr lang="en-US" sz="2200" dirty="0" err="1">
                <a:latin typeface="Timw new roman"/>
              </a:rPr>
              <a:t>dibagi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menjadi</a:t>
            </a:r>
            <a:r>
              <a:rPr lang="en-US" sz="2200" dirty="0">
                <a:latin typeface="Timw new roman"/>
              </a:rPr>
              <a:t> 6 (</a:t>
            </a:r>
            <a:r>
              <a:rPr lang="en-US" sz="2200" dirty="0" err="1">
                <a:latin typeface="Timw new roman"/>
              </a:rPr>
              <a:t>enam</a:t>
            </a:r>
            <a:r>
              <a:rPr lang="en-US" sz="2200" dirty="0">
                <a:latin typeface="Timw new roman"/>
              </a:rPr>
              <a:t>) </a:t>
            </a:r>
            <a:r>
              <a:rPr lang="en-US" sz="2200" dirty="0" err="1">
                <a:latin typeface="Timw new roman"/>
              </a:rPr>
              <a:t>kelas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yaitu</a:t>
            </a:r>
            <a:r>
              <a:rPr lang="en-US" sz="2200" dirty="0">
                <a:latin typeface="Timw new roman"/>
              </a:rPr>
              <a:t> : 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Kelas</a:t>
            </a:r>
            <a:r>
              <a:rPr lang="en-US" sz="2200" dirty="0">
                <a:latin typeface="Timw new roman"/>
              </a:rPr>
              <a:t> A,B,C,D dan 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Kelas</a:t>
            </a:r>
            <a:r>
              <a:rPr lang="en-US" sz="2200" dirty="0">
                <a:latin typeface="Timw new roman"/>
              </a:rPr>
              <a:t> K. </a:t>
            </a:r>
            <a:r>
              <a:rPr lang="en-US" sz="2200" dirty="0" err="1">
                <a:latin typeface="Timw new roman"/>
              </a:rPr>
              <a:t>Klasifikasi</a:t>
            </a:r>
            <a:r>
              <a:rPr lang="en-US" sz="2200" dirty="0">
                <a:latin typeface="Timw new roman"/>
              </a:rPr>
              <a:t> (</a:t>
            </a:r>
            <a:r>
              <a:rPr lang="en-US" sz="2200" dirty="0" err="1">
                <a:latin typeface="Timw new roman"/>
              </a:rPr>
              <a:t>kelas</a:t>
            </a:r>
            <a:r>
              <a:rPr lang="en-US" sz="2200" dirty="0">
                <a:latin typeface="Timw new roman"/>
              </a:rPr>
              <a:t>) 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berguna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untuk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menentukan</a:t>
            </a:r>
            <a:r>
              <a:rPr lang="en-US" sz="2200" dirty="0">
                <a:latin typeface="Timw new roman"/>
              </a:rPr>
              <a:t> media </a:t>
            </a:r>
            <a:r>
              <a:rPr lang="en-US" sz="2200" dirty="0" err="1">
                <a:latin typeface="Timw new roman"/>
              </a:rPr>
              <a:t>pemadam</a:t>
            </a:r>
            <a:r>
              <a:rPr lang="en-US" sz="2200" dirty="0">
                <a:latin typeface="Timw new roman"/>
              </a:rPr>
              <a:t> yang </a:t>
            </a:r>
            <a:r>
              <a:rPr lang="en-US" sz="2200" dirty="0" err="1">
                <a:latin typeface="Timw new roman"/>
              </a:rPr>
              <a:t>efektif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untuk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memadamkan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api</a:t>
            </a:r>
            <a:r>
              <a:rPr lang="en-US" sz="2200" dirty="0">
                <a:latin typeface="Timw new roman"/>
              </a:rPr>
              <a:t>/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menurut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sumber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api</a:t>
            </a:r>
            <a:r>
              <a:rPr lang="en-US" sz="2200" dirty="0">
                <a:latin typeface="Timw new roman"/>
              </a:rPr>
              <a:t>/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tersebut</a:t>
            </a:r>
            <a:r>
              <a:rPr lang="en-US" sz="2200" dirty="0">
                <a:latin typeface="Timw new roman"/>
              </a:rPr>
              <a:t>, </a:t>
            </a:r>
            <a:r>
              <a:rPr lang="en-US" sz="2200" dirty="0" err="1">
                <a:latin typeface="Timw new roman"/>
              </a:rPr>
              <a:t>serta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berguna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untuk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menentukan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tingkat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keamanan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jenis</a:t>
            </a:r>
            <a:r>
              <a:rPr lang="en-US" sz="2200" dirty="0">
                <a:latin typeface="Timw new roman"/>
              </a:rPr>
              <a:t> media </a:t>
            </a:r>
            <a:r>
              <a:rPr lang="en-US" sz="2200" dirty="0" err="1">
                <a:latin typeface="Timw new roman"/>
              </a:rPr>
              <a:t>pemadam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sebagai</a:t>
            </a:r>
            <a:r>
              <a:rPr lang="en-US" sz="2200" dirty="0">
                <a:latin typeface="Timw new roman"/>
              </a:rPr>
              <a:t> media </a:t>
            </a:r>
            <a:r>
              <a:rPr lang="en-US" sz="2200" dirty="0" err="1">
                <a:latin typeface="Timw new roman"/>
              </a:rPr>
              <a:t>pemadaman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suatu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kelas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kebakaran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berdasarkan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sumber</a:t>
            </a:r>
            <a:r>
              <a:rPr lang="en-US" sz="2200" dirty="0">
                <a:latin typeface="Timw new roman"/>
              </a:rPr>
              <a:t> </a:t>
            </a:r>
            <a:r>
              <a:rPr lang="en-US" sz="2200" dirty="0" err="1">
                <a:latin typeface="Timw new roman"/>
              </a:rPr>
              <a:t>api</a:t>
            </a:r>
            <a:r>
              <a:rPr lang="en-US" sz="2200" dirty="0">
                <a:latin typeface="Timw new roman"/>
              </a:rPr>
              <a:t>/</a:t>
            </a:r>
            <a:r>
              <a:rPr lang="en-US" sz="2200" dirty="0" err="1">
                <a:latin typeface="Timw new roman"/>
              </a:rPr>
              <a:t>kebakarannya</a:t>
            </a:r>
            <a:r>
              <a:rPr lang="en-US" sz="2200" dirty="0">
                <a:latin typeface="Timw new roman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10177-6488-55FB-DF9C-ECE1FECE91C6}"/>
              </a:ext>
            </a:extLst>
          </p:cNvPr>
          <p:cNvSpPr txBox="1"/>
          <p:nvPr/>
        </p:nvSpPr>
        <p:spPr>
          <a:xfrm>
            <a:off x="4245943" y="692639"/>
            <a:ext cx="3903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KLASIFIKASI KEBAKARAN</a:t>
            </a:r>
          </a:p>
        </p:txBody>
      </p:sp>
    </p:spTree>
    <p:extLst>
      <p:ext uri="{BB962C8B-B14F-4D97-AF65-F5344CB8AC3E}">
        <p14:creationId xmlns:p14="http://schemas.microsoft.com/office/powerpoint/2010/main" val="583311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9A0E0-A8E3-3875-EC78-6167FC31FB8E}"/>
              </a:ext>
            </a:extLst>
          </p:cNvPr>
          <p:cNvSpPr txBox="1"/>
          <p:nvPr/>
        </p:nvSpPr>
        <p:spPr>
          <a:xfrm>
            <a:off x="3250933" y="1215808"/>
            <a:ext cx="6193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/>
              <a:t>Ketentuan</a:t>
            </a:r>
            <a:r>
              <a:rPr lang="en-US" sz="3600" b="1" dirty="0"/>
              <a:t> </a:t>
            </a:r>
            <a:r>
              <a:rPr lang="en-US" sz="3600" b="1" dirty="0" err="1"/>
              <a:t>Penempatan</a:t>
            </a:r>
            <a:r>
              <a:rPr lang="en-US" sz="3600" b="1" dirty="0"/>
              <a:t> APAR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933CA-AC54-58C7-91BE-CA927111004F}"/>
              </a:ext>
            </a:extLst>
          </p:cNvPr>
          <p:cNvSpPr txBox="1"/>
          <p:nvPr/>
        </p:nvSpPr>
        <p:spPr>
          <a:xfrm>
            <a:off x="661738" y="1966580"/>
            <a:ext cx="7259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1) </a:t>
            </a:r>
            <a:r>
              <a:rPr lang="en-US" sz="2400" b="1" dirty="0" err="1"/>
              <a:t>Prinsip</a:t>
            </a:r>
            <a:r>
              <a:rPr lang="en-US" sz="2400" b="1" dirty="0"/>
              <a:t> </a:t>
            </a:r>
            <a:r>
              <a:rPr lang="en-US" sz="2400" b="1" dirty="0" err="1"/>
              <a:t>penempatan</a:t>
            </a:r>
            <a:r>
              <a:rPr lang="en-US" sz="2400" b="1" dirty="0"/>
              <a:t> Alat </a:t>
            </a:r>
            <a:r>
              <a:rPr lang="en-US" sz="2400" b="1" dirty="0" err="1"/>
              <a:t>Pemadam</a:t>
            </a:r>
            <a:r>
              <a:rPr lang="en-US" sz="2400" b="1" dirty="0"/>
              <a:t> Api </a:t>
            </a:r>
            <a:r>
              <a:rPr lang="en-US" sz="2400" b="1" dirty="0" err="1"/>
              <a:t>Ringan</a:t>
            </a: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458F5-95DE-00FB-DE22-C62E26D57C76}"/>
              </a:ext>
            </a:extLst>
          </p:cNvPr>
          <p:cNvSpPr txBox="1"/>
          <p:nvPr/>
        </p:nvSpPr>
        <p:spPr>
          <a:xfrm>
            <a:off x="979370" y="2532686"/>
            <a:ext cx="9839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Pada </a:t>
            </a:r>
            <a:r>
              <a:rPr lang="en-US" sz="2000" dirty="0" err="1"/>
              <a:t>dasarnya</a:t>
            </a:r>
            <a:r>
              <a:rPr lang="en-US" sz="2000" dirty="0"/>
              <a:t> </a:t>
            </a:r>
            <a:r>
              <a:rPr lang="en-US" sz="2000" dirty="0" err="1"/>
              <a:t>prinsip</a:t>
            </a:r>
            <a:r>
              <a:rPr lang="en-US" sz="2000" dirty="0"/>
              <a:t> </a:t>
            </a:r>
            <a:r>
              <a:rPr lang="en-US" sz="2000" dirty="0" err="1"/>
              <a:t>penempatan</a:t>
            </a:r>
            <a:r>
              <a:rPr lang="en-US" sz="2000" dirty="0"/>
              <a:t> Alat </a:t>
            </a:r>
            <a:r>
              <a:rPr lang="en-US" sz="2000" dirty="0" err="1"/>
              <a:t>Pemadam</a:t>
            </a:r>
            <a:r>
              <a:rPr lang="en-US" sz="2000" dirty="0"/>
              <a:t> Api </a:t>
            </a:r>
            <a:r>
              <a:rPr lang="en-US" sz="2000" dirty="0" err="1"/>
              <a:t>Ringan</a:t>
            </a:r>
            <a:r>
              <a:rPr lang="en-US" sz="2000" dirty="0"/>
              <a:t>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peraturan</a:t>
            </a:r>
            <a:r>
              <a:rPr lang="en-US" sz="2000" dirty="0"/>
              <a:t> Menteri </a:t>
            </a:r>
            <a:r>
              <a:rPr lang="en-US" sz="2000" dirty="0" err="1"/>
              <a:t>tanggal</a:t>
            </a:r>
            <a:r>
              <a:rPr lang="en-US" sz="2000" dirty="0"/>
              <a:t> 14 April 1980 No.04/Men/1980 </a:t>
            </a:r>
            <a:r>
              <a:rPr lang="en-US" sz="2000" dirty="0" err="1"/>
              <a:t>diletakkan</a:t>
            </a:r>
            <a:r>
              <a:rPr lang="en-US" sz="2000" dirty="0"/>
              <a:t> di </a:t>
            </a:r>
            <a:r>
              <a:rPr lang="en-US" sz="2000" dirty="0" err="1"/>
              <a:t>daerah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lain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BA6D1-FF58-D081-DDD1-0462F7D615DD}"/>
              </a:ext>
            </a:extLst>
          </p:cNvPr>
          <p:cNvSpPr txBox="1"/>
          <p:nvPr/>
        </p:nvSpPr>
        <p:spPr>
          <a:xfrm>
            <a:off x="1855269" y="3283458"/>
            <a:ext cx="91362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a. </a:t>
            </a:r>
            <a:r>
              <a:rPr lang="en-US" sz="2000" dirty="0" err="1"/>
              <a:t>Mudah</a:t>
            </a:r>
            <a:r>
              <a:rPr lang="en-US" sz="2000" dirty="0"/>
              <a:t> </a:t>
            </a:r>
            <a:r>
              <a:rPr lang="en-US" sz="2000" dirty="0" err="1"/>
              <a:t>dilihat</a:t>
            </a:r>
            <a:endParaRPr lang="en-US" sz="2000" dirty="0"/>
          </a:p>
          <a:p>
            <a:r>
              <a:rPr lang="en-US" sz="2000" dirty="0"/>
              <a:t>b. </a:t>
            </a:r>
            <a:r>
              <a:rPr lang="en-US" sz="2000" dirty="0" err="1"/>
              <a:t>Cepat</a:t>
            </a:r>
            <a:r>
              <a:rPr lang="en-US" sz="2000" dirty="0"/>
              <a:t> </a:t>
            </a:r>
            <a:r>
              <a:rPr lang="en-US" sz="2000" dirty="0" err="1"/>
              <a:t>diambil</a:t>
            </a:r>
            <a:r>
              <a:rPr lang="en-US" sz="2000" dirty="0"/>
              <a:t> dan </a:t>
            </a:r>
            <a:r>
              <a:rPr lang="en-US" sz="2000" dirty="0" err="1"/>
              <a:t>digunakan</a:t>
            </a:r>
            <a:endParaRPr lang="en-US" sz="2000" dirty="0"/>
          </a:p>
          <a:p>
            <a:r>
              <a:rPr lang="en-US" sz="2000" dirty="0"/>
              <a:t>c.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pemakai</a:t>
            </a:r>
            <a:r>
              <a:rPr lang="en-US" sz="2000" dirty="0"/>
              <a:t> </a:t>
            </a:r>
            <a:r>
              <a:rPr lang="en-US" sz="2000" dirty="0" err="1"/>
              <a:t>terjebak</a:t>
            </a:r>
            <a:r>
              <a:rPr lang="en-US" sz="2000" dirty="0"/>
              <a:t> </a:t>
            </a:r>
            <a:r>
              <a:rPr lang="en-US" sz="2000" dirty="0" err="1"/>
              <a:t>bila</a:t>
            </a:r>
            <a:r>
              <a:rPr lang="en-US" sz="2000" dirty="0"/>
              <a:t> </a:t>
            </a:r>
            <a:r>
              <a:rPr lang="en-US" sz="2000" dirty="0" err="1"/>
              <a:t>kebakaranmeluas</a:t>
            </a:r>
            <a:endParaRPr lang="en-US" sz="2000" dirty="0"/>
          </a:p>
          <a:p>
            <a:r>
              <a:rPr lang="en-US" sz="2000" dirty="0"/>
              <a:t>d. </a:t>
            </a:r>
            <a:r>
              <a:rPr lang="en-US" sz="2000" dirty="0" err="1"/>
              <a:t>Bebas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kemungkinan</a:t>
            </a:r>
            <a:r>
              <a:rPr lang="en-US" sz="2000" dirty="0"/>
              <a:t> </a:t>
            </a:r>
            <a:r>
              <a:rPr lang="en-US" sz="2000" dirty="0" err="1"/>
              <a:t>perusakan</a:t>
            </a:r>
            <a:endParaRPr lang="en-US" sz="2000" dirty="0"/>
          </a:p>
          <a:p>
            <a:r>
              <a:rPr lang="en-US" sz="2000" dirty="0"/>
              <a:t>e. </a:t>
            </a:r>
            <a:r>
              <a:rPr lang="en-US" sz="2000" dirty="0" err="1"/>
              <a:t>Penyebaran</a:t>
            </a:r>
            <a:r>
              <a:rPr lang="en-US" sz="2000" dirty="0"/>
              <a:t> </a:t>
            </a:r>
            <a:r>
              <a:rPr lang="en-US" sz="2000" dirty="0" err="1"/>
              <a:t>merata</a:t>
            </a:r>
            <a:r>
              <a:rPr lang="en-US" sz="2000" dirty="0"/>
              <a:t>, </a:t>
            </a:r>
            <a:r>
              <a:rPr lang="en-US" sz="2000" dirty="0" err="1"/>
              <a:t>sedapat</a:t>
            </a:r>
            <a:r>
              <a:rPr lang="en-US" sz="2000" dirty="0"/>
              <a:t> </a:t>
            </a:r>
            <a:r>
              <a:rPr lang="en-US" sz="2000" dirty="0" err="1"/>
              <a:t>mungkin</a:t>
            </a:r>
            <a:r>
              <a:rPr lang="en-US" sz="2000" dirty="0"/>
              <a:t> pada 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yanghomogeny</a:t>
            </a:r>
            <a:endParaRPr lang="en-US" sz="2000" dirty="0"/>
          </a:p>
          <a:p>
            <a:r>
              <a:rPr lang="en-US" sz="2000" dirty="0"/>
              <a:t>f.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penempatan</a:t>
            </a:r>
            <a:r>
              <a:rPr lang="en-US" sz="2000" dirty="0"/>
              <a:t> Alat </a:t>
            </a:r>
            <a:r>
              <a:rPr lang="en-US" sz="2000" dirty="0" err="1"/>
              <a:t>Pemadam</a:t>
            </a:r>
            <a:r>
              <a:rPr lang="en-US" sz="2000" dirty="0"/>
              <a:t> Api </a:t>
            </a:r>
            <a:r>
              <a:rPr lang="en-US" sz="2000" dirty="0" err="1"/>
              <a:t>Ringan</a:t>
            </a:r>
            <a:r>
              <a:rPr lang="en-US" sz="2000" dirty="0"/>
              <a:t> </a:t>
            </a:r>
            <a:r>
              <a:rPr lang="en-US" sz="2000" dirty="0" err="1"/>
              <a:t>diberi</a:t>
            </a:r>
            <a:r>
              <a:rPr lang="en-US" sz="2000" dirty="0"/>
              <a:t> </a:t>
            </a:r>
            <a:r>
              <a:rPr lang="en-US" sz="2000" dirty="0" err="1"/>
              <a:t>tandapemasangan</a:t>
            </a:r>
            <a:r>
              <a:rPr lang="en-US" sz="2000" dirty="0"/>
              <a:t> yang </a:t>
            </a:r>
            <a:r>
              <a:rPr lang="en-US" sz="2000" dirty="0" err="1"/>
              <a:t>jelas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menurut</a:t>
            </a:r>
            <a:r>
              <a:rPr lang="en-US" sz="2000" dirty="0"/>
              <a:t> </a:t>
            </a:r>
            <a:r>
              <a:rPr lang="en-US" sz="2000" dirty="0" err="1"/>
              <a:t>peraturan</a:t>
            </a:r>
            <a:r>
              <a:rPr lang="en-US" sz="2000" dirty="0"/>
              <a:t> </a:t>
            </a:r>
            <a:r>
              <a:rPr lang="en-US" sz="2000" dirty="0" err="1"/>
              <a:t>Depnaker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216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1963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7A8D7-FE30-2287-B9D4-07D91966E0D2}"/>
              </a:ext>
            </a:extLst>
          </p:cNvPr>
          <p:cNvSpPr txBox="1"/>
          <p:nvPr/>
        </p:nvSpPr>
        <p:spPr>
          <a:xfrm>
            <a:off x="1218660" y="1206076"/>
            <a:ext cx="9300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sv-SE" sz="2000" b="1" dirty="0"/>
              <a:t>Ketentuan – ketentuan pembuatan tanda pemasangan Alat Pemadam Api Ringan pada dinding adalah :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DF75B-94B6-A5F6-F133-15FE4181819B}"/>
              </a:ext>
            </a:extLst>
          </p:cNvPr>
          <p:cNvSpPr txBox="1"/>
          <p:nvPr/>
        </p:nvSpPr>
        <p:spPr>
          <a:xfrm>
            <a:off x="3174652" y="1877059"/>
            <a:ext cx="6193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dirty="0" err="1"/>
              <a:t>Segitiga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merah</a:t>
            </a:r>
            <a:endParaRPr lang="en-US" dirty="0"/>
          </a:p>
          <a:p>
            <a:r>
              <a:rPr lang="en-US" dirty="0"/>
              <a:t>•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35 cm</a:t>
            </a:r>
          </a:p>
          <a:p>
            <a:r>
              <a:rPr lang="en-US" dirty="0"/>
              <a:t>• Tinggi </a:t>
            </a:r>
            <a:r>
              <a:rPr lang="en-US" dirty="0" err="1"/>
              <a:t>huruf</a:t>
            </a:r>
            <a:r>
              <a:rPr lang="en-US" dirty="0"/>
              <a:t> 3 cm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merah</a:t>
            </a:r>
            <a:endParaRPr lang="en-US" dirty="0"/>
          </a:p>
          <a:p>
            <a:r>
              <a:rPr lang="en-US" dirty="0"/>
              <a:t>• Tinggi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7.5 cm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putih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CDCFC4-B87E-C9FC-754B-63955E401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768" y="3350009"/>
            <a:ext cx="4409409" cy="34507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00BB2-88CF-9D53-14B5-9B7472EF1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081" y="3407228"/>
            <a:ext cx="3583142" cy="345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16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53534" y="828161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Tanda </a:t>
            </a:r>
            <a:r>
              <a:rPr lang="en-US" sz="3600" b="1" dirty="0" err="1">
                <a:solidFill>
                  <a:srgbClr val="FF0000"/>
                </a:solidFill>
              </a:rPr>
              <a:t>Pemasangan</a:t>
            </a:r>
            <a:r>
              <a:rPr lang="en-US" sz="3600" b="1" dirty="0">
                <a:solidFill>
                  <a:srgbClr val="FF0000"/>
                </a:solidFill>
              </a:rPr>
              <a:t> APAR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pada </a:t>
            </a:r>
            <a:r>
              <a:rPr lang="en-US" sz="3600" b="1" dirty="0" err="1">
                <a:solidFill>
                  <a:srgbClr val="FF0000"/>
                </a:solidFill>
              </a:rPr>
              <a:t>tiang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kolom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BD1CAA-5116-DA5D-955E-64643DB91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956" y="2330569"/>
            <a:ext cx="5874164" cy="38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70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43BCA-B6D6-8FE2-FFE9-C8B81DB22099}"/>
              </a:ext>
            </a:extLst>
          </p:cNvPr>
          <p:cNvSpPr txBox="1"/>
          <p:nvPr/>
        </p:nvSpPr>
        <p:spPr>
          <a:xfrm>
            <a:off x="1479883" y="1421610"/>
            <a:ext cx="7202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2400" b="1" dirty="0"/>
              <a:t>2) Syarat – Syarat Penempatan APAR di Bangunan 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AC58A-3EE1-ABA5-8A8A-290E36723243}"/>
              </a:ext>
            </a:extLst>
          </p:cNvPr>
          <p:cNvSpPr txBox="1"/>
          <p:nvPr/>
        </p:nvSpPr>
        <p:spPr>
          <a:xfrm>
            <a:off x="1759016" y="1972178"/>
            <a:ext cx="9512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Dalam</a:t>
            </a:r>
            <a:r>
              <a:rPr lang="en-US" sz="2000" b="1" dirty="0"/>
              <a:t> </a:t>
            </a:r>
            <a:r>
              <a:rPr lang="en-US" sz="2000" b="1" dirty="0" err="1"/>
              <a:t>menempatkan</a:t>
            </a:r>
            <a:r>
              <a:rPr lang="en-US" sz="2000" b="1" dirty="0"/>
              <a:t> Alat </a:t>
            </a:r>
            <a:r>
              <a:rPr lang="en-US" sz="2000" b="1" dirty="0" err="1"/>
              <a:t>Pemadam</a:t>
            </a:r>
            <a:r>
              <a:rPr lang="en-US" sz="2000" b="1" dirty="0"/>
              <a:t> Api </a:t>
            </a:r>
            <a:r>
              <a:rPr lang="en-US" sz="2000" b="1" dirty="0" err="1"/>
              <a:t>Ringan</a:t>
            </a:r>
            <a:r>
              <a:rPr lang="en-US" sz="2000" b="1" dirty="0"/>
              <a:t> di  </a:t>
            </a:r>
            <a:r>
              <a:rPr lang="en-US" sz="2000" b="1" dirty="0" err="1"/>
              <a:t>bangunan</a:t>
            </a:r>
            <a:r>
              <a:rPr lang="en-US" sz="2000" b="1" dirty="0"/>
              <a:t> </a:t>
            </a:r>
            <a:r>
              <a:rPr lang="en-US" sz="2000" b="1" dirty="0" err="1"/>
              <a:t>syarat</a:t>
            </a:r>
            <a:r>
              <a:rPr lang="en-US" sz="2000" b="1" dirty="0"/>
              <a:t> – </a:t>
            </a:r>
            <a:r>
              <a:rPr lang="en-US" sz="2000" b="1" dirty="0" err="1"/>
              <a:t>syaratnya</a:t>
            </a:r>
            <a:r>
              <a:rPr lang="en-US" sz="2000" b="1" dirty="0"/>
              <a:t> </a:t>
            </a:r>
            <a:r>
              <a:rPr lang="en-US" sz="2000" b="1" dirty="0" err="1"/>
              <a:t>adalah</a:t>
            </a:r>
            <a:r>
              <a:rPr lang="en-US" sz="2000" b="1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D6C7D-D208-7289-5274-B35CF28C160E}"/>
              </a:ext>
            </a:extLst>
          </p:cNvPr>
          <p:cNvSpPr txBox="1"/>
          <p:nvPr/>
        </p:nvSpPr>
        <p:spPr>
          <a:xfrm>
            <a:off x="2172904" y="2417338"/>
            <a:ext cx="6193856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Di </a:t>
            </a:r>
            <a:r>
              <a:rPr lang="en-US" sz="2000" dirty="0" err="1"/>
              <a:t>jalur</a:t>
            </a:r>
            <a:r>
              <a:rPr lang="en-US" sz="2000" dirty="0"/>
              <a:t> Exit (</a:t>
            </a:r>
            <a:r>
              <a:rPr lang="en-US" sz="2000" dirty="0" err="1"/>
              <a:t>keluar</a:t>
            </a:r>
            <a:r>
              <a:rPr lang="en-US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Cukup</a:t>
            </a:r>
            <a:r>
              <a:rPr lang="en-US" sz="2000" dirty="0"/>
              <a:t> </a:t>
            </a:r>
            <a:r>
              <a:rPr lang="en-US" sz="2000" dirty="0" err="1"/>
              <a:t>dekat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daerah</a:t>
            </a:r>
            <a:r>
              <a:rPr lang="en-US" sz="2000" dirty="0"/>
              <a:t> yang </a:t>
            </a:r>
            <a:r>
              <a:rPr lang="en-US" sz="2000" dirty="0" err="1"/>
              <a:t>berbahaya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Dekat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pintu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Pada </a:t>
            </a:r>
            <a:r>
              <a:rPr lang="en-US" sz="2000" dirty="0" err="1"/>
              <a:t>gedung</a:t>
            </a:r>
            <a:r>
              <a:rPr lang="en-US" sz="2000" dirty="0"/>
              <a:t> </a:t>
            </a:r>
            <a:r>
              <a:rPr lang="en-US" sz="2000" dirty="0" err="1"/>
              <a:t>bertingkat</a:t>
            </a:r>
            <a:r>
              <a:rPr lang="en-US" sz="2000" dirty="0"/>
              <a:t> 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– Pada </a:t>
            </a:r>
            <a:r>
              <a:rPr lang="en-US" sz="2000" dirty="0" err="1"/>
              <a:t>posisi</a:t>
            </a:r>
            <a:r>
              <a:rPr lang="en-US" sz="2000" dirty="0"/>
              <a:t> yang </a:t>
            </a:r>
            <a:r>
              <a:rPr lang="en-US" sz="2000" dirty="0" err="1"/>
              <a:t>sama</a:t>
            </a:r>
            <a:r>
              <a:rPr lang="en-US" sz="2000" dirty="0"/>
              <a:t> pada </a:t>
            </a:r>
            <a:r>
              <a:rPr lang="en-US" sz="2000" dirty="0" err="1"/>
              <a:t>tiap</a:t>
            </a:r>
            <a:r>
              <a:rPr lang="en-US" sz="2000" dirty="0"/>
              <a:t> </a:t>
            </a:r>
            <a:r>
              <a:rPr lang="en-US" sz="2000" dirty="0" err="1"/>
              <a:t>lantai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	– Pada </a:t>
            </a:r>
            <a:r>
              <a:rPr lang="en-US" sz="2000" dirty="0" err="1"/>
              <a:t>sudut</a:t>
            </a:r>
            <a:r>
              <a:rPr lang="en-US" sz="2000" dirty="0"/>
              <a:t> – </a:t>
            </a:r>
            <a:r>
              <a:rPr lang="en-US" sz="2000" dirty="0" err="1"/>
              <a:t>sudut</a:t>
            </a:r>
            <a:r>
              <a:rPr lang="en-US" sz="2000" dirty="0"/>
              <a:t> </a:t>
            </a:r>
            <a:r>
              <a:rPr lang="en-US" sz="2000" dirty="0" err="1"/>
              <a:t>koridor</a:t>
            </a:r>
            <a:r>
              <a:rPr lang="en-US" sz="2000" dirty="0"/>
              <a:t> (gang)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– </a:t>
            </a:r>
            <a:r>
              <a:rPr lang="en-US" sz="2000" dirty="0" err="1"/>
              <a:t>Dekat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pintu</a:t>
            </a:r>
            <a:r>
              <a:rPr lang="en-US" sz="2000" dirty="0"/>
              <a:t> </a:t>
            </a:r>
            <a:r>
              <a:rPr lang="en-US" sz="2000" dirty="0" err="1"/>
              <a:t>tangga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070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1F5B4-A2AF-4C27-D490-31057CA73A5F}"/>
              </a:ext>
            </a:extLst>
          </p:cNvPr>
          <p:cNvSpPr txBox="1"/>
          <p:nvPr/>
        </p:nvSpPr>
        <p:spPr>
          <a:xfrm>
            <a:off x="3051744" y="1194858"/>
            <a:ext cx="6193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/>
              <a:t>Pemilihan</a:t>
            </a:r>
            <a:r>
              <a:rPr lang="en-US" sz="3200" b="1" dirty="0"/>
              <a:t> APAR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030E6-0C99-0529-0854-27AC15D82531}"/>
              </a:ext>
            </a:extLst>
          </p:cNvPr>
          <p:cNvSpPr txBox="1"/>
          <p:nvPr/>
        </p:nvSpPr>
        <p:spPr>
          <a:xfrm>
            <a:off x="1008247" y="1910115"/>
            <a:ext cx="9656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 </a:t>
            </a:r>
            <a:r>
              <a:rPr lang="en-US" sz="2000" b="1" dirty="0" err="1"/>
              <a:t>Keterbatasan</a:t>
            </a:r>
            <a:r>
              <a:rPr lang="en-US" sz="2000" b="1" dirty="0"/>
              <a:t> Alat </a:t>
            </a:r>
            <a:r>
              <a:rPr lang="en-US" sz="2000" b="1" dirty="0" err="1"/>
              <a:t>Pemadam</a:t>
            </a:r>
            <a:r>
              <a:rPr lang="en-US" sz="2000" b="1" dirty="0"/>
              <a:t> Api </a:t>
            </a:r>
            <a:r>
              <a:rPr lang="en-US" sz="2000" b="1" dirty="0" err="1"/>
              <a:t>Ringan</a:t>
            </a:r>
            <a:r>
              <a:rPr lang="en-US" sz="2000" b="1" dirty="0"/>
              <a:t> </a:t>
            </a:r>
            <a:r>
              <a:rPr lang="en-US" sz="2000" b="1" dirty="0" err="1"/>
              <a:t>bentuknya</a:t>
            </a:r>
            <a:r>
              <a:rPr lang="en-US" sz="2000" b="1" dirty="0"/>
              <a:t> yang </a:t>
            </a:r>
            <a:r>
              <a:rPr lang="en-US" sz="2000" b="1" dirty="0" err="1"/>
              <a:t>kecil</a:t>
            </a:r>
            <a:r>
              <a:rPr lang="en-US" sz="2000" b="1" dirty="0"/>
              <a:t>, </a:t>
            </a:r>
            <a:r>
              <a:rPr lang="en-US" sz="2000" b="1" dirty="0" err="1"/>
              <a:t>maka</a:t>
            </a:r>
            <a:r>
              <a:rPr lang="en-US" sz="2000" b="1" dirty="0"/>
              <a:t> </a:t>
            </a:r>
            <a:r>
              <a:rPr lang="en-US" sz="2000" b="1" dirty="0" err="1"/>
              <a:t>memiliki</a:t>
            </a:r>
            <a:r>
              <a:rPr lang="en-US" sz="2000" b="1" dirty="0"/>
              <a:t> </a:t>
            </a:r>
            <a:r>
              <a:rPr lang="en-US" sz="2000" b="1" dirty="0" err="1"/>
              <a:t>keterbatasan</a:t>
            </a:r>
            <a:r>
              <a:rPr lang="en-US" sz="2000" b="1" dirty="0"/>
              <a:t>, </a:t>
            </a:r>
            <a:r>
              <a:rPr lang="en-US" sz="2000" b="1" dirty="0" err="1"/>
              <a:t>yaitu</a:t>
            </a:r>
            <a:r>
              <a:rPr lang="en-US" sz="2000" b="1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6C156-BC6E-0035-007E-53CFEB8E5988}"/>
              </a:ext>
            </a:extLst>
          </p:cNvPr>
          <p:cNvSpPr txBox="1"/>
          <p:nvPr/>
        </p:nvSpPr>
        <p:spPr>
          <a:xfrm>
            <a:off x="3000676" y="2690608"/>
            <a:ext cx="619385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– </a:t>
            </a:r>
            <a:r>
              <a:rPr lang="en-US" sz="2000" dirty="0" err="1"/>
              <a:t>Kapasitasnya</a:t>
            </a:r>
            <a:r>
              <a:rPr lang="en-US" sz="2000" dirty="0"/>
              <a:t> </a:t>
            </a:r>
            <a:r>
              <a:rPr lang="en-US" sz="2000" dirty="0" err="1"/>
              <a:t>terbatas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– Jarak </a:t>
            </a:r>
            <a:r>
              <a:rPr lang="en-US" sz="2000" dirty="0" err="1"/>
              <a:t>semprotnya</a:t>
            </a:r>
            <a:r>
              <a:rPr lang="en-US" sz="2000" dirty="0"/>
              <a:t> </a:t>
            </a:r>
            <a:r>
              <a:rPr lang="en-US" sz="2000" dirty="0" err="1"/>
              <a:t>terbatas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– Lama </a:t>
            </a:r>
            <a:r>
              <a:rPr lang="en-US" sz="2000" dirty="0" err="1"/>
              <a:t>semprotnya</a:t>
            </a:r>
            <a:r>
              <a:rPr lang="en-US" sz="2000" dirty="0"/>
              <a:t> (</a:t>
            </a:r>
            <a:r>
              <a:rPr lang="en-US" sz="2000" dirty="0" err="1"/>
              <a:t>durasi</a:t>
            </a:r>
            <a:r>
              <a:rPr lang="en-US" sz="2000" dirty="0"/>
              <a:t>) </a:t>
            </a:r>
            <a:r>
              <a:rPr lang="en-US" sz="2000" dirty="0" err="1"/>
              <a:t>terbatas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49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3A623-D6DB-6B11-790F-40F30CB7807D}"/>
              </a:ext>
            </a:extLst>
          </p:cNvPr>
          <p:cNvSpPr txBox="1"/>
          <p:nvPr/>
        </p:nvSpPr>
        <p:spPr>
          <a:xfrm>
            <a:off x="1325881" y="1498554"/>
            <a:ext cx="6193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1" dirty="0"/>
              <a:t>2. Faktor pemilihan Alat Pemadam Api Ringan 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915B6D-1FFF-7F0E-349D-2F504726135B}"/>
              </a:ext>
            </a:extLst>
          </p:cNvPr>
          <p:cNvSpPr txBox="1"/>
          <p:nvPr/>
        </p:nvSpPr>
        <p:spPr>
          <a:xfrm>
            <a:off x="1387763" y="2172233"/>
            <a:ext cx="941541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penempatan</a:t>
            </a:r>
            <a:r>
              <a:rPr lang="en-US" sz="2000" dirty="0"/>
              <a:t> Alat </a:t>
            </a:r>
            <a:r>
              <a:rPr lang="en-US" sz="2000" dirty="0" err="1"/>
              <a:t>Pemadam</a:t>
            </a:r>
            <a:r>
              <a:rPr lang="en-US" sz="2000" dirty="0"/>
              <a:t> Api </a:t>
            </a:r>
            <a:r>
              <a:rPr lang="en-US" sz="2000" dirty="0" err="1"/>
              <a:t>Ringan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faktor</a:t>
            </a:r>
            <a:r>
              <a:rPr lang="en-US" sz="2000" dirty="0"/>
              <a:t> yang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pertimbangan</a:t>
            </a:r>
            <a:r>
              <a:rPr lang="en-US" sz="2000" dirty="0"/>
              <a:t>. </a:t>
            </a:r>
            <a:r>
              <a:rPr lang="en-US" sz="2000" dirty="0" err="1"/>
              <a:t>Faktor</a:t>
            </a:r>
            <a:r>
              <a:rPr lang="en-US" sz="2000" dirty="0"/>
              <a:t> – </a:t>
            </a:r>
            <a:r>
              <a:rPr lang="en-US" sz="2000" dirty="0" err="1"/>
              <a:t>faktor</a:t>
            </a:r>
            <a:r>
              <a:rPr lang="en-US" sz="2000" dirty="0"/>
              <a:t> yang </a:t>
            </a:r>
            <a:r>
              <a:rPr lang="en-US" sz="2000" dirty="0" err="1"/>
              <a:t>mempengaruhi</a:t>
            </a:r>
            <a:r>
              <a:rPr lang="en-US" sz="2000" dirty="0"/>
              <a:t> </a:t>
            </a:r>
            <a:r>
              <a:rPr lang="en-US" sz="2000" dirty="0" err="1"/>
              <a:t>pemilihan</a:t>
            </a:r>
            <a:r>
              <a:rPr lang="en-US" sz="2000" dirty="0"/>
              <a:t> APAR, </a:t>
            </a:r>
            <a:r>
              <a:rPr lang="en-US" sz="2000" dirty="0" err="1"/>
              <a:t>yaitu</a:t>
            </a:r>
            <a:r>
              <a:rPr lang="en-US" sz="2000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6CA1B-53DD-0F9E-1292-B78D72FE0963}"/>
              </a:ext>
            </a:extLst>
          </p:cNvPr>
          <p:cNvSpPr txBox="1"/>
          <p:nvPr/>
        </p:nvSpPr>
        <p:spPr>
          <a:xfrm>
            <a:off x="2221030" y="3250306"/>
            <a:ext cx="619385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– Sifat </a:t>
            </a:r>
            <a:r>
              <a:rPr lang="en-US" dirty="0" err="1"/>
              <a:t>kebakaran</a:t>
            </a:r>
            <a:r>
              <a:rPr lang="en-US" dirty="0"/>
              <a:t> </a:t>
            </a:r>
            <a:r>
              <a:rPr lang="en-US" dirty="0" err="1"/>
              <a:t>potensial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– Orang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APAR</a:t>
            </a:r>
          </a:p>
          <a:p>
            <a:pPr>
              <a:lnSpc>
                <a:spcPct val="150000"/>
              </a:lnSpc>
            </a:pPr>
            <a:r>
              <a:rPr lang="en-US" dirty="0"/>
              <a:t>–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dimana</a:t>
            </a:r>
            <a:r>
              <a:rPr lang="en-US" dirty="0"/>
              <a:t> APAR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diletakkan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81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3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5BE11-51E7-FC62-8B28-4E84E10723BF}"/>
              </a:ext>
            </a:extLst>
          </p:cNvPr>
          <p:cNvSpPr txBox="1"/>
          <p:nvPr/>
        </p:nvSpPr>
        <p:spPr>
          <a:xfrm>
            <a:off x="1822116" y="1498554"/>
            <a:ext cx="742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Daya Guna dan Hasil Guna Alat </a:t>
            </a:r>
            <a:r>
              <a:rPr lang="en-US" sz="2400" b="1" dirty="0" err="1"/>
              <a:t>Pemadam</a:t>
            </a:r>
            <a:r>
              <a:rPr lang="en-US" sz="2400" b="1" dirty="0"/>
              <a:t> Api </a:t>
            </a:r>
            <a:r>
              <a:rPr lang="en-US" sz="2400" b="1" dirty="0" err="1"/>
              <a:t>Ringan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EF9D3-C559-E2FC-E21F-9E6FA254BBF1}"/>
              </a:ext>
            </a:extLst>
          </p:cNvPr>
          <p:cNvSpPr txBox="1"/>
          <p:nvPr/>
        </p:nvSpPr>
        <p:spPr>
          <a:xfrm>
            <a:off x="1822116" y="2199966"/>
            <a:ext cx="7841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Alat </a:t>
            </a:r>
            <a:r>
              <a:rPr lang="en-US" sz="2400" dirty="0" err="1"/>
              <a:t>Pemadam</a:t>
            </a:r>
            <a:r>
              <a:rPr lang="en-US" sz="2400" dirty="0"/>
              <a:t> Api </a:t>
            </a:r>
            <a:r>
              <a:rPr lang="en-US" sz="2400" dirty="0" err="1"/>
              <a:t>Ringan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berdaya</a:t>
            </a:r>
            <a:r>
              <a:rPr lang="en-US" sz="2400" dirty="0"/>
              <a:t> </a:t>
            </a:r>
            <a:r>
              <a:rPr lang="en-US" sz="2400" dirty="0" err="1"/>
              <a:t>guna</a:t>
            </a:r>
            <a:r>
              <a:rPr lang="en-US" sz="2400" dirty="0"/>
              <a:t> dan </a:t>
            </a:r>
            <a:r>
              <a:rPr lang="en-US" sz="2400" dirty="0" err="1"/>
              <a:t>berhasil</a:t>
            </a:r>
            <a:r>
              <a:rPr lang="en-US" sz="2400" dirty="0"/>
              <a:t> </a:t>
            </a:r>
            <a:r>
              <a:rPr lang="en-US" sz="2400" dirty="0" err="1"/>
              <a:t>guna</a:t>
            </a:r>
            <a:r>
              <a:rPr lang="en-US" sz="2400" dirty="0"/>
              <a:t> </a:t>
            </a:r>
            <a:r>
              <a:rPr lang="en-US" sz="2400" dirty="0" err="1"/>
              <a:t>apabila</a:t>
            </a:r>
            <a:r>
              <a:rPr lang="en-US" sz="2400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41031-3CE6-48A4-9812-320B02E60FE3}"/>
              </a:ext>
            </a:extLst>
          </p:cNvPr>
          <p:cNvSpPr txBox="1"/>
          <p:nvPr/>
        </p:nvSpPr>
        <p:spPr>
          <a:xfrm>
            <a:off x="2413533" y="3217035"/>
            <a:ext cx="8790143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Klas</a:t>
            </a:r>
            <a:r>
              <a:rPr lang="en-US" sz="2000" dirty="0"/>
              <a:t> </a:t>
            </a:r>
            <a:r>
              <a:rPr lang="en-US" sz="2000" dirty="0" err="1"/>
              <a:t>kebakaran</a:t>
            </a:r>
            <a:r>
              <a:rPr lang="en-US" sz="2000" dirty="0"/>
              <a:t> yang </a:t>
            </a:r>
            <a:r>
              <a:rPr lang="en-US" sz="2000" dirty="0" err="1"/>
              <a:t>mampu</a:t>
            </a:r>
            <a:r>
              <a:rPr lang="en-US" sz="2000" dirty="0"/>
              <a:t> </a:t>
            </a:r>
            <a:r>
              <a:rPr lang="en-US" sz="2000" dirty="0" err="1"/>
              <a:t>dipadamkan</a:t>
            </a:r>
            <a:r>
              <a:rPr lang="en-US" sz="2000" dirty="0"/>
              <a:t> oleh APAR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APAR </a:t>
            </a:r>
            <a:r>
              <a:rPr lang="en-US" sz="2000" dirty="0" err="1"/>
              <a:t>disebarkan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merata</a:t>
            </a:r>
            <a:r>
              <a:rPr lang="en-US" sz="2000" dirty="0"/>
              <a:t> dan </a:t>
            </a:r>
            <a:r>
              <a:rPr lang="en-US" sz="2000" dirty="0" err="1"/>
              <a:t>siap</a:t>
            </a:r>
            <a:r>
              <a:rPr lang="en-US" sz="2000" dirty="0"/>
              <a:t> </a:t>
            </a:r>
            <a:r>
              <a:rPr lang="en-US" sz="2000" dirty="0" err="1"/>
              <a:t>pakai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Kebakaran</a:t>
            </a:r>
            <a:r>
              <a:rPr lang="en-US" sz="2000" dirty="0"/>
              <a:t> </a:t>
            </a:r>
            <a:r>
              <a:rPr lang="en-US" sz="2000" dirty="0" err="1"/>
              <a:t>ditemukan</a:t>
            </a:r>
            <a:r>
              <a:rPr lang="en-US" sz="2000" dirty="0"/>
              <a:t> </a:t>
            </a:r>
            <a:r>
              <a:rPr lang="en-US" sz="2000" dirty="0" err="1"/>
              <a:t>masih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di </a:t>
            </a:r>
            <a:r>
              <a:rPr lang="en-US" sz="2000" dirty="0" err="1"/>
              <a:t>padamkan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APAR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Kebakaran</a:t>
            </a:r>
            <a:r>
              <a:rPr lang="en-US" sz="2000" dirty="0"/>
              <a:t> </a:t>
            </a:r>
            <a:r>
              <a:rPr lang="en-US" sz="2000" dirty="0" err="1"/>
              <a:t>ditemukan</a:t>
            </a:r>
            <a:r>
              <a:rPr lang="en-US" sz="2000" dirty="0"/>
              <a:t> oleh orang yang </a:t>
            </a:r>
            <a:r>
              <a:rPr lang="en-US" sz="2000" dirty="0" err="1"/>
              <a:t>siap</a:t>
            </a:r>
            <a:r>
              <a:rPr lang="en-US" sz="2000" dirty="0"/>
              <a:t>, </a:t>
            </a:r>
            <a:r>
              <a:rPr lang="en-US" sz="2000" dirty="0" err="1"/>
              <a:t>mampu</a:t>
            </a:r>
            <a:r>
              <a:rPr lang="en-US" sz="2000" dirty="0"/>
              <a:t> dan </a:t>
            </a:r>
            <a:r>
              <a:rPr lang="en-US" sz="2000" dirty="0" err="1"/>
              <a:t>mau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APAR</a:t>
            </a:r>
          </a:p>
        </p:txBody>
      </p:sp>
    </p:spTree>
    <p:extLst>
      <p:ext uri="{BB962C8B-B14F-4D97-AF65-F5344CB8AC3E}">
        <p14:creationId xmlns:p14="http://schemas.microsoft.com/office/powerpoint/2010/main" val="202391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376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02F7D-FCEC-582E-652C-EC5CE167166E}"/>
              </a:ext>
            </a:extLst>
          </p:cNvPr>
          <p:cNvSpPr txBox="1"/>
          <p:nvPr/>
        </p:nvSpPr>
        <p:spPr>
          <a:xfrm>
            <a:off x="2902225" y="1236944"/>
            <a:ext cx="619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/>
              <a:t>Pengoperasian</a:t>
            </a:r>
            <a:r>
              <a:rPr lang="en-US" sz="2800" b="1" dirty="0"/>
              <a:t> APAR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C31B-A1C8-605E-5380-80D113A9C521}"/>
              </a:ext>
            </a:extLst>
          </p:cNvPr>
          <p:cNvSpPr txBox="1"/>
          <p:nvPr/>
        </p:nvSpPr>
        <p:spPr>
          <a:xfrm>
            <a:off x="1397669" y="2084119"/>
            <a:ext cx="939666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Alat </a:t>
            </a:r>
            <a:r>
              <a:rPr lang="en-US" sz="2000" dirty="0" err="1"/>
              <a:t>Pemadam</a:t>
            </a:r>
            <a:r>
              <a:rPr lang="en-US" sz="2000" dirty="0"/>
              <a:t> Api </a:t>
            </a:r>
            <a:r>
              <a:rPr lang="en-US" sz="2000" dirty="0" err="1"/>
              <a:t>Ringan</a:t>
            </a:r>
            <a:r>
              <a:rPr lang="en-US" sz="2000" dirty="0"/>
              <a:t> </a:t>
            </a:r>
            <a:r>
              <a:rPr lang="en-US" sz="2000" dirty="0" err="1"/>
              <a:t>mempunyai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guna</a:t>
            </a:r>
            <a:r>
              <a:rPr lang="en-US" sz="2000" dirty="0"/>
              <a:t> dan </a:t>
            </a:r>
            <a:r>
              <a:rPr lang="en-US" sz="2000" dirty="0" err="1"/>
              <a:t>daya</a:t>
            </a:r>
            <a:r>
              <a:rPr lang="en-US" sz="2000" dirty="0"/>
              <a:t> </a:t>
            </a:r>
            <a:r>
              <a:rPr lang="en-US" sz="2000" dirty="0" err="1"/>
              <a:t>gunaapabila</a:t>
            </a:r>
            <a:r>
              <a:rPr lang="en-US" sz="2000" dirty="0"/>
              <a:t> </a:t>
            </a:r>
            <a:r>
              <a:rPr lang="en-US" sz="2000" dirty="0" err="1"/>
              <a:t>mereka</a:t>
            </a:r>
            <a:r>
              <a:rPr lang="en-US" sz="2000" dirty="0"/>
              <a:t> </a:t>
            </a:r>
            <a:r>
              <a:rPr lang="en-US" sz="2000" dirty="0" err="1"/>
              <a:t>disebarkan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jumlah</a:t>
            </a:r>
            <a:r>
              <a:rPr lang="en-US" sz="2000" dirty="0"/>
              <a:t> yang </a:t>
            </a:r>
            <a:r>
              <a:rPr lang="en-US" sz="2000" dirty="0" err="1"/>
              <a:t>cukup</a:t>
            </a:r>
            <a:r>
              <a:rPr lang="en-US" sz="2000" dirty="0"/>
              <a:t>, </a:t>
            </a:r>
            <a:r>
              <a:rPr lang="en-US" sz="2000" dirty="0" err="1"/>
              <a:t>kapasitas</a:t>
            </a:r>
            <a:r>
              <a:rPr lang="en-US" sz="2000" dirty="0"/>
              <a:t> </a:t>
            </a:r>
            <a:r>
              <a:rPr lang="en-US" sz="2000" dirty="0" err="1"/>
              <a:t>memadai</a:t>
            </a:r>
            <a:r>
              <a:rPr lang="en-US" sz="2000" dirty="0"/>
              <a:t> dan </a:t>
            </a:r>
            <a:r>
              <a:rPr lang="en-US" sz="2000" dirty="0" err="1"/>
              <a:t>digunakan</a:t>
            </a:r>
            <a:r>
              <a:rPr lang="en-US" sz="2000" dirty="0"/>
              <a:t> oleh orang yang </a:t>
            </a:r>
            <a:r>
              <a:rPr lang="en-US" sz="2000" dirty="0" err="1"/>
              <a:t>mampu</a:t>
            </a:r>
            <a:r>
              <a:rPr lang="en-US" sz="2000" dirty="0"/>
              <a:t> dan </a:t>
            </a:r>
            <a:r>
              <a:rPr lang="en-US" sz="2000" dirty="0" err="1"/>
              <a:t>mau</a:t>
            </a:r>
            <a:r>
              <a:rPr lang="en-US" sz="2000" dirty="0"/>
              <a:t> juga </a:t>
            </a:r>
            <a:r>
              <a:rPr lang="en-US" sz="2000" dirty="0" err="1"/>
              <a:t>kebakaran</a:t>
            </a:r>
            <a:r>
              <a:rPr lang="en-US" sz="2000" dirty="0"/>
              <a:t> </a:t>
            </a:r>
            <a:r>
              <a:rPr lang="en-US" sz="2000" dirty="0" err="1"/>
              <a:t>ditemukan</a:t>
            </a:r>
            <a:r>
              <a:rPr lang="en-US" sz="2000" dirty="0"/>
              <a:t> pada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masih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r>
              <a:rPr lang="en-US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4066C-A373-28A0-CBF7-F39AB27CF05F}"/>
              </a:ext>
            </a:extLst>
          </p:cNvPr>
          <p:cNvSpPr txBox="1"/>
          <p:nvPr/>
        </p:nvSpPr>
        <p:spPr>
          <a:xfrm>
            <a:off x="1397668" y="3844877"/>
            <a:ext cx="10200773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Pada </a:t>
            </a:r>
            <a:r>
              <a:rPr lang="en-US" sz="2000" dirty="0" err="1"/>
              <a:t>dasarnya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sikap</a:t>
            </a:r>
            <a:r>
              <a:rPr lang="en-US" sz="2000" dirty="0"/>
              <a:t> yang </a:t>
            </a:r>
            <a:r>
              <a:rPr lang="en-US" sz="2000" dirty="0" err="1"/>
              <a:t>perlu</a:t>
            </a:r>
            <a:r>
              <a:rPr lang="en-US" sz="2000" dirty="0"/>
              <a:t> </a:t>
            </a:r>
            <a:r>
              <a:rPr lang="en-US" sz="2000" dirty="0" err="1"/>
              <a:t>diperhatikan</a:t>
            </a:r>
            <a:r>
              <a:rPr lang="en-US" sz="2000" dirty="0"/>
              <a:t> </a:t>
            </a:r>
            <a:r>
              <a:rPr lang="en-US" sz="2000" dirty="0" err="1"/>
              <a:t>bagi</a:t>
            </a:r>
            <a:r>
              <a:rPr lang="en-US" sz="2000" dirty="0"/>
              <a:t> </a:t>
            </a:r>
            <a:r>
              <a:rPr lang="en-US" sz="2000" dirty="0" err="1"/>
              <a:t>seorang</a:t>
            </a:r>
            <a:r>
              <a:rPr lang="en-US" sz="2000" dirty="0"/>
              <a:t> operator pada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memadamkan</a:t>
            </a:r>
            <a:r>
              <a:rPr lang="en-US" sz="2000" dirty="0"/>
              <a:t> </a:t>
            </a:r>
            <a:r>
              <a:rPr lang="en-US" sz="2000" dirty="0" err="1"/>
              <a:t>kebakaran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APAR, </a:t>
            </a:r>
            <a:r>
              <a:rPr lang="en-US" sz="2000" dirty="0" err="1"/>
              <a:t>yaitu</a:t>
            </a:r>
            <a:r>
              <a:rPr lang="en-US" sz="2000" dirty="0"/>
              <a:t>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6AA63-1F16-EE5D-D74B-9E7333DA4A43}"/>
              </a:ext>
            </a:extLst>
          </p:cNvPr>
          <p:cNvSpPr txBox="1"/>
          <p:nvPr/>
        </p:nvSpPr>
        <p:spPr>
          <a:xfrm>
            <a:off x="2432785" y="5136789"/>
            <a:ext cx="619385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Bersikap</a:t>
            </a:r>
            <a:r>
              <a:rPr lang="en-US" sz="2000" dirty="0"/>
              <a:t> </a:t>
            </a:r>
            <a:r>
              <a:rPr lang="en-US" sz="2000" dirty="0" err="1"/>
              <a:t>tenang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Bersikap</a:t>
            </a:r>
            <a:r>
              <a:rPr lang="en-US" sz="2000" dirty="0"/>
              <a:t> </a:t>
            </a:r>
            <a:r>
              <a:rPr lang="en-US" sz="2000" dirty="0" err="1"/>
              <a:t>waspada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• </a:t>
            </a:r>
            <a:r>
              <a:rPr lang="en-US" sz="2000" dirty="0" err="1"/>
              <a:t>Bertindak</a:t>
            </a:r>
            <a:r>
              <a:rPr lang="en-US" sz="2000" dirty="0"/>
              <a:t> </a:t>
            </a:r>
            <a:r>
              <a:rPr lang="en-US" sz="2000" dirty="0" err="1"/>
              <a:t>cepat</a:t>
            </a:r>
            <a:r>
              <a:rPr lang="en-US" sz="2000" dirty="0"/>
              <a:t> dan </a:t>
            </a:r>
            <a:r>
              <a:rPr lang="en-US" sz="2000" dirty="0" err="1"/>
              <a:t>tepat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65670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F55A8-9BB6-4F6A-0AF1-19614F5F6A84}"/>
              </a:ext>
            </a:extLst>
          </p:cNvPr>
          <p:cNvSpPr txBox="1"/>
          <p:nvPr/>
        </p:nvSpPr>
        <p:spPr>
          <a:xfrm>
            <a:off x="3974121" y="1236944"/>
            <a:ext cx="4242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/>
              <a:t>Prosedur</a:t>
            </a:r>
            <a:r>
              <a:rPr lang="en-US" sz="2800" b="1" dirty="0"/>
              <a:t> </a:t>
            </a:r>
            <a:r>
              <a:rPr lang="en-US" sz="2800" b="1" dirty="0" err="1"/>
              <a:t>Penggunaan</a:t>
            </a:r>
            <a:r>
              <a:rPr lang="en-US" sz="2800" b="1" dirty="0"/>
              <a:t> Apar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2F7E8-C8C9-9920-C9DC-F0DAC712402F}"/>
              </a:ext>
            </a:extLst>
          </p:cNvPr>
          <p:cNvSpPr txBox="1"/>
          <p:nvPr/>
        </p:nvSpPr>
        <p:spPr>
          <a:xfrm>
            <a:off x="2377021" y="2119945"/>
            <a:ext cx="6399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946F7-E267-5208-38B6-79BC8A21F1C2}"/>
              </a:ext>
            </a:extLst>
          </p:cNvPr>
          <p:cNvSpPr txBox="1"/>
          <p:nvPr/>
        </p:nvSpPr>
        <p:spPr>
          <a:xfrm>
            <a:off x="3149600" y="2311906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Pull the Pin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B93E0-0190-E618-973B-215326334B1A}"/>
              </a:ext>
            </a:extLst>
          </p:cNvPr>
          <p:cNvSpPr txBox="1"/>
          <p:nvPr/>
        </p:nvSpPr>
        <p:spPr>
          <a:xfrm>
            <a:off x="3149600" y="2627777"/>
            <a:ext cx="972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Tarik Pin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53102-37C5-00CC-9CBD-F68DC71BA004}"/>
              </a:ext>
            </a:extLst>
          </p:cNvPr>
          <p:cNvSpPr txBox="1"/>
          <p:nvPr/>
        </p:nvSpPr>
        <p:spPr>
          <a:xfrm>
            <a:off x="2261089" y="3168395"/>
            <a:ext cx="82586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C00000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0E714-AD1E-B5E1-7F6B-17ECB47B7426}"/>
              </a:ext>
            </a:extLst>
          </p:cNvPr>
          <p:cNvSpPr txBox="1"/>
          <p:nvPr/>
        </p:nvSpPr>
        <p:spPr>
          <a:xfrm>
            <a:off x="3149600" y="3373893"/>
            <a:ext cx="3083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Aim Low at The Base of Flames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C6E88-13C0-ECB2-F713-D7DABB162817}"/>
              </a:ext>
            </a:extLst>
          </p:cNvPr>
          <p:cNvSpPr txBox="1"/>
          <p:nvPr/>
        </p:nvSpPr>
        <p:spPr>
          <a:xfrm>
            <a:off x="3149600" y="3677294"/>
            <a:ext cx="319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Arahkan</a:t>
            </a:r>
            <a:r>
              <a:rPr lang="en-US" dirty="0"/>
              <a:t> Pada Dasar </a:t>
            </a:r>
            <a:r>
              <a:rPr lang="en-US" dirty="0" err="1"/>
              <a:t>Sumber</a:t>
            </a:r>
            <a:r>
              <a:rPr lang="en-US" dirty="0"/>
              <a:t> 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E12C79-3A03-8F0B-1F08-3F52584B8631}"/>
              </a:ext>
            </a:extLst>
          </p:cNvPr>
          <p:cNvSpPr txBox="1"/>
          <p:nvPr/>
        </p:nvSpPr>
        <p:spPr>
          <a:xfrm>
            <a:off x="2361521" y="4526757"/>
            <a:ext cx="6110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278C9-48AD-2780-457F-D3D949F9DFB5}"/>
              </a:ext>
            </a:extLst>
          </p:cNvPr>
          <p:cNvSpPr txBox="1"/>
          <p:nvPr/>
        </p:nvSpPr>
        <p:spPr>
          <a:xfrm>
            <a:off x="3149600" y="4665256"/>
            <a:ext cx="2038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Squezze</a:t>
            </a:r>
            <a:r>
              <a:rPr lang="en-US" dirty="0">
                <a:solidFill>
                  <a:srgbClr val="C00000"/>
                </a:solidFill>
              </a:rPr>
              <a:t> the </a:t>
            </a:r>
            <a:r>
              <a:rPr lang="en-US" dirty="0" err="1">
                <a:solidFill>
                  <a:srgbClr val="C00000"/>
                </a:solidFill>
              </a:rPr>
              <a:t>Hundle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D7297-D34C-1B1A-F801-FE236F1A3B37}"/>
              </a:ext>
            </a:extLst>
          </p:cNvPr>
          <p:cNvSpPr txBox="1"/>
          <p:nvPr/>
        </p:nvSpPr>
        <p:spPr>
          <a:xfrm>
            <a:off x="3200673" y="4968362"/>
            <a:ext cx="119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Tekan</a:t>
            </a:r>
            <a:r>
              <a:rPr lang="en-US" dirty="0"/>
              <a:t> Tuas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80F397-542E-A6DA-CD31-07FE19E06E5A}"/>
              </a:ext>
            </a:extLst>
          </p:cNvPr>
          <p:cNvSpPr txBox="1"/>
          <p:nvPr/>
        </p:nvSpPr>
        <p:spPr>
          <a:xfrm>
            <a:off x="2420046" y="5686443"/>
            <a:ext cx="6110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6F0306-F0FB-0702-F5F1-05AF5C82E6DC}"/>
              </a:ext>
            </a:extLst>
          </p:cNvPr>
          <p:cNvSpPr txBox="1"/>
          <p:nvPr/>
        </p:nvSpPr>
        <p:spPr>
          <a:xfrm>
            <a:off x="3149600" y="5805413"/>
            <a:ext cx="195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Sweep Side to Side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BF6BBB-ADDF-0C8A-0DB1-CBF4C82E7D33}"/>
              </a:ext>
            </a:extLst>
          </p:cNvPr>
          <p:cNvSpPr txBox="1"/>
          <p:nvPr/>
        </p:nvSpPr>
        <p:spPr>
          <a:xfrm>
            <a:off x="3141809" y="6147040"/>
            <a:ext cx="3524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Semprotkan</a:t>
            </a:r>
            <a:r>
              <a:rPr lang="en-US" dirty="0"/>
              <a:t> Satu Sisi </a:t>
            </a:r>
            <a:r>
              <a:rPr lang="en-US" dirty="0" err="1"/>
              <a:t>ke</a:t>
            </a:r>
            <a:r>
              <a:rPr lang="en-US" dirty="0"/>
              <a:t> Sisi </a:t>
            </a:r>
            <a:r>
              <a:rPr lang="en-US" dirty="0" err="1"/>
              <a:t>Lainnya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937CB5-A647-72CD-027D-B43A24CFA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684" y="2716384"/>
            <a:ext cx="3586000" cy="29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81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F003E-DEEE-650C-1AD9-B4207A6E2BB3}"/>
              </a:ext>
            </a:extLst>
          </p:cNvPr>
          <p:cNvSpPr txBox="1"/>
          <p:nvPr/>
        </p:nvSpPr>
        <p:spPr>
          <a:xfrm>
            <a:off x="2878218" y="877993"/>
            <a:ext cx="7336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1) Tata Cara </a:t>
            </a:r>
            <a:r>
              <a:rPr lang="en-US" sz="2800" b="1" dirty="0" err="1">
                <a:solidFill>
                  <a:srgbClr val="C00000"/>
                </a:solidFill>
              </a:rPr>
              <a:t>Pengoperasian</a:t>
            </a:r>
            <a:r>
              <a:rPr lang="en-US" sz="2800" b="1" dirty="0">
                <a:solidFill>
                  <a:srgbClr val="C00000"/>
                </a:solidFill>
              </a:rPr>
              <a:t> APAR Dry Chemical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E60CC-FE45-6B1A-EC26-EC1AC9139A3A}"/>
              </a:ext>
            </a:extLst>
          </p:cNvPr>
          <p:cNvSpPr txBox="1"/>
          <p:nvPr/>
        </p:nvSpPr>
        <p:spPr>
          <a:xfrm>
            <a:off x="539015" y="1498554"/>
            <a:ext cx="11559941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Ambil APAR dry chemical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tempatnya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biasanya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menggantung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dinding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Putuskan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Lepaskan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nozzle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jepitannya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nozzle dan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Coba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sebentar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meyakinkan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valve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Bawa APAR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kebakaran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kebakaran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 4 meter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horn (nozzle)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pangkal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Semprotkan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pemadam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pangkal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kibaskan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semprotkan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dry chemical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yakinkan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semprotan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dry chemical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menutupi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permukaan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cairan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terbakar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nozzle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tembak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/dua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yakinkan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65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AAECD-E572-2D2F-7AF0-6BADF4F4604F}"/>
              </a:ext>
            </a:extLst>
          </p:cNvPr>
          <p:cNvSpPr txBox="1"/>
          <p:nvPr/>
        </p:nvSpPr>
        <p:spPr>
          <a:xfrm>
            <a:off x="1422406" y="1360055"/>
            <a:ext cx="9346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2) Tata Cara </a:t>
            </a:r>
            <a:r>
              <a:rPr lang="en-US" sz="2800" b="1" dirty="0" err="1">
                <a:solidFill>
                  <a:srgbClr val="C00000"/>
                </a:solidFill>
              </a:rPr>
              <a:t>Pengoperasian</a:t>
            </a:r>
            <a:r>
              <a:rPr lang="en-US" sz="2800" b="1" dirty="0">
                <a:solidFill>
                  <a:srgbClr val="C00000"/>
                </a:solidFill>
              </a:rPr>
              <a:t> APAR </a:t>
            </a:r>
            <a:r>
              <a:rPr lang="en-US" sz="2800" b="1" dirty="0" err="1">
                <a:solidFill>
                  <a:srgbClr val="C00000"/>
                </a:solidFill>
              </a:rPr>
              <a:t>karbondioksida</a:t>
            </a:r>
            <a:r>
              <a:rPr lang="en-US" sz="2800" b="1" dirty="0">
                <a:solidFill>
                  <a:srgbClr val="C00000"/>
                </a:solidFill>
              </a:rPr>
              <a:t> (CO2)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AFDE3-4AD5-E310-A589-C13CA440C7B6}"/>
              </a:ext>
            </a:extLst>
          </p:cNvPr>
          <p:cNvSpPr txBox="1"/>
          <p:nvPr/>
        </p:nvSpPr>
        <p:spPr>
          <a:xfrm>
            <a:off x="702645" y="1883275"/>
            <a:ext cx="10597285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1. Ambil APAR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tempatnya</a:t>
            </a:r>
            <a:r>
              <a:rPr lang="en-US" sz="2000" dirty="0"/>
              <a:t> (</a:t>
            </a:r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menggantung</a:t>
            </a:r>
            <a:r>
              <a:rPr lang="en-US" sz="2000" dirty="0"/>
              <a:t> pada </a:t>
            </a:r>
            <a:r>
              <a:rPr lang="en-US" sz="2000" dirty="0" err="1"/>
              <a:t>dinding</a:t>
            </a:r>
            <a:r>
              <a:rPr lang="en-US" sz="20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2. </a:t>
            </a:r>
            <a:r>
              <a:rPr lang="en-US" sz="2000" dirty="0" err="1"/>
              <a:t>Putuskan</a:t>
            </a:r>
            <a:r>
              <a:rPr lang="en-US" sz="2000" dirty="0"/>
              <a:t> </a:t>
            </a:r>
            <a:r>
              <a:rPr lang="en-US" sz="2000" dirty="0" err="1"/>
              <a:t>segel</a:t>
            </a:r>
            <a:r>
              <a:rPr lang="en-US" sz="2000" dirty="0"/>
              <a:t>, dan </a:t>
            </a:r>
            <a:r>
              <a:rPr lang="en-US" sz="2000" dirty="0" err="1"/>
              <a:t>cabut</a:t>
            </a:r>
            <a:r>
              <a:rPr lang="en-US" sz="2000" dirty="0"/>
              <a:t> pen </a:t>
            </a:r>
            <a:r>
              <a:rPr lang="en-US" sz="2000" dirty="0" err="1"/>
              <a:t>pengaman</a:t>
            </a: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3. </a:t>
            </a:r>
            <a:r>
              <a:rPr lang="en-US" sz="2000" dirty="0" err="1"/>
              <a:t>Pegang</a:t>
            </a:r>
            <a:r>
              <a:rPr lang="en-US" sz="2000" dirty="0"/>
              <a:t> nozzle dan </a:t>
            </a:r>
            <a:r>
              <a:rPr lang="en-US" sz="2000" dirty="0" err="1"/>
              <a:t>arahkan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tempat</a:t>
            </a:r>
            <a:r>
              <a:rPr lang="en-US" sz="2000" dirty="0"/>
              <a:t> yang </a:t>
            </a:r>
            <a:r>
              <a:rPr lang="en-US" sz="2000" dirty="0" err="1"/>
              <a:t>aman</a:t>
            </a:r>
            <a:r>
              <a:rPr lang="en-US" sz="2000" dirty="0"/>
              <a:t> (</a:t>
            </a:r>
            <a:r>
              <a:rPr lang="en-US" sz="2000" dirty="0" err="1"/>
              <a:t>untuk</a:t>
            </a:r>
            <a:r>
              <a:rPr lang="en-US" sz="2000" dirty="0"/>
              <a:t> APAR </a:t>
            </a:r>
            <a:r>
              <a:rPr lang="en-US" sz="2000" dirty="0" err="1"/>
              <a:t>jenis</a:t>
            </a:r>
            <a:r>
              <a:rPr lang="en-US" sz="2000" dirty="0"/>
              <a:t> CO2 </a:t>
            </a:r>
            <a:r>
              <a:rPr lang="en-US" sz="2000" dirty="0" err="1"/>
              <a:t>pegang</a:t>
            </a:r>
            <a:r>
              <a:rPr lang="en-US" sz="2000" dirty="0"/>
              <a:t> horn pada </a:t>
            </a:r>
            <a:r>
              <a:rPr lang="en-US" sz="2000" dirty="0" err="1"/>
              <a:t>isolatornya</a:t>
            </a:r>
            <a:r>
              <a:rPr lang="en-US" sz="20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4. </a:t>
            </a:r>
            <a:r>
              <a:rPr lang="en-US" sz="2000" dirty="0" err="1"/>
              <a:t>Dicoba</a:t>
            </a:r>
            <a:r>
              <a:rPr lang="en-US" sz="2000" dirty="0"/>
              <a:t> </a:t>
            </a:r>
            <a:r>
              <a:rPr lang="en-US" sz="2000" dirty="0" err="1"/>
              <a:t>sebentar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meyakinkan</a:t>
            </a:r>
            <a:r>
              <a:rPr lang="en-US" sz="2000" dirty="0"/>
              <a:t> </a:t>
            </a:r>
            <a:r>
              <a:rPr lang="en-US" sz="2000" dirty="0" err="1"/>
              <a:t>isi</a:t>
            </a:r>
            <a:r>
              <a:rPr lang="en-US" sz="2000" dirty="0"/>
              <a:t> APAR,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cara</a:t>
            </a:r>
            <a:r>
              <a:rPr lang="en-US" sz="2000" dirty="0"/>
              <a:t> </a:t>
            </a:r>
            <a:r>
              <a:rPr lang="en-US" sz="2000" dirty="0" err="1"/>
              <a:t>menekan</a:t>
            </a:r>
            <a:r>
              <a:rPr lang="en-US" sz="2000" dirty="0"/>
              <a:t> valve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5. Bawa APAR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lokasi</a:t>
            </a:r>
            <a:r>
              <a:rPr lang="en-US" sz="2000" dirty="0"/>
              <a:t> </a:t>
            </a:r>
            <a:r>
              <a:rPr lang="en-US" sz="2000" dirty="0" err="1"/>
              <a:t>kebakaran</a:t>
            </a:r>
            <a:r>
              <a:rPr lang="en-US" sz="2000" dirty="0"/>
              <a:t>, </a:t>
            </a:r>
            <a:r>
              <a:rPr lang="en-US" sz="2000" dirty="0" err="1"/>
              <a:t>datangi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</a:t>
            </a:r>
            <a:r>
              <a:rPr lang="en-US" sz="2000" dirty="0" err="1"/>
              <a:t>angin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jarak</a:t>
            </a:r>
            <a:r>
              <a:rPr lang="en-US" sz="2000" dirty="0"/>
              <a:t> ± 2 meter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6. </a:t>
            </a:r>
            <a:r>
              <a:rPr lang="en-US" sz="2000" dirty="0" err="1"/>
              <a:t>Arahkan</a:t>
            </a:r>
            <a:r>
              <a:rPr lang="en-US" sz="2000" dirty="0"/>
              <a:t> horn (nozzle)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pangkal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dan </a:t>
            </a:r>
            <a:r>
              <a:rPr lang="en-US" sz="2000" dirty="0" err="1"/>
              <a:t>semprotkan</a:t>
            </a:r>
            <a:r>
              <a:rPr lang="en-US" sz="2000" dirty="0"/>
              <a:t> media </a:t>
            </a:r>
            <a:r>
              <a:rPr lang="en-US" sz="2000" dirty="0" err="1"/>
              <a:t>pemadam</a:t>
            </a:r>
            <a:r>
              <a:rPr lang="en-US" sz="2000" dirty="0"/>
              <a:t> </a:t>
            </a:r>
            <a:r>
              <a:rPr lang="en-US" sz="2000" dirty="0" err="1"/>
              <a:t>kearah</a:t>
            </a:r>
            <a:r>
              <a:rPr lang="en-US" sz="2000" dirty="0"/>
              <a:t> </a:t>
            </a:r>
            <a:r>
              <a:rPr lang="en-US" sz="2000" dirty="0" err="1"/>
              <a:t>pangkal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sambil</a:t>
            </a:r>
            <a:r>
              <a:rPr lang="en-US" sz="2000" dirty="0"/>
              <a:t> </a:t>
            </a:r>
            <a:r>
              <a:rPr lang="en-US" sz="2000" dirty="0" err="1"/>
              <a:t>mengibaskan</a:t>
            </a:r>
            <a:r>
              <a:rPr lang="en-US" sz="2000" dirty="0"/>
              <a:t> nozzle dan </a:t>
            </a:r>
            <a:r>
              <a:rPr lang="en-US" sz="2000" dirty="0" err="1"/>
              <a:t>yakinkan</a:t>
            </a:r>
            <a:r>
              <a:rPr lang="en-US" sz="2000" dirty="0"/>
              <a:t> </a:t>
            </a:r>
            <a:r>
              <a:rPr lang="en-US" sz="2000" dirty="0" err="1"/>
              <a:t>semprotan</a:t>
            </a:r>
            <a:r>
              <a:rPr lang="en-US" sz="2000" dirty="0"/>
              <a:t> APAR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menutupi</a:t>
            </a:r>
            <a:r>
              <a:rPr lang="en-US" sz="2000" dirty="0"/>
              <a:t> </a:t>
            </a:r>
            <a:r>
              <a:rPr lang="en-US" sz="2000" dirty="0" err="1"/>
              <a:t>permukaan</a:t>
            </a:r>
            <a:r>
              <a:rPr lang="en-US" sz="2000" dirty="0"/>
              <a:t> yang </a:t>
            </a:r>
            <a:r>
              <a:rPr lang="en-US" sz="2000" dirty="0" err="1"/>
              <a:t>terbakar</a:t>
            </a: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7. </a:t>
            </a:r>
            <a:r>
              <a:rPr lang="en-US" sz="2000" dirty="0" err="1"/>
              <a:t>Apabila</a:t>
            </a:r>
            <a:r>
              <a:rPr lang="en-US" sz="2000" dirty="0"/>
              <a:t> </a:t>
            </a:r>
            <a:r>
              <a:rPr lang="en-US" sz="2000" dirty="0" err="1"/>
              <a:t>apinya</a:t>
            </a:r>
            <a:r>
              <a:rPr lang="en-US" sz="2000" dirty="0"/>
              <a:t>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padam</a:t>
            </a:r>
            <a:r>
              <a:rPr lang="en-US" sz="2000" dirty="0"/>
              <a:t>, </a:t>
            </a:r>
            <a:r>
              <a:rPr lang="en-US" sz="2000" dirty="0" err="1"/>
              <a:t>posisi</a:t>
            </a:r>
            <a:r>
              <a:rPr lang="en-US" sz="2000" dirty="0"/>
              <a:t> nozzle </a:t>
            </a:r>
            <a:r>
              <a:rPr lang="en-US" sz="2000" dirty="0" err="1"/>
              <a:t>tetap</a:t>
            </a:r>
            <a:r>
              <a:rPr lang="en-US" sz="2000" dirty="0"/>
              <a:t> </a:t>
            </a:r>
            <a:r>
              <a:rPr lang="en-US" sz="2000" dirty="0" err="1"/>
              <a:t>siap</a:t>
            </a:r>
            <a:r>
              <a:rPr lang="en-US" sz="2000" dirty="0"/>
              <a:t> </a:t>
            </a:r>
            <a:r>
              <a:rPr lang="en-US" sz="2000" dirty="0" err="1"/>
              <a:t>tembak</a:t>
            </a:r>
            <a:r>
              <a:rPr lang="en-US" sz="2000" dirty="0"/>
              <a:t>, </a:t>
            </a:r>
            <a:r>
              <a:rPr lang="en-US" sz="2000" dirty="0" err="1"/>
              <a:t>mundu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/ dua </a:t>
            </a:r>
            <a:r>
              <a:rPr lang="en-US" sz="2000" dirty="0" err="1"/>
              <a:t>langkah</a:t>
            </a:r>
            <a:r>
              <a:rPr lang="en-US" sz="2000" dirty="0"/>
              <a:t> dan </a:t>
            </a:r>
            <a:r>
              <a:rPr lang="en-US" sz="2000" dirty="0" err="1"/>
              <a:t>yakinkan</a:t>
            </a:r>
            <a:r>
              <a:rPr lang="en-US" sz="2000" dirty="0"/>
              <a:t> </a:t>
            </a:r>
            <a:r>
              <a:rPr lang="en-US" sz="2000" dirty="0" err="1"/>
              <a:t>api</a:t>
            </a:r>
            <a:r>
              <a:rPr lang="en-US" sz="2000" dirty="0"/>
              <a:t>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padam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2677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BBE1D3-7222-A2EF-CA1D-DBA4D0BC8B50}"/>
              </a:ext>
            </a:extLst>
          </p:cNvPr>
          <p:cNvSpPr txBox="1"/>
          <p:nvPr/>
        </p:nvSpPr>
        <p:spPr>
          <a:xfrm>
            <a:off x="1600473" y="1498554"/>
            <a:ext cx="8989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3) Tata Cara </a:t>
            </a:r>
            <a:r>
              <a:rPr lang="en-US" sz="2800" b="1" dirty="0" err="1">
                <a:solidFill>
                  <a:srgbClr val="C00000"/>
                </a:solidFill>
              </a:rPr>
              <a:t>Pengoperasian</a:t>
            </a:r>
            <a:r>
              <a:rPr lang="en-US" sz="2800" b="1" dirty="0">
                <a:solidFill>
                  <a:srgbClr val="C00000"/>
                </a:solidFill>
              </a:rPr>
              <a:t> APAR </a:t>
            </a:r>
            <a:r>
              <a:rPr lang="en-US" sz="2800" b="1" dirty="0" err="1">
                <a:solidFill>
                  <a:srgbClr val="C00000"/>
                </a:solidFill>
              </a:rPr>
              <a:t>Jenis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 err="1">
                <a:solidFill>
                  <a:srgbClr val="C00000"/>
                </a:solidFill>
              </a:rPr>
              <a:t>Busa</a:t>
            </a:r>
            <a:r>
              <a:rPr lang="en-US" sz="2800" b="1" dirty="0">
                <a:solidFill>
                  <a:srgbClr val="C00000"/>
                </a:solidFill>
              </a:rPr>
              <a:t> Kimia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2435A-0824-6DA5-D7C8-90B5D82D4F38}"/>
              </a:ext>
            </a:extLst>
          </p:cNvPr>
          <p:cNvSpPr txBox="1"/>
          <p:nvPr/>
        </p:nvSpPr>
        <p:spPr>
          <a:xfrm>
            <a:off x="798897" y="2196661"/>
            <a:ext cx="10192655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1. Ambil APAR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tempatnya</a:t>
            </a:r>
            <a:r>
              <a:rPr lang="en-US" sz="2000" dirty="0"/>
              <a:t> dan </a:t>
            </a:r>
            <a:r>
              <a:rPr lang="en-US" sz="2000" dirty="0" err="1"/>
              <a:t>langsung</a:t>
            </a:r>
            <a:r>
              <a:rPr lang="en-US" sz="2000" dirty="0"/>
              <a:t> </a:t>
            </a:r>
            <a:r>
              <a:rPr lang="en-US" sz="2000" dirty="0" err="1"/>
              <a:t>bawa</a:t>
            </a:r>
            <a:r>
              <a:rPr lang="en-US" sz="2000" dirty="0"/>
              <a:t> APAR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lokasi</a:t>
            </a:r>
            <a:r>
              <a:rPr lang="en-US" sz="2000" dirty="0"/>
              <a:t> </a:t>
            </a:r>
            <a:r>
              <a:rPr lang="en-US" sz="2000" dirty="0" err="1"/>
              <a:t>kebakaran</a:t>
            </a:r>
            <a:r>
              <a:rPr lang="en-US" sz="2000" dirty="0"/>
              <a:t>,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cara</a:t>
            </a:r>
            <a:r>
              <a:rPr lang="en-US" sz="2000" dirty="0"/>
              <a:t> </a:t>
            </a:r>
            <a:r>
              <a:rPr lang="en-US" sz="2000" dirty="0" err="1"/>
              <a:t>setegak</a:t>
            </a:r>
            <a:r>
              <a:rPr lang="en-US" sz="2000" dirty="0"/>
              <a:t> </a:t>
            </a:r>
            <a:r>
              <a:rPr lang="en-US" sz="2000" dirty="0" err="1"/>
              <a:t>munkin</a:t>
            </a:r>
            <a:r>
              <a:rPr lang="en-US" sz="2000" dirty="0"/>
              <a:t> (</a:t>
            </a:r>
            <a:r>
              <a:rPr lang="en-US" sz="2000" dirty="0" err="1"/>
              <a:t>datangi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atasangin</a:t>
            </a:r>
            <a:r>
              <a:rPr lang="en-US" sz="20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2. </a:t>
            </a:r>
            <a:r>
              <a:rPr lang="en-US" sz="2000" dirty="0" err="1"/>
              <a:t>Taruh</a:t>
            </a:r>
            <a:r>
              <a:rPr lang="en-US" sz="2000" dirty="0"/>
              <a:t> APAR, </a:t>
            </a:r>
            <a:r>
              <a:rPr lang="en-US" sz="2000" dirty="0" err="1"/>
              <a:t>ambil</a:t>
            </a:r>
            <a:r>
              <a:rPr lang="en-US" sz="2000" dirty="0"/>
              <a:t> nozzle dan </a:t>
            </a:r>
            <a:r>
              <a:rPr lang="en-US" sz="2000" dirty="0" err="1"/>
              <a:t>selang</a:t>
            </a:r>
            <a:r>
              <a:rPr lang="en-US" sz="2000" dirty="0"/>
              <a:t>, </a:t>
            </a:r>
            <a:r>
              <a:rPr lang="en-US" sz="2000" dirty="0" err="1"/>
              <a:t>selipkan</a:t>
            </a:r>
            <a:r>
              <a:rPr lang="en-US" sz="2000" dirty="0"/>
              <a:t> pada </a:t>
            </a:r>
            <a:r>
              <a:rPr lang="en-US" sz="2000" dirty="0" err="1"/>
              <a:t>tutup</a:t>
            </a:r>
            <a:r>
              <a:rPr lang="en-US" sz="2000" dirty="0"/>
              <a:t> APAR dan </a:t>
            </a:r>
            <a:r>
              <a:rPr lang="en-US" sz="2000" dirty="0" err="1"/>
              <a:t>pegang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ibu</a:t>
            </a:r>
            <a:r>
              <a:rPr lang="en-US" sz="2000" dirty="0"/>
              <a:t> </a:t>
            </a:r>
            <a:r>
              <a:rPr lang="en-US" sz="2000" dirty="0" err="1"/>
              <a:t>jari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3. Ambil </a:t>
            </a:r>
            <a:r>
              <a:rPr lang="en-US" sz="2000" dirty="0" err="1"/>
              <a:t>tutup</a:t>
            </a:r>
            <a:r>
              <a:rPr lang="en-US" sz="2000" dirty="0"/>
              <a:t> </a:t>
            </a:r>
            <a:r>
              <a:rPr lang="en-US" sz="2000" dirty="0" err="1"/>
              <a:t>pengaman</a:t>
            </a:r>
            <a:r>
              <a:rPr lang="en-US" sz="2000" dirty="0"/>
              <a:t> dan </a:t>
            </a:r>
            <a:r>
              <a:rPr lang="en-US" sz="2000" dirty="0" err="1"/>
              <a:t>tekan</a:t>
            </a:r>
            <a:r>
              <a:rPr lang="en-US" sz="2000" dirty="0"/>
              <a:t> </a:t>
            </a:r>
            <a:r>
              <a:rPr lang="en-US" sz="2000" dirty="0" err="1"/>
              <a:t>nidle</a:t>
            </a:r>
            <a:r>
              <a:rPr lang="en-US" sz="2000" dirty="0"/>
              <a:t> (</a:t>
            </a:r>
            <a:r>
              <a:rPr lang="en-US" sz="2000" dirty="0" err="1"/>
              <a:t>jarum</a:t>
            </a:r>
            <a:r>
              <a:rPr lang="en-US" sz="2000" dirty="0"/>
              <a:t> </a:t>
            </a:r>
            <a:r>
              <a:rPr lang="en-US" sz="2000" dirty="0" err="1"/>
              <a:t>penusuk</a:t>
            </a:r>
            <a:r>
              <a:rPr lang="en-US" sz="2000" dirty="0"/>
              <a:t>)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4. </a:t>
            </a:r>
            <a:r>
              <a:rPr lang="en-US" sz="2000" dirty="0" err="1"/>
              <a:t>Balik</a:t>
            </a:r>
            <a:r>
              <a:rPr lang="en-US" sz="2000" dirty="0"/>
              <a:t> APAR </a:t>
            </a:r>
            <a:r>
              <a:rPr lang="en-US" sz="2000" dirty="0" err="1"/>
              <a:t>tersebut</a:t>
            </a:r>
            <a:r>
              <a:rPr lang="en-US" sz="2000" dirty="0"/>
              <a:t> dan </a:t>
            </a:r>
            <a:r>
              <a:rPr lang="en-US" sz="2000" dirty="0" err="1"/>
              <a:t>gunakan</a:t>
            </a:r>
            <a:r>
              <a:rPr lang="en-US" sz="2000" dirty="0"/>
              <a:t> </a:t>
            </a:r>
            <a:r>
              <a:rPr lang="en-US" sz="2000" dirty="0" err="1"/>
              <a:t>btol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melindungi</a:t>
            </a:r>
            <a:r>
              <a:rPr lang="en-US" sz="2000" dirty="0"/>
              <a:t> </a:t>
            </a:r>
            <a:r>
              <a:rPr lang="en-US" sz="2000" dirty="0" err="1"/>
              <a:t>muka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5. </a:t>
            </a:r>
            <a:r>
              <a:rPr lang="en-US" sz="2000" dirty="0" err="1"/>
              <a:t>Semprotkan</a:t>
            </a:r>
            <a:r>
              <a:rPr lang="en-US" sz="2000" dirty="0"/>
              <a:t> APAR pada </a:t>
            </a:r>
            <a:r>
              <a:rPr lang="en-US" sz="2000" dirty="0" err="1"/>
              <a:t>dinding</a:t>
            </a:r>
            <a:r>
              <a:rPr lang="en-US" sz="2000" dirty="0"/>
              <a:t>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objek</a:t>
            </a:r>
            <a:r>
              <a:rPr lang="en-US" sz="2000" dirty="0"/>
              <a:t> yang </a:t>
            </a:r>
            <a:r>
              <a:rPr lang="en-US" sz="2000" dirty="0" err="1"/>
              <a:t>terbakar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6. </a:t>
            </a:r>
            <a:r>
              <a:rPr lang="en-US" sz="2000" dirty="0" err="1"/>
              <a:t>Yakinkan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busa</a:t>
            </a:r>
            <a:r>
              <a:rPr lang="en-US" sz="2000" dirty="0"/>
              <a:t> yang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menutupi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permukaancairan</a:t>
            </a:r>
            <a:r>
              <a:rPr lang="en-US" sz="2000" dirty="0"/>
              <a:t> yang </a:t>
            </a:r>
            <a:r>
              <a:rPr lang="en-US" sz="2000" dirty="0" err="1"/>
              <a:t>terbakar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8433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69ACC-0941-6EAF-FC22-5289460EEAB9}"/>
              </a:ext>
            </a:extLst>
          </p:cNvPr>
          <p:cNvSpPr txBox="1"/>
          <p:nvPr/>
        </p:nvSpPr>
        <p:spPr>
          <a:xfrm>
            <a:off x="2731169" y="1236944"/>
            <a:ext cx="619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C00000"/>
                </a:solidFill>
              </a:rPr>
              <a:t>Pemeriksaan</a:t>
            </a:r>
            <a:r>
              <a:rPr lang="en-US" sz="2800" b="1" dirty="0">
                <a:solidFill>
                  <a:srgbClr val="C00000"/>
                </a:solidFill>
              </a:rPr>
              <a:t> APAR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802609-AE83-47EA-D754-19FF180C019D}"/>
              </a:ext>
            </a:extLst>
          </p:cNvPr>
          <p:cNvSpPr txBox="1"/>
          <p:nvPr/>
        </p:nvSpPr>
        <p:spPr>
          <a:xfrm>
            <a:off x="1191126" y="1965057"/>
            <a:ext cx="9175281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Permenakertrans</a:t>
            </a:r>
            <a:r>
              <a:rPr lang="en-US" dirty="0"/>
              <a:t> 04/1980 APAR yang </a:t>
            </a:r>
            <a:r>
              <a:rPr lang="en-US" dirty="0" err="1"/>
              <a:t>dipasang</a:t>
            </a:r>
            <a:r>
              <a:rPr lang="en-US" dirty="0"/>
              <a:t> di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dilakukan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pemeriksaan</a:t>
            </a:r>
            <a:r>
              <a:rPr lang="en-US" dirty="0"/>
              <a:t> &amp; </a:t>
            </a:r>
            <a:r>
              <a:rPr lang="en-US" dirty="0" err="1"/>
              <a:t>perawatan</a:t>
            </a:r>
            <a:r>
              <a:rPr lang="en-US" dirty="0"/>
              <a:t>. Ada dua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pemeriksaan</a:t>
            </a:r>
            <a:r>
              <a:rPr lang="en-US" dirty="0"/>
              <a:t> APAR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199C5-AC24-E876-BD2A-D4C425EB2EF3}"/>
              </a:ext>
            </a:extLst>
          </p:cNvPr>
          <p:cNvSpPr txBox="1"/>
          <p:nvPr/>
        </p:nvSpPr>
        <p:spPr>
          <a:xfrm>
            <a:off x="1961148" y="3188928"/>
            <a:ext cx="619385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i-FI" dirty="0"/>
              <a:t>1. Pemeriksaan jangka pendek (6 - 12 bulan)</a:t>
            </a:r>
          </a:p>
          <a:p>
            <a:pPr>
              <a:lnSpc>
                <a:spcPct val="150000"/>
              </a:lnSpc>
            </a:pPr>
            <a:r>
              <a:rPr lang="fi-FI" dirty="0"/>
              <a:t>2. Pemeriksaan jangka panjang (5 tahun)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65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933B9-6F7C-C09F-D625-4784DF801E6B}"/>
              </a:ext>
            </a:extLst>
          </p:cNvPr>
          <p:cNvSpPr txBox="1"/>
          <p:nvPr/>
        </p:nvSpPr>
        <p:spPr>
          <a:xfrm>
            <a:off x="1413844" y="1698609"/>
            <a:ext cx="97215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</a:t>
            </a:r>
            <a:r>
              <a:rPr lang="en-US" sz="2400" b="1" dirty="0" err="1"/>
              <a:t>Pemeriksaan</a:t>
            </a:r>
            <a:r>
              <a:rPr lang="en-US" sz="2400" b="1" dirty="0"/>
              <a:t> </a:t>
            </a:r>
            <a:r>
              <a:rPr lang="en-US" sz="2400" b="1" dirty="0" err="1"/>
              <a:t>jangka</a:t>
            </a:r>
            <a:r>
              <a:rPr lang="en-US" sz="2400" b="1" dirty="0"/>
              <a:t> </a:t>
            </a:r>
            <a:r>
              <a:rPr lang="en-US" sz="2400" b="1" dirty="0" err="1"/>
              <a:t>pendek</a:t>
            </a:r>
            <a:r>
              <a:rPr lang="en-US" sz="2400" b="1" dirty="0"/>
              <a:t> </a:t>
            </a:r>
            <a:r>
              <a:rPr lang="en-US" sz="2400" b="1" dirty="0" err="1"/>
              <a:t>dilakukan</a:t>
            </a:r>
            <a:r>
              <a:rPr lang="en-US" sz="2400" b="1" dirty="0"/>
              <a:t> </a:t>
            </a:r>
            <a:r>
              <a:rPr lang="en-US" sz="2400" b="1" dirty="0" err="1"/>
              <a:t>setiap</a:t>
            </a:r>
            <a:r>
              <a:rPr lang="en-US" sz="2400" b="1" dirty="0"/>
              <a:t> 6 </a:t>
            </a:r>
            <a:r>
              <a:rPr lang="en-US" sz="2400" b="1" dirty="0" err="1"/>
              <a:t>bulan</a:t>
            </a:r>
            <a:r>
              <a:rPr lang="en-US" sz="2400" b="1" dirty="0"/>
              <a:t> </a:t>
            </a:r>
            <a:r>
              <a:rPr lang="en-US" sz="2400" b="1" dirty="0" err="1"/>
              <a:t>sekali</a:t>
            </a:r>
            <a:r>
              <a:rPr lang="en-US" sz="2400" b="1" dirty="0"/>
              <a:t>. Yang </a:t>
            </a:r>
            <a:r>
              <a:rPr lang="en-US" sz="2400" b="1" dirty="0" err="1"/>
              <a:t>diperiksa</a:t>
            </a:r>
            <a:r>
              <a:rPr lang="en-US" sz="2400" b="1" dirty="0"/>
              <a:t> </a:t>
            </a:r>
            <a:r>
              <a:rPr lang="en-US" sz="2400" b="1" dirty="0" err="1"/>
              <a:t>meliputi</a:t>
            </a:r>
            <a:r>
              <a:rPr lang="en-US" sz="2400" b="1" dirty="0"/>
              <a:t>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73089-15E6-48D2-39E6-426DF1D93C54}"/>
              </a:ext>
            </a:extLst>
          </p:cNvPr>
          <p:cNvSpPr txBox="1"/>
          <p:nvPr/>
        </p:nvSpPr>
        <p:spPr>
          <a:xfrm>
            <a:off x="3000676" y="2685796"/>
            <a:ext cx="619385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• Mechanical Part</a:t>
            </a:r>
          </a:p>
          <a:p>
            <a:pPr>
              <a:lnSpc>
                <a:spcPct val="150000"/>
              </a:lnSpc>
            </a:pPr>
            <a:r>
              <a:rPr lang="en-US" dirty="0"/>
              <a:t>• Extinguishing Agent (media </a:t>
            </a:r>
            <a:r>
              <a:rPr lang="en-US" dirty="0" err="1"/>
              <a:t>pemadam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• Expelling Means</a:t>
            </a:r>
          </a:p>
        </p:txBody>
      </p:sp>
    </p:spTree>
    <p:extLst>
      <p:ext uri="{BB962C8B-B14F-4D97-AF65-F5344CB8AC3E}">
        <p14:creationId xmlns:p14="http://schemas.microsoft.com/office/powerpoint/2010/main" val="510887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BB4CC-88B8-AAC4-BE1C-9DB8C5471938}"/>
              </a:ext>
            </a:extLst>
          </p:cNvPr>
          <p:cNvSpPr txBox="1"/>
          <p:nvPr/>
        </p:nvSpPr>
        <p:spPr>
          <a:xfrm>
            <a:off x="1694047" y="1328577"/>
            <a:ext cx="8585734" cy="179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</a:t>
            </a:r>
            <a:r>
              <a:rPr lang="en-US" sz="2400" b="1" dirty="0" err="1"/>
              <a:t>Pemeriksaan</a:t>
            </a:r>
            <a:r>
              <a:rPr lang="en-US" sz="2400" b="1" dirty="0"/>
              <a:t> </a:t>
            </a:r>
            <a:r>
              <a:rPr lang="en-US" sz="2400" b="1" dirty="0" err="1"/>
              <a:t>jangka</a:t>
            </a:r>
            <a:r>
              <a:rPr lang="en-US" sz="2400" b="1" dirty="0"/>
              <a:t> </a:t>
            </a:r>
            <a:r>
              <a:rPr lang="en-US" sz="2400" b="1" dirty="0" err="1"/>
              <a:t>panjang</a:t>
            </a:r>
            <a:r>
              <a:rPr lang="en-US" sz="2400" b="1" dirty="0"/>
              <a:t> </a:t>
            </a:r>
            <a:r>
              <a:rPr lang="en-US" sz="2400" b="1" dirty="0" err="1"/>
              <a:t>dilakukan</a:t>
            </a:r>
            <a:r>
              <a:rPr lang="en-US" sz="2400" b="1" dirty="0"/>
              <a:t> </a:t>
            </a:r>
            <a:r>
              <a:rPr lang="en-US" sz="2400" b="1" dirty="0" err="1"/>
              <a:t>setiap</a:t>
            </a:r>
            <a:r>
              <a:rPr lang="en-US" sz="2400" b="1" dirty="0"/>
              <a:t> 5 </a:t>
            </a:r>
            <a:r>
              <a:rPr lang="en-US" sz="2400" b="1" dirty="0" err="1"/>
              <a:t>tahun</a:t>
            </a:r>
            <a:r>
              <a:rPr lang="en-US" sz="2400" b="1" dirty="0"/>
              <a:t> </a:t>
            </a:r>
            <a:r>
              <a:rPr lang="en-US" sz="2400" b="1" dirty="0" err="1"/>
              <a:t>sekali</a:t>
            </a:r>
            <a:r>
              <a:rPr lang="en-US" sz="24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Pemeriksaan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dirty="0" err="1"/>
              <a:t>tabung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Hydrostatis</a:t>
            </a:r>
            <a:r>
              <a:rPr lang="en-US" sz="2000" dirty="0"/>
              <a:t> Test.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APAR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percobaantekan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berkala</a:t>
            </a:r>
            <a:r>
              <a:rPr lang="en-US" sz="2000" dirty="0"/>
              <a:t> dan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kuat</a:t>
            </a:r>
            <a:r>
              <a:rPr lang="en-US" sz="2000" dirty="0"/>
              <a:t> </a:t>
            </a:r>
            <a:r>
              <a:rPr lang="en-US" sz="2000" dirty="0" err="1"/>
              <a:t>menahan</a:t>
            </a:r>
            <a:r>
              <a:rPr lang="en-US" sz="2000" dirty="0"/>
              <a:t> </a:t>
            </a:r>
            <a:r>
              <a:rPr lang="en-US" sz="2000" dirty="0" err="1"/>
              <a:t>tekanan</a:t>
            </a:r>
            <a:r>
              <a:rPr lang="en-US" sz="2000" dirty="0"/>
              <a:t> </a:t>
            </a:r>
            <a:r>
              <a:rPr lang="en-US" sz="2000" dirty="0" err="1"/>
              <a:t>selama</a:t>
            </a:r>
            <a:r>
              <a:rPr lang="en-US" sz="2000" dirty="0"/>
              <a:t> 30 </a:t>
            </a:r>
            <a:r>
              <a:rPr lang="en-US" sz="2000" dirty="0" err="1"/>
              <a:t>detik</a:t>
            </a:r>
            <a:r>
              <a:rPr lang="en-US" sz="20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63150-D6BD-52FE-0279-C086A1D9CB71}"/>
              </a:ext>
            </a:extLst>
          </p:cNvPr>
          <p:cNvSpPr txBox="1"/>
          <p:nvPr/>
        </p:nvSpPr>
        <p:spPr>
          <a:xfrm>
            <a:off x="1694047" y="3323066"/>
            <a:ext cx="6193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Tekanan</a:t>
            </a:r>
            <a:r>
              <a:rPr lang="en-US" dirty="0"/>
              <a:t> uji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2AF12-9E3E-BFD1-0092-88498D358F71}"/>
              </a:ext>
            </a:extLst>
          </p:cNvPr>
          <p:cNvSpPr txBox="1"/>
          <p:nvPr/>
        </p:nvSpPr>
        <p:spPr>
          <a:xfrm>
            <a:off x="5589871" y="3252213"/>
            <a:ext cx="619385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i-FI" dirty="0"/>
              <a:t>• 20 kg/cm2 atau</a:t>
            </a:r>
          </a:p>
          <a:p>
            <a:pPr>
              <a:lnSpc>
                <a:spcPct val="150000"/>
              </a:lnSpc>
            </a:pPr>
            <a:r>
              <a:rPr lang="fi-FI" dirty="0"/>
              <a:t>• 1½ kali tekanan kerja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C1CD1-3249-A1CB-DE4F-F18874FB8D98}"/>
              </a:ext>
            </a:extLst>
          </p:cNvPr>
          <p:cNvSpPr txBox="1"/>
          <p:nvPr/>
        </p:nvSpPr>
        <p:spPr>
          <a:xfrm>
            <a:off x="760780" y="4399030"/>
            <a:ext cx="1066938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/>
              <a:t>Dipilih</a:t>
            </a:r>
            <a:r>
              <a:rPr lang="en-US" sz="2000" dirty="0"/>
              <a:t> mana yang paling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APAR yang </a:t>
            </a:r>
            <a:r>
              <a:rPr lang="en-US" sz="2000" dirty="0" err="1"/>
              <a:t>bersangkutan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err="1"/>
              <a:t>Khusus</a:t>
            </a:r>
            <a:r>
              <a:rPr lang="en-US" sz="2000" dirty="0"/>
              <a:t> APAR </a:t>
            </a:r>
            <a:r>
              <a:rPr lang="en-US" sz="2000" dirty="0" err="1"/>
              <a:t>jenis</a:t>
            </a:r>
            <a:r>
              <a:rPr lang="en-US" sz="2000" dirty="0"/>
              <a:t> CO2 uji </a:t>
            </a:r>
            <a:r>
              <a:rPr lang="en-US" sz="2000" dirty="0" err="1"/>
              <a:t>tekan</a:t>
            </a:r>
            <a:r>
              <a:rPr lang="en-US" sz="2000" dirty="0"/>
              <a:t> </a:t>
            </a:r>
            <a:r>
              <a:rPr lang="en-US" sz="2000" dirty="0" err="1"/>
              <a:t>pertama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10 </a:t>
            </a:r>
            <a:r>
              <a:rPr lang="en-US" sz="2000" dirty="0" err="1"/>
              <a:t>tahun</a:t>
            </a:r>
            <a:r>
              <a:rPr lang="en-US" sz="2000" dirty="0"/>
              <a:t> dan </a:t>
            </a:r>
            <a:r>
              <a:rPr lang="en-US" sz="2000" dirty="0" err="1"/>
              <a:t>selanjutnya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5 </a:t>
            </a:r>
            <a:r>
              <a:rPr lang="en-US" sz="2000" dirty="0" err="1"/>
              <a:t>tahun</a:t>
            </a:r>
            <a:r>
              <a:rPr lang="en-US" sz="2000" dirty="0"/>
              <a:t>. Bila APAR </a:t>
            </a:r>
            <a:r>
              <a:rPr lang="en-US" sz="2000" dirty="0" err="1"/>
              <a:t>jenis</a:t>
            </a:r>
            <a:r>
              <a:rPr lang="en-US" sz="2000" dirty="0"/>
              <a:t> CO2 </a:t>
            </a:r>
            <a:r>
              <a:rPr lang="en-US" sz="2000" dirty="0" err="1"/>
              <a:t>setelah</a:t>
            </a:r>
            <a:r>
              <a:rPr lang="en-US" sz="2000" dirty="0"/>
              <a:t> </a:t>
            </a:r>
            <a:r>
              <a:rPr lang="en-US" sz="2000" dirty="0" err="1"/>
              <a:t>diisi</a:t>
            </a:r>
            <a:r>
              <a:rPr lang="en-US" sz="2000" dirty="0"/>
              <a:t> dan oleh </a:t>
            </a:r>
            <a:r>
              <a:rPr lang="en-US" sz="2000" dirty="0" err="1"/>
              <a:t>sesuatu</a:t>
            </a:r>
            <a:r>
              <a:rPr lang="en-US" sz="2000" dirty="0"/>
              <a:t> </a:t>
            </a:r>
            <a:r>
              <a:rPr lang="en-US" sz="2000" dirty="0" err="1"/>
              <a:t>hal</a:t>
            </a:r>
            <a:r>
              <a:rPr lang="en-US" sz="2000" dirty="0"/>
              <a:t> </a:t>
            </a:r>
            <a:r>
              <a:rPr lang="en-US" sz="2000" dirty="0" err="1"/>
              <a:t>dikosongkan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keadaan</a:t>
            </a:r>
            <a:r>
              <a:rPr lang="en-US" sz="2000" dirty="0"/>
              <a:t> </a:t>
            </a:r>
            <a:r>
              <a:rPr lang="en-US" sz="2000" dirty="0" err="1"/>
              <a:t>kosong</a:t>
            </a:r>
            <a:r>
              <a:rPr lang="en-US" sz="2000" dirty="0"/>
              <a:t> </a:t>
            </a:r>
            <a:r>
              <a:rPr lang="en-US" sz="2000" dirty="0" err="1"/>
              <a:t>selama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2 </a:t>
            </a:r>
            <a:r>
              <a:rPr lang="en-US" sz="2000" dirty="0" err="1"/>
              <a:t>tahun</a:t>
            </a:r>
            <a:r>
              <a:rPr lang="en-US" sz="2000" dirty="0"/>
              <a:t> </a:t>
            </a:r>
            <a:r>
              <a:rPr lang="en-US" sz="2000" dirty="0" err="1"/>
              <a:t>terhitung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setelah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percobaan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APAR </a:t>
            </a:r>
            <a:r>
              <a:rPr lang="en-US" sz="2000" dirty="0" err="1"/>
              <a:t>tersebut</a:t>
            </a:r>
            <a:r>
              <a:rPr lang="en-US" sz="2000" dirty="0"/>
              <a:t> 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percobaan</a:t>
            </a:r>
            <a:r>
              <a:rPr lang="en-US" sz="2000" dirty="0"/>
              <a:t> </a:t>
            </a:r>
            <a:r>
              <a:rPr lang="en-US" sz="2000" dirty="0" err="1"/>
              <a:t>tekan</a:t>
            </a:r>
            <a:r>
              <a:rPr lang="en-US" sz="2000" dirty="0"/>
              <a:t> </a:t>
            </a:r>
            <a:r>
              <a:rPr lang="en-US" sz="2000" dirty="0" err="1"/>
              <a:t>ulang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9244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B66FA-E336-6536-4BEC-AC7E4EEC690C}"/>
              </a:ext>
            </a:extLst>
          </p:cNvPr>
          <p:cNvSpPr txBox="1"/>
          <p:nvPr/>
        </p:nvSpPr>
        <p:spPr>
          <a:xfrm>
            <a:off x="1676971" y="2516550"/>
            <a:ext cx="90412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C00000"/>
                </a:solidFill>
                <a:latin typeface="Algerian" panose="04020705040A02060702" pitchFamily="82" charset="0"/>
              </a:rPr>
              <a:t>SEKIAN DAN TERIMA KASIH</a:t>
            </a:r>
          </a:p>
        </p:txBody>
      </p:sp>
    </p:spTree>
    <p:extLst>
      <p:ext uri="{BB962C8B-B14F-4D97-AF65-F5344CB8AC3E}">
        <p14:creationId xmlns:p14="http://schemas.microsoft.com/office/powerpoint/2010/main" val="868975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838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137024"/>
            <a:ext cx="12193057" cy="6858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591" y="150016"/>
            <a:ext cx="944962" cy="9083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49600" y="111383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77" y="192417"/>
            <a:ext cx="777256" cy="82358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902225" y="2600076"/>
            <a:ext cx="1847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7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2088</Words>
  <Application>Microsoft Office PowerPoint</Application>
  <PresentationFormat>Widescreen</PresentationFormat>
  <Paragraphs>145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Algerian</vt:lpstr>
      <vt:lpstr>Arial</vt:lpstr>
      <vt:lpstr>Arial Black</vt:lpstr>
      <vt:lpstr>Calibri</vt:lpstr>
      <vt:lpstr>Calibri Light</vt:lpstr>
      <vt:lpstr>Times New Roman</vt:lpstr>
      <vt:lpstr>Timw new roman</vt:lpstr>
      <vt:lpstr>Office Theme</vt:lpstr>
      <vt:lpstr>      ALAT PEMADAM API RINGAN (APAR)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ALAT PELINDUNG DIRI (APD)</dc:title>
  <dc:creator>asus</dc:creator>
  <cp:lastModifiedBy>asus</cp:lastModifiedBy>
  <cp:revision>48</cp:revision>
  <dcterms:created xsi:type="dcterms:W3CDTF">2024-08-11T00:35:09Z</dcterms:created>
  <dcterms:modified xsi:type="dcterms:W3CDTF">2024-09-04T16:18:46Z</dcterms:modified>
</cp:coreProperties>
</file>