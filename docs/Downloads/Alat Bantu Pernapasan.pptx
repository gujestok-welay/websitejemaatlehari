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95" r:id="rId4"/>
    <p:sldId id="296" r:id="rId5"/>
    <p:sldId id="299" r:id="rId6"/>
    <p:sldId id="300" r:id="rId7"/>
    <p:sldId id="298" r:id="rId8"/>
    <p:sldId id="297" r:id="rId9"/>
    <p:sldId id="301" r:id="rId10"/>
    <p:sldId id="302" r:id="rId11"/>
    <p:sldId id="303" r:id="rId12"/>
    <p:sldId id="305" r:id="rId13"/>
    <p:sldId id="306" r:id="rId14"/>
    <p:sldId id="304" r:id="rId15"/>
    <p:sldId id="312" r:id="rId16"/>
    <p:sldId id="311" r:id="rId17"/>
    <p:sldId id="313" r:id="rId18"/>
    <p:sldId id="310" r:id="rId19"/>
    <p:sldId id="309" r:id="rId20"/>
    <p:sldId id="308" r:id="rId21"/>
    <p:sldId id="319" r:id="rId22"/>
    <p:sldId id="318" r:id="rId23"/>
    <p:sldId id="317" r:id="rId24"/>
    <p:sldId id="316" r:id="rId25"/>
    <p:sldId id="315" r:id="rId26"/>
    <p:sldId id="321" r:id="rId27"/>
    <p:sldId id="322" r:id="rId28"/>
    <p:sldId id="320" r:id="rId29"/>
    <p:sldId id="314" r:id="rId30"/>
    <p:sldId id="325" r:id="rId31"/>
    <p:sldId id="29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19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8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5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4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4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8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7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DE6E6-E8BE-4FCD-81FE-96840F4FB1B6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0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714" y="135336"/>
            <a:ext cx="944962" cy="9083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14" y="2874204"/>
            <a:ext cx="1804572" cy="34384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2763" y="1204414"/>
            <a:ext cx="6946474" cy="1223478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817" y="2947362"/>
            <a:ext cx="1969179" cy="32921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4ABF71-7D94-F9CE-1AE6-AFB03BC324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27269" y="2670554"/>
            <a:ext cx="3937459" cy="39374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96737" y="154211"/>
            <a:ext cx="774259" cy="8230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620288-6C3B-E1CD-5BDF-885252C03064}"/>
              </a:ext>
            </a:extLst>
          </p:cNvPr>
          <p:cNvSpPr txBox="1"/>
          <p:nvPr/>
        </p:nvSpPr>
        <p:spPr>
          <a:xfrm>
            <a:off x="2306261" y="1447076"/>
            <a:ext cx="72783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BREATHING APARATUS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93612A-B6CB-C13B-6FC7-D6DAFEF9C938}"/>
              </a:ext>
            </a:extLst>
          </p:cNvPr>
          <p:cNvSpPr txBox="1"/>
          <p:nvPr/>
        </p:nvSpPr>
        <p:spPr>
          <a:xfrm>
            <a:off x="3118774" y="2278073"/>
            <a:ext cx="5954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(ALAT BANTU PERNAPASAN)</a:t>
            </a:r>
          </a:p>
        </p:txBody>
      </p:sp>
    </p:spTree>
    <p:extLst>
      <p:ext uri="{BB962C8B-B14F-4D97-AF65-F5344CB8AC3E}">
        <p14:creationId xmlns:p14="http://schemas.microsoft.com/office/powerpoint/2010/main" val="233572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3588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FF94FB-9076-A074-B66E-26DA68F8423D}"/>
              </a:ext>
            </a:extLst>
          </p:cNvPr>
          <p:cNvSpPr txBox="1"/>
          <p:nvPr/>
        </p:nvSpPr>
        <p:spPr>
          <a:xfrm>
            <a:off x="2451671" y="997382"/>
            <a:ext cx="80674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BAHAYA </a:t>
            </a:r>
            <a:r>
              <a:rPr lang="en-US" sz="4800" b="1" dirty="0" err="1">
                <a:solidFill>
                  <a:srgbClr val="FF0000"/>
                </a:solidFill>
              </a:rPr>
              <a:t>BAHAYA</a:t>
            </a:r>
            <a:r>
              <a:rPr lang="en-US" sz="4800" b="1" dirty="0">
                <a:solidFill>
                  <a:srgbClr val="FF0000"/>
                </a:solidFill>
              </a:rPr>
              <a:t> PERNAPASAN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1F5662-E2E8-E2A9-E20F-2282A564A2E7}"/>
              </a:ext>
            </a:extLst>
          </p:cNvPr>
          <p:cNvSpPr txBox="1"/>
          <p:nvPr/>
        </p:nvSpPr>
        <p:spPr>
          <a:xfrm>
            <a:off x="911829" y="1914416"/>
            <a:ext cx="9134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1. </a:t>
            </a:r>
            <a:r>
              <a:rPr lang="en-US" sz="3600" b="1" dirty="0" err="1"/>
              <a:t>Absorbsi</a:t>
            </a:r>
            <a:r>
              <a:rPr lang="en-US" sz="3200" b="1" dirty="0"/>
              <a:t> </a:t>
            </a:r>
            <a:r>
              <a:rPr lang="en-US" sz="3200" b="1" dirty="0" err="1"/>
              <a:t>bahan</a:t>
            </a:r>
            <a:r>
              <a:rPr lang="en-US" sz="3200" b="1" dirty="0"/>
              <a:t> </a:t>
            </a:r>
            <a:r>
              <a:rPr lang="en-US" sz="3200" b="1" dirty="0" err="1"/>
              <a:t>kimia</a:t>
            </a:r>
            <a:r>
              <a:rPr lang="en-US" sz="3200" b="1" dirty="0"/>
              <a:t> </a:t>
            </a:r>
            <a:r>
              <a:rPr lang="en-US" sz="3200" b="1" dirty="0" err="1"/>
              <a:t>kedalam</a:t>
            </a:r>
            <a:r>
              <a:rPr lang="en-US" sz="3200" b="1" dirty="0"/>
              <a:t> </a:t>
            </a:r>
            <a:r>
              <a:rPr lang="en-US" sz="3200" b="1" dirty="0" err="1"/>
              <a:t>tubuh</a:t>
            </a:r>
            <a:r>
              <a:rPr lang="en-US" sz="3200" b="1" dirty="0"/>
              <a:t> </a:t>
            </a:r>
            <a:r>
              <a:rPr lang="en-US" sz="3200" b="1" dirty="0" err="1"/>
              <a:t>manusia</a:t>
            </a:r>
            <a:endParaRPr lang="en-US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FD8458-8985-63D7-2589-BE5F25525118}"/>
              </a:ext>
            </a:extLst>
          </p:cNvPr>
          <p:cNvSpPr txBox="1"/>
          <p:nvPr/>
        </p:nvSpPr>
        <p:spPr>
          <a:xfrm>
            <a:off x="1299429" y="2532862"/>
            <a:ext cx="96921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Absorbsi</a:t>
            </a:r>
            <a:r>
              <a:rPr lang="en-US" sz="2800" b="1" dirty="0"/>
              <a:t> (</a:t>
            </a:r>
            <a:r>
              <a:rPr lang="en-US" sz="2800" b="1" dirty="0" err="1"/>
              <a:t>penyerapan</a:t>
            </a:r>
            <a:r>
              <a:rPr lang="en-US" sz="2800" b="1" dirty="0"/>
              <a:t>) </a:t>
            </a:r>
            <a:r>
              <a:rPr lang="en-US" sz="2800" b="1" dirty="0" err="1"/>
              <a:t>bahan</a:t>
            </a:r>
            <a:r>
              <a:rPr lang="en-US" sz="2800" b="1" dirty="0"/>
              <a:t> </a:t>
            </a:r>
            <a:r>
              <a:rPr lang="en-US" sz="2800" b="1" dirty="0" err="1"/>
              <a:t>kimia</a:t>
            </a:r>
            <a:r>
              <a:rPr lang="en-US" sz="2800" b="1" dirty="0"/>
              <a:t> oleh </a:t>
            </a:r>
            <a:r>
              <a:rPr lang="en-US" sz="2800" b="1" dirty="0" err="1"/>
              <a:t>tubuh</a:t>
            </a:r>
            <a:r>
              <a:rPr lang="en-US" sz="2800" b="1" dirty="0"/>
              <a:t> </a:t>
            </a:r>
            <a:r>
              <a:rPr lang="en-US" sz="2800" b="1" dirty="0" err="1"/>
              <a:t>dapat</a:t>
            </a:r>
            <a:r>
              <a:rPr lang="en-US" sz="2800" b="1" dirty="0"/>
              <a:t> </a:t>
            </a:r>
            <a:r>
              <a:rPr lang="en-US" sz="2800" b="1" dirty="0" err="1"/>
              <a:t>melalui</a:t>
            </a:r>
            <a:r>
              <a:rPr lang="en-US" sz="2800" b="1" dirty="0"/>
              <a:t> 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E491DD-C72A-1D2E-FB6F-5FAFBF2D733F}"/>
              </a:ext>
            </a:extLst>
          </p:cNvPr>
          <p:cNvSpPr txBox="1"/>
          <p:nvPr/>
        </p:nvSpPr>
        <p:spPr>
          <a:xfrm>
            <a:off x="1836505" y="3024833"/>
            <a:ext cx="62004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• </a:t>
            </a:r>
            <a:r>
              <a:rPr lang="en-US" sz="2800" dirty="0" err="1">
                <a:solidFill>
                  <a:srgbClr val="FFFF00"/>
                </a:solidFill>
              </a:rPr>
              <a:t>Saluran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r>
              <a:rPr lang="en-US" sz="2800" dirty="0" err="1">
                <a:solidFill>
                  <a:srgbClr val="FFFF00"/>
                </a:solidFill>
              </a:rPr>
              <a:t>pernapasan</a:t>
            </a:r>
            <a:r>
              <a:rPr lang="en-US" sz="2800" dirty="0">
                <a:solidFill>
                  <a:srgbClr val="FFFF00"/>
                </a:solidFill>
              </a:rPr>
              <a:t> (inhalation)</a:t>
            </a:r>
          </a:p>
          <a:p>
            <a:r>
              <a:rPr lang="en-US" sz="2800" dirty="0">
                <a:solidFill>
                  <a:srgbClr val="FFFF00"/>
                </a:solidFill>
              </a:rPr>
              <a:t>• </a:t>
            </a:r>
            <a:r>
              <a:rPr lang="en-US" sz="2800" dirty="0" err="1">
                <a:solidFill>
                  <a:srgbClr val="FFFF00"/>
                </a:solidFill>
              </a:rPr>
              <a:t>Saluran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r>
              <a:rPr lang="en-US" sz="2800" dirty="0" err="1">
                <a:solidFill>
                  <a:srgbClr val="FFFF00"/>
                </a:solidFill>
              </a:rPr>
              <a:t>pencernaan</a:t>
            </a:r>
            <a:r>
              <a:rPr lang="en-US" sz="2800" dirty="0">
                <a:solidFill>
                  <a:srgbClr val="FFFF00"/>
                </a:solidFill>
              </a:rPr>
              <a:t> / </a:t>
            </a:r>
            <a:r>
              <a:rPr lang="en-US" sz="2800" dirty="0" err="1">
                <a:solidFill>
                  <a:srgbClr val="FFFF00"/>
                </a:solidFill>
              </a:rPr>
              <a:t>mulut</a:t>
            </a:r>
            <a:r>
              <a:rPr lang="en-US" sz="2800" dirty="0">
                <a:solidFill>
                  <a:srgbClr val="FFFF00"/>
                </a:solidFill>
              </a:rPr>
              <a:t> (peroral)</a:t>
            </a:r>
          </a:p>
          <a:p>
            <a:r>
              <a:rPr lang="en-US" sz="2800" dirty="0">
                <a:solidFill>
                  <a:srgbClr val="FFFF00"/>
                </a:solidFill>
              </a:rPr>
              <a:t>• </a:t>
            </a:r>
            <a:r>
              <a:rPr lang="en-US" sz="2800" dirty="0" err="1">
                <a:solidFill>
                  <a:srgbClr val="FFFF00"/>
                </a:solidFill>
              </a:rPr>
              <a:t>Kulit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439CA9-55EA-304C-B60E-98A95BCCA3AD}"/>
              </a:ext>
            </a:extLst>
          </p:cNvPr>
          <p:cNvSpPr txBox="1"/>
          <p:nvPr/>
        </p:nvSpPr>
        <p:spPr>
          <a:xfrm>
            <a:off x="801385" y="4120552"/>
            <a:ext cx="1109609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Dari </a:t>
            </a:r>
            <a:r>
              <a:rPr lang="en-US" sz="2400" dirty="0" err="1"/>
              <a:t>berbagai</a:t>
            </a:r>
            <a:r>
              <a:rPr lang="en-US" sz="2400" dirty="0"/>
              <a:t> </a:t>
            </a:r>
            <a:r>
              <a:rPr lang="en-US" sz="2400" dirty="0" err="1"/>
              <a:t>kasus</a:t>
            </a:r>
            <a:r>
              <a:rPr lang="en-US" sz="2400" dirty="0"/>
              <a:t> </a:t>
            </a:r>
            <a:r>
              <a:rPr lang="en-US" sz="2400" dirty="0" err="1"/>
              <a:t>keracunan</a:t>
            </a:r>
            <a:r>
              <a:rPr lang="en-US" sz="2400" dirty="0"/>
              <a:t> yang </a:t>
            </a:r>
            <a:r>
              <a:rPr lang="en-US" sz="2400" dirty="0" err="1"/>
              <a:t>terjadi</a:t>
            </a:r>
            <a:r>
              <a:rPr lang="en-US" sz="2400" dirty="0"/>
              <a:t> di industry </a:t>
            </a:r>
            <a:r>
              <a:rPr lang="en-US" sz="2400" dirty="0" err="1"/>
              <a:t>kasus</a:t>
            </a:r>
            <a:r>
              <a:rPr lang="en-US" sz="2400" dirty="0"/>
              <a:t> </a:t>
            </a:r>
            <a:r>
              <a:rPr lang="en-US" sz="2400" dirty="0" err="1"/>
              <a:t>keracunan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pernapasanlah</a:t>
            </a:r>
            <a:r>
              <a:rPr lang="en-US" sz="2400" dirty="0"/>
              <a:t> yang paling 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hampIr</a:t>
            </a:r>
            <a:r>
              <a:rPr lang="en-US" sz="2400" dirty="0"/>
              <a:t> 90%, </a:t>
            </a:r>
            <a:r>
              <a:rPr lang="en-US" sz="2400" dirty="0" err="1"/>
              <a:t>sedangkan</a:t>
            </a:r>
            <a:r>
              <a:rPr lang="en-US" sz="2400" dirty="0"/>
              <a:t> </a:t>
            </a:r>
            <a:r>
              <a:rPr lang="en-US" sz="2400" dirty="0" err="1"/>
              <a:t>sisanya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mulut</a:t>
            </a:r>
            <a:r>
              <a:rPr lang="en-US" sz="2400" dirty="0"/>
              <a:t> dan </a:t>
            </a:r>
            <a:r>
              <a:rPr lang="en-US" sz="2400" dirty="0" err="1"/>
              <a:t>kulit</a:t>
            </a:r>
            <a:r>
              <a:rPr lang="en-US" sz="2400" dirty="0"/>
              <a:t>. </a:t>
            </a:r>
            <a:r>
              <a:rPr lang="en-US" sz="2400" dirty="0" err="1"/>
              <a:t>berbicara</a:t>
            </a:r>
            <a:r>
              <a:rPr lang="en-US" sz="2400" dirty="0"/>
              <a:t> </a:t>
            </a:r>
            <a:r>
              <a:rPr lang="en-US" sz="2400" dirty="0" err="1"/>
              <a:t>masalah</a:t>
            </a:r>
            <a:r>
              <a:rPr lang="en-US" sz="2400" dirty="0"/>
              <a:t> </a:t>
            </a:r>
            <a:r>
              <a:rPr lang="en-US" sz="2400" i="1" dirty="0"/>
              <a:t>Breathing apparatus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perlu</a:t>
            </a:r>
            <a:r>
              <a:rPr lang="en-US" sz="2400" dirty="0"/>
              <a:t>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bahas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system </a:t>
            </a:r>
            <a:r>
              <a:rPr lang="en-US" sz="2400" dirty="0" err="1"/>
              <a:t>masuknya</a:t>
            </a:r>
            <a:r>
              <a:rPr lang="en-US" sz="2400" dirty="0"/>
              <a:t> </a:t>
            </a:r>
            <a:r>
              <a:rPr lang="en-US" sz="2400" dirty="0" err="1"/>
              <a:t>bahan</a:t>
            </a:r>
            <a:r>
              <a:rPr lang="en-US" sz="2400" dirty="0"/>
              <a:t> </a:t>
            </a:r>
            <a:r>
              <a:rPr lang="en-US" sz="2400" dirty="0" err="1"/>
              <a:t>kimia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saluran</a:t>
            </a:r>
            <a:r>
              <a:rPr lang="en-US" sz="2400" dirty="0"/>
              <a:t> </a:t>
            </a:r>
            <a:r>
              <a:rPr lang="en-US" sz="2400" dirty="0" err="1"/>
              <a:t>pernapasan</a:t>
            </a:r>
            <a:r>
              <a:rPr lang="en-US" sz="2400" dirty="0"/>
              <a:t>,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itu</a:t>
            </a:r>
            <a:r>
              <a:rPr lang="en-US" sz="2400" dirty="0"/>
              <a:t> </a:t>
            </a:r>
            <a:r>
              <a:rPr lang="en-US" sz="2400" dirty="0" err="1"/>
              <a:t>terlebh</a:t>
            </a:r>
            <a:r>
              <a:rPr lang="en-US" sz="2400" dirty="0"/>
              <a:t> </a:t>
            </a:r>
            <a:r>
              <a:rPr lang="en-US" sz="2400" dirty="0" err="1"/>
              <a:t>dahulu</a:t>
            </a:r>
            <a:r>
              <a:rPr lang="en-US" sz="2400" dirty="0"/>
              <a:t>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mengetahui</a:t>
            </a:r>
            <a:r>
              <a:rPr lang="en-US" sz="2400" dirty="0"/>
              <a:t> </a:t>
            </a:r>
            <a:r>
              <a:rPr lang="en-US" sz="2400" dirty="0" err="1"/>
              <a:t>tentang</a:t>
            </a:r>
            <a:r>
              <a:rPr lang="en-US" sz="2400" dirty="0"/>
              <a:t> </a:t>
            </a:r>
            <a:r>
              <a:rPr lang="en-US" sz="2400" dirty="0" err="1"/>
              <a:t>anatomis</a:t>
            </a:r>
            <a:r>
              <a:rPr lang="en-US" sz="2400" dirty="0"/>
              <a:t> dan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saluran</a:t>
            </a:r>
            <a:r>
              <a:rPr lang="en-US" sz="2400" dirty="0"/>
              <a:t> </a:t>
            </a:r>
            <a:r>
              <a:rPr lang="en-US" sz="2400" dirty="0" err="1"/>
              <a:t>pernapasan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407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55237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73FB3-B3BD-5D48-E854-B095121479BB}"/>
              </a:ext>
            </a:extLst>
          </p:cNvPr>
          <p:cNvSpPr txBox="1"/>
          <p:nvPr/>
        </p:nvSpPr>
        <p:spPr>
          <a:xfrm>
            <a:off x="1071930" y="2123022"/>
            <a:ext cx="50232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/>
              <a:t>Sistem</a:t>
            </a:r>
            <a:r>
              <a:rPr lang="en-US" sz="3200" dirty="0"/>
              <a:t> </a:t>
            </a:r>
            <a:r>
              <a:rPr lang="en-US" sz="3200" dirty="0" err="1"/>
              <a:t>pernapasan</a:t>
            </a:r>
            <a:r>
              <a:rPr lang="en-US" sz="3200" dirty="0"/>
              <a:t> </a:t>
            </a:r>
            <a:r>
              <a:rPr lang="en-US" sz="3200" dirty="0" err="1"/>
              <a:t>manusia</a:t>
            </a:r>
            <a:r>
              <a:rPr lang="en-US" sz="3200" dirty="0"/>
              <a:t> </a:t>
            </a:r>
            <a:r>
              <a:rPr lang="en-US" sz="3200" dirty="0" err="1"/>
              <a:t>tersebut</a:t>
            </a:r>
            <a:r>
              <a:rPr lang="en-US" sz="3200" dirty="0"/>
              <a:t>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dibagi</a:t>
            </a:r>
            <a:r>
              <a:rPr lang="en-US" sz="3200" dirty="0"/>
              <a:t> </a:t>
            </a:r>
            <a:r>
              <a:rPr lang="en-US" sz="3200" dirty="0" err="1"/>
              <a:t>menjadi</a:t>
            </a:r>
            <a:r>
              <a:rPr lang="en-US" sz="3200" dirty="0"/>
              <a:t> dua </a:t>
            </a:r>
            <a:r>
              <a:rPr lang="en-US" sz="3200" dirty="0" err="1"/>
              <a:t>bagian</a:t>
            </a:r>
            <a:r>
              <a:rPr lang="en-US" sz="3200" dirty="0"/>
              <a:t> </a:t>
            </a:r>
            <a:r>
              <a:rPr lang="en-US" sz="3200" dirty="0" err="1"/>
              <a:t>yaitu</a:t>
            </a:r>
            <a:r>
              <a:rPr lang="en-US" sz="3200" dirty="0"/>
              <a:t> 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C2DDDE-A6B1-6BF0-E34A-0D6CEBE5B3BB}"/>
              </a:ext>
            </a:extLst>
          </p:cNvPr>
          <p:cNvSpPr txBox="1"/>
          <p:nvPr/>
        </p:nvSpPr>
        <p:spPr>
          <a:xfrm>
            <a:off x="1344196" y="4143729"/>
            <a:ext cx="62040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• Conductive Airways</a:t>
            </a:r>
          </a:p>
          <a:p>
            <a:r>
              <a:rPr lang="en-US" sz="3200" i="1" dirty="0"/>
              <a:t>• Respiratory Airways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6B15CA-2276-C5EC-1E52-713187A6EA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150" y="1883274"/>
            <a:ext cx="4714875" cy="49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86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1214FC-3F91-EC8E-4399-F718CB2B738D}"/>
              </a:ext>
            </a:extLst>
          </p:cNvPr>
          <p:cNvSpPr txBox="1"/>
          <p:nvPr/>
        </p:nvSpPr>
        <p:spPr>
          <a:xfrm>
            <a:off x="837313" y="1492080"/>
            <a:ext cx="6204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a) </a:t>
            </a:r>
            <a:r>
              <a:rPr lang="en-US" sz="2400" b="1" i="1" dirty="0"/>
              <a:t>Conductive Airways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01415-85A0-81BF-7453-2D683302936A}"/>
              </a:ext>
            </a:extLst>
          </p:cNvPr>
          <p:cNvSpPr txBox="1"/>
          <p:nvPr/>
        </p:nvSpPr>
        <p:spPr>
          <a:xfrm>
            <a:off x="1241350" y="2027078"/>
            <a:ext cx="927424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Conductive Airways </a:t>
            </a:r>
            <a:r>
              <a:rPr lang="en-US" sz="2800" dirty="0" err="1"/>
              <a:t>yaitu</a:t>
            </a:r>
            <a:r>
              <a:rPr lang="en-US" sz="2800" dirty="0"/>
              <a:t> </a:t>
            </a:r>
            <a:r>
              <a:rPr lang="en-US" sz="2800" dirty="0" err="1"/>
              <a:t>bagian</a:t>
            </a:r>
            <a:r>
              <a:rPr lang="en-US" sz="2800" dirty="0"/>
              <a:t> </a:t>
            </a:r>
            <a:r>
              <a:rPr lang="en-US" sz="2800" dirty="0" err="1"/>
              <a:t>sistem</a:t>
            </a:r>
            <a:r>
              <a:rPr lang="en-US" sz="2800" dirty="0"/>
              <a:t> </a:t>
            </a:r>
            <a:r>
              <a:rPr lang="en-US" sz="2800" dirty="0" err="1"/>
              <a:t>pernapasan</a:t>
            </a:r>
            <a:r>
              <a:rPr lang="en-US" sz="2800" dirty="0"/>
              <a:t> yang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berfungsi</a:t>
            </a:r>
            <a:r>
              <a:rPr lang="en-US" sz="2800" dirty="0"/>
              <a:t>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jalannya</a:t>
            </a:r>
            <a:r>
              <a:rPr lang="en-US" sz="2800" dirty="0"/>
              <a:t> </a:t>
            </a:r>
            <a:r>
              <a:rPr lang="en-US" sz="2800" dirty="0" err="1"/>
              <a:t>pernapasan</a:t>
            </a:r>
            <a:r>
              <a:rPr lang="en-US" sz="2800" dirty="0"/>
              <a:t> yang </a:t>
            </a:r>
            <a:r>
              <a:rPr lang="en-US" sz="2800" dirty="0" err="1"/>
              <a:t>dimulai</a:t>
            </a:r>
            <a:r>
              <a:rPr lang="en-US" sz="2800" dirty="0"/>
              <a:t> </a:t>
            </a:r>
            <a:r>
              <a:rPr lang="en-US" sz="2800" dirty="0" err="1"/>
              <a:t>dai</a:t>
            </a:r>
            <a:r>
              <a:rPr lang="en-US" sz="2800" dirty="0"/>
              <a:t> </a:t>
            </a:r>
            <a:r>
              <a:rPr lang="en-US" sz="2800" dirty="0" err="1"/>
              <a:t>hidung</a:t>
            </a:r>
            <a:r>
              <a:rPr lang="en-US" sz="2800" dirty="0"/>
              <a:t> </a:t>
            </a:r>
            <a:r>
              <a:rPr lang="en-US" sz="2800" dirty="0" err="1"/>
              <a:t>sampai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terminal bronchiole. </a:t>
            </a:r>
            <a:r>
              <a:rPr lang="en-US" sz="2800" dirty="0" err="1"/>
              <a:t>Didalam</a:t>
            </a:r>
            <a:r>
              <a:rPr lang="en-US" sz="2800" dirty="0"/>
              <a:t> </a:t>
            </a:r>
            <a:r>
              <a:rPr lang="en-US" sz="2800" dirty="0" err="1"/>
              <a:t>saluran</a:t>
            </a:r>
            <a:r>
              <a:rPr lang="en-US" sz="2800" dirty="0"/>
              <a:t> </a:t>
            </a:r>
            <a:r>
              <a:rPr lang="en-US" sz="2800" i="1" dirty="0"/>
              <a:t>Conductive Airways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kondisinya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keadaan</a:t>
            </a:r>
            <a:r>
              <a:rPr lang="en-US" sz="2800" dirty="0"/>
              <a:t> </a:t>
            </a:r>
            <a:r>
              <a:rPr lang="en-US" sz="2800" dirty="0" err="1"/>
              <a:t>basah</a:t>
            </a:r>
            <a:r>
              <a:rPr lang="en-US" sz="2800" dirty="0"/>
              <a:t> / </a:t>
            </a:r>
            <a:r>
              <a:rPr lang="en-US" sz="2800" dirty="0" err="1"/>
              <a:t>berlendir</a:t>
            </a:r>
            <a:r>
              <a:rPr lang="en-US" sz="2800" dirty="0"/>
              <a:t> </a:t>
            </a:r>
            <a:r>
              <a:rPr lang="en-US" sz="2800" dirty="0" err="1"/>
              <a:t>karena</a:t>
            </a:r>
            <a:r>
              <a:rPr lang="en-US" sz="2800" dirty="0"/>
              <a:t> </a:t>
            </a:r>
            <a:r>
              <a:rPr lang="en-US" sz="2800" dirty="0" err="1"/>
              <a:t>disana</a:t>
            </a:r>
            <a:r>
              <a:rPr lang="en-US" sz="2800" dirty="0"/>
              <a:t> </a:t>
            </a:r>
            <a:r>
              <a:rPr lang="en-US" sz="2800" dirty="0" err="1"/>
              <a:t>terdapat</a:t>
            </a:r>
            <a:r>
              <a:rPr lang="en-US" sz="2800" dirty="0"/>
              <a:t> </a:t>
            </a:r>
            <a:r>
              <a:rPr lang="en-US" sz="2800" dirty="0" err="1"/>
              <a:t>sel</a:t>
            </a:r>
            <a:r>
              <a:rPr lang="en-US" sz="2800" dirty="0"/>
              <a:t> – </a:t>
            </a:r>
            <a:r>
              <a:rPr lang="en-US" sz="2800" dirty="0" err="1"/>
              <a:t>sel</a:t>
            </a:r>
            <a:r>
              <a:rPr lang="en-US" sz="2800" dirty="0"/>
              <a:t> Goblet yang </a:t>
            </a:r>
            <a:r>
              <a:rPr lang="en-US" sz="2800" dirty="0" err="1"/>
              <a:t>menghasilkan</a:t>
            </a:r>
            <a:r>
              <a:rPr lang="en-US" sz="2800" dirty="0"/>
              <a:t> </a:t>
            </a:r>
            <a:r>
              <a:rPr lang="en-US" sz="2800" i="1" dirty="0"/>
              <a:t>mucus</a:t>
            </a:r>
            <a:r>
              <a:rPr lang="en-US" sz="2800" dirty="0"/>
              <a:t> (</a:t>
            </a:r>
            <a:r>
              <a:rPr lang="en-US" sz="2800" dirty="0" err="1"/>
              <a:t>lendir</a:t>
            </a:r>
            <a:r>
              <a:rPr lang="en-US" sz="2800" dirty="0"/>
              <a:t>) Dimana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keadaan</a:t>
            </a:r>
            <a:r>
              <a:rPr lang="en-US" sz="2800" dirty="0"/>
              <a:t> normal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memproduksi</a:t>
            </a:r>
            <a:r>
              <a:rPr lang="en-US" sz="2800" dirty="0"/>
              <a:t> mucus </a:t>
            </a:r>
            <a:r>
              <a:rPr lang="en-US" sz="2800" dirty="0" err="1"/>
              <a:t>sebanyak</a:t>
            </a:r>
            <a:r>
              <a:rPr lang="en-US" sz="2800" dirty="0"/>
              <a:t> ±100cc/</a:t>
            </a:r>
            <a:r>
              <a:rPr lang="en-US" sz="2800" dirty="0" err="1"/>
              <a:t>hari</a:t>
            </a:r>
            <a:r>
              <a:rPr lang="en-US" sz="28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1A8617-5C5F-128E-E037-9CFE1B41812D}"/>
              </a:ext>
            </a:extLst>
          </p:cNvPr>
          <p:cNvSpPr txBox="1"/>
          <p:nvPr/>
        </p:nvSpPr>
        <p:spPr>
          <a:xfrm>
            <a:off x="1215236" y="5504135"/>
            <a:ext cx="92742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 err="1"/>
              <a:t>Selain</a:t>
            </a:r>
            <a:r>
              <a:rPr lang="en-US" sz="2800" dirty="0"/>
              <a:t> </a:t>
            </a:r>
            <a:r>
              <a:rPr lang="en-US" sz="2800" dirty="0" err="1"/>
              <a:t>itu</a:t>
            </a:r>
            <a:r>
              <a:rPr lang="en-US" sz="2800" dirty="0"/>
              <a:t> pada </a:t>
            </a:r>
            <a:r>
              <a:rPr lang="en-US" sz="2800" dirty="0" err="1"/>
              <a:t>setiap</a:t>
            </a:r>
            <a:r>
              <a:rPr lang="en-US" sz="2800" dirty="0"/>
              <a:t> </a:t>
            </a:r>
            <a:r>
              <a:rPr lang="en-US" sz="2800" dirty="0" err="1"/>
              <a:t>dinding</a:t>
            </a:r>
            <a:r>
              <a:rPr lang="en-US" sz="2800" dirty="0"/>
              <a:t> </a:t>
            </a:r>
            <a:r>
              <a:rPr lang="en-US" sz="2800" dirty="0" err="1"/>
              <a:t>saluran</a:t>
            </a:r>
            <a:r>
              <a:rPr lang="en-US" sz="2800" dirty="0"/>
              <a:t> </a:t>
            </a:r>
            <a:r>
              <a:rPr lang="en-US" sz="2800" i="1" dirty="0"/>
              <a:t>Conductive Airways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dilengkapi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bulu</a:t>
            </a:r>
            <a:r>
              <a:rPr lang="en-US" sz="2800" dirty="0"/>
              <a:t> </a:t>
            </a:r>
            <a:r>
              <a:rPr lang="en-US" sz="2800" dirty="0" err="1"/>
              <a:t>getar</a:t>
            </a:r>
            <a:r>
              <a:rPr lang="en-US" sz="2800" dirty="0"/>
              <a:t> (cilia) yang </a:t>
            </a:r>
            <a:r>
              <a:rPr lang="en-US" sz="2800" dirty="0" err="1"/>
              <a:t>selalu</a:t>
            </a:r>
            <a:r>
              <a:rPr lang="en-US" sz="2800" dirty="0"/>
              <a:t> </a:t>
            </a:r>
            <a:r>
              <a:rPr lang="en-US" sz="2800" dirty="0" err="1"/>
              <a:t>bergerak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atas</a:t>
            </a:r>
            <a:r>
              <a:rPr lang="en-US" sz="2800" dirty="0"/>
              <a:t> </a:t>
            </a:r>
            <a:r>
              <a:rPr lang="en-US" sz="2800" dirty="0" err="1"/>
              <a:t>seperti</a:t>
            </a:r>
            <a:r>
              <a:rPr lang="en-US" sz="2800" dirty="0"/>
              <a:t> </a:t>
            </a:r>
            <a:r>
              <a:rPr lang="en-US" sz="2800" dirty="0" err="1"/>
              <a:t>tanggaberjalan</a:t>
            </a:r>
            <a:r>
              <a:rPr lang="en-US" sz="2800" dirty="0"/>
              <a:t> / </a:t>
            </a:r>
            <a:r>
              <a:rPr lang="en-US" sz="2800" i="1" dirty="0"/>
              <a:t>escalato</a:t>
            </a:r>
            <a:r>
              <a:rPr lang="en-US" sz="2800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590960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519A07-7C52-DB7E-2529-FE3F87560C8E}"/>
              </a:ext>
            </a:extLst>
          </p:cNvPr>
          <p:cNvSpPr txBox="1"/>
          <p:nvPr/>
        </p:nvSpPr>
        <p:spPr>
          <a:xfrm>
            <a:off x="974404" y="1498554"/>
            <a:ext cx="62040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b) </a:t>
            </a:r>
            <a:r>
              <a:rPr lang="en-US" sz="3200" b="1" i="1" dirty="0"/>
              <a:t>Respiratory Airways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2F440-7A34-55D1-C2E2-3E2DC9FEF2C8}"/>
              </a:ext>
            </a:extLst>
          </p:cNvPr>
          <p:cNvSpPr txBox="1"/>
          <p:nvPr/>
        </p:nvSpPr>
        <p:spPr>
          <a:xfrm>
            <a:off x="1166923" y="2136870"/>
            <a:ext cx="94018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i="1" dirty="0"/>
              <a:t>Respiratory Airways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bagian</a:t>
            </a:r>
            <a:r>
              <a:rPr lang="en-US" sz="3200" dirty="0"/>
              <a:t> </a:t>
            </a:r>
            <a:r>
              <a:rPr lang="en-US" sz="3200" dirty="0" err="1"/>
              <a:t>mulai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terminal </a:t>
            </a:r>
            <a:r>
              <a:rPr lang="en-US" sz="3200" i="1" dirty="0"/>
              <a:t>bronchiole </a:t>
            </a:r>
            <a:r>
              <a:rPr lang="en-US" sz="3200" dirty="0" err="1"/>
              <a:t>sampai</a:t>
            </a:r>
            <a:r>
              <a:rPr lang="en-US" sz="3200" dirty="0"/>
              <a:t> </a:t>
            </a:r>
            <a:r>
              <a:rPr lang="en-US" sz="3200" dirty="0" err="1"/>
              <a:t>ke</a:t>
            </a:r>
            <a:r>
              <a:rPr lang="en-US" sz="3200" dirty="0"/>
              <a:t> </a:t>
            </a:r>
            <a:r>
              <a:rPr lang="en-US" sz="3200" dirty="0" err="1"/>
              <a:t>paru</a:t>
            </a:r>
            <a:r>
              <a:rPr lang="en-US" sz="3200" dirty="0"/>
              <a:t> – </a:t>
            </a:r>
            <a:r>
              <a:rPr lang="en-US" sz="3200" dirty="0" err="1"/>
              <a:t>paru</a:t>
            </a:r>
            <a:r>
              <a:rPr lang="en-US" sz="3200" dirty="0"/>
              <a:t> </a:t>
            </a:r>
            <a:r>
              <a:rPr lang="en-US" sz="3200" dirty="0" err="1"/>
              <a:t>dimanaparu-paru</a:t>
            </a:r>
            <a:r>
              <a:rPr lang="en-US" sz="3200" dirty="0"/>
              <a:t> </a:t>
            </a:r>
            <a:r>
              <a:rPr lang="en-US" sz="3200" dirty="0" err="1"/>
              <a:t>ini</a:t>
            </a:r>
            <a:r>
              <a:rPr lang="en-US" sz="3200" dirty="0"/>
              <a:t> </a:t>
            </a:r>
            <a:r>
              <a:rPr lang="en-US" sz="3200" dirty="0" err="1"/>
              <a:t>tersusun</a:t>
            </a:r>
            <a:r>
              <a:rPr lang="en-US" sz="3200" dirty="0"/>
              <a:t> oleh </a:t>
            </a:r>
            <a:r>
              <a:rPr lang="en-US" sz="3200" dirty="0" err="1"/>
              <a:t>berjuta</a:t>
            </a:r>
            <a:r>
              <a:rPr lang="en-US" sz="3200" dirty="0"/>
              <a:t> </a:t>
            </a:r>
            <a:r>
              <a:rPr lang="en-US" sz="3200" dirty="0" err="1"/>
              <a:t>sel</a:t>
            </a:r>
            <a:r>
              <a:rPr lang="en-US" sz="3200" dirty="0"/>
              <a:t> alveoli, </a:t>
            </a:r>
            <a:r>
              <a:rPr lang="en-US" sz="3200" dirty="0" err="1"/>
              <a:t>ditempat</a:t>
            </a:r>
            <a:r>
              <a:rPr lang="en-US" sz="3200" dirty="0"/>
              <a:t> </a:t>
            </a:r>
            <a:r>
              <a:rPr lang="en-US" sz="3200" i="1" dirty="0"/>
              <a:t>Respiratory Airways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A0B0E8-CAF1-A28D-F6B6-FEC5A7E81AB5}"/>
              </a:ext>
            </a:extLst>
          </p:cNvPr>
          <p:cNvSpPr txBox="1"/>
          <p:nvPr/>
        </p:nvSpPr>
        <p:spPr>
          <a:xfrm>
            <a:off x="1166924" y="4238576"/>
            <a:ext cx="940183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 err="1"/>
              <a:t>Inilah</a:t>
            </a:r>
            <a:r>
              <a:rPr lang="en-US" sz="3200" dirty="0"/>
              <a:t> </a:t>
            </a:r>
            <a:r>
              <a:rPr lang="en-US" sz="3200" dirty="0" err="1"/>
              <a:t>tempat</a:t>
            </a:r>
            <a:r>
              <a:rPr lang="en-US" sz="3200" dirty="0"/>
              <a:t> </a:t>
            </a:r>
            <a:r>
              <a:rPr lang="en-US" sz="3200" dirty="0" err="1"/>
              <a:t>pertukaran</a:t>
            </a:r>
            <a:r>
              <a:rPr lang="en-US" sz="3200" dirty="0"/>
              <a:t> gas </a:t>
            </a:r>
            <a:r>
              <a:rPr lang="en-US" sz="3200" dirty="0" err="1"/>
              <a:t>terjadi</a:t>
            </a:r>
            <a:r>
              <a:rPr lang="en-US" sz="3200" dirty="0"/>
              <a:t>,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tahu</a:t>
            </a:r>
            <a:r>
              <a:rPr lang="en-US" sz="3200" dirty="0"/>
              <a:t> </a:t>
            </a:r>
            <a:r>
              <a:rPr lang="en-US" sz="3200" dirty="0" err="1"/>
              <a:t>bahwa</a:t>
            </a:r>
            <a:r>
              <a:rPr lang="en-US" sz="3200" dirty="0"/>
              <a:t> </a:t>
            </a:r>
            <a:r>
              <a:rPr lang="en-US" sz="3200" dirty="0" err="1"/>
              <a:t>bernapas</a:t>
            </a:r>
            <a:r>
              <a:rPr lang="en-US" sz="3200" dirty="0"/>
              <a:t> </a:t>
            </a:r>
            <a:r>
              <a:rPr lang="en-US" sz="3200" dirty="0" err="1"/>
              <a:t>membutuhkan</a:t>
            </a:r>
            <a:r>
              <a:rPr lang="en-US" sz="3200" dirty="0"/>
              <a:t> </a:t>
            </a:r>
            <a:r>
              <a:rPr lang="en-US" sz="3200" dirty="0" err="1"/>
              <a:t>oksigen</a:t>
            </a:r>
            <a:r>
              <a:rPr lang="en-US" sz="3200" dirty="0"/>
              <a:t> (O2) </a:t>
            </a:r>
            <a:r>
              <a:rPr lang="en-US" sz="3200" dirty="0" err="1"/>
              <a:t>keluar</a:t>
            </a:r>
            <a:r>
              <a:rPr lang="en-US" sz="3200" dirty="0"/>
              <a:t> </a:t>
            </a:r>
            <a:r>
              <a:rPr lang="en-US" sz="3200" dirty="0" err="1"/>
              <a:t>sudah</a:t>
            </a:r>
            <a:r>
              <a:rPr lang="en-US" sz="3200" dirty="0"/>
              <a:t> </a:t>
            </a:r>
            <a:r>
              <a:rPr lang="en-US" sz="3200" dirty="0" err="1"/>
              <a:t>berupa</a:t>
            </a:r>
            <a:r>
              <a:rPr lang="en-US" sz="3200" dirty="0"/>
              <a:t> </a:t>
            </a:r>
            <a:r>
              <a:rPr lang="en-US" sz="3200" dirty="0" err="1"/>
              <a:t>karbon</a:t>
            </a:r>
            <a:r>
              <a:rPr lang="en-US" sz="3200" dirty="0"/>
              <a:t> </a:t>
            </a:r>
            <a:r>
              <a:rPr lang="en-US" sz="3200" dirty="0" err="1"/>
              <a:t>dioksida</a:t>
            </a:r>
            <a:r>
              <a:rPr lang="en-US" sz="3200" dirty="0"/>
              <a:t> (CO2), pada </a:t>
            </a:r>
            <a:r>
              <a:rPr lang="en-US" sz="3200" dirty="0" err="1"/>
              <a:t>bagian</a:t>
            </a:r>
            <a:r>
              <a:rPr lang="en-US" sz="3200" dirty="0"/>
              <a:t> </a:t>
            </a:r>
            <a:r>
              <a:rPr lang="en-US" sz="3200" i="1" dirty="0"/>
              <a:t>Respiratory Airways</a:t>
            </a:r>
            <a:r>
              <a:rPr lang="en-US" sz="3200" dirty="0"/>
              <a:t> </a:t>
            </a:r>
            <a:r>
              <a:rPr lang="en-US" sz="3200" dirty="0" err="1"/>
              <a:t>ini</a:t>
            </a:r>
            <a:r>
              <a:rPr lang="en-US" sz="3200" dirty="0"/>
              <a:t> </a:t>
            </a:r>
            <a:r>
              <a:rPr lang="en-US" sz="3200" dirty="0" err="1"/>
              <a:t>berdinding</a:t>
            </a:r>
            <a:r>
              <a:rPr lang="en-US" sz="3200" dirty="0"/>
              <a:t> </a:t>
            </a:r>
            <a:r>
              <a:rPr lang="en-US" sz="3200" dirty="0" err="1"/>
              <a:t>amat</a:t>
            </a:r>
            <a:r>
              <a:rPr lang="en-US" sz="3200" dirty="0"/>
              <a:t> tipis dan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dilengkapi</a:t>
            </a:r>
            <a:r>
              <a:rPr lang="en-US" sz="3200" dirty="0"/>
              <a:t>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 err="1"/>
              <a:t>cilin</a:t>
            </a:r>
            <a:r>
              <a:rPr lang="en-US" sz="3200" dirty="0"/>
              <a:t> </a:t>
            </a:r>
            <a:r>
              <a:rPr lang="en-US" sz="3200" dirty="0" err="1"/>
              <a:t>maupun</a:t>
            </a:r>
            <a:r>
              <a:rPr lang="en-US" sz="3200" dirty="0"/>
              <a:t> mucus.</a:t>
            </a:r>
          </a:p>
        </p:txBody>
      </p:sp>
    </p:spTree>
    <p:extLst>
      <p:ext uri="{BB962C8B-B14F-4D97-AF65-F5344CB8AC3E}">
        <p14:creationId xmlns:p14="http://schemas.microsoft.com/office/powerpoint/2010/main" val="194125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8E37D-1373-477C-6F5A-52E94E6F07D5}"/>
              </a:ext>
            </a:extLst>
          </p:cNvPr>
          <p:cNvSpPr txBox="1"/>
          <p:nvPr/>
        </p:nvSpPr>
        <p:spPr>
          <a:xfrm>
            <a:off x="1189232" y="1421610"/>
            <a:ext cx="94436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3200" b="1" dirty="0"/>
              <a:t>2. Efek Pemaparan Bahan Kimia Melalui Pernapasan</a:t>
            </a:r>
            <a:endParaRPr lang="en-US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BAA25-9636-8D90-4C3A-554E38720C52}"/>
              </a:ext>
            </a:extLst>
          </p:cNvPr>
          <p:cNvSpPr txBox="1"/>
          <p:nvPr/>
        </p:nvSpPr>
        <p:spPr>
          <a:xfrm>
            <a:off x="1559102" y="1998543"/>
            <a:ext cx="93520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 err="1"/>
              <a:t>Fraksi</a:t>
            </a:r>
            <a:r>
              <a:rPr lang="en-US" sz="3200" dirty="0"/>
              <a:t> </a:t>
            </a:r>
            <a:r>
              <a:rPr lang="en-US" sz="3200" dirty="0" err="1"/>
              <a:t>bahan</a:t>
            </a:r>
            <a:r>
              <a:rPr lang="en-US" sz="3200" dirty="0"/>
              <a:t> </a:t>
            </a:r>
            <a:r>
              <a:rPr lang="en-US" sz="3200" dirty="0" err="1"/>
              <a:t>kimia</a:t>
            </a:r>
            <a:r>
              <a:rPr lang="en-US" sz="3200" dirty="0"/>
              <a:t> yang </a:t>
            </a:r>
            <a:r>
              <a:rPr lang="en-US" sz="3200" dirty="0" err="1"/>
              <a:t>mempunyai</a:t>
            </a:r>
            <a:r>
              <a:rPr lang="en-US" sz="3200" dirty="0"/>
              <a:t> </a:t>
            </a:r>
            <a:r>
              <a:rPr lang="en-US" sz="3200" dirty="0" err="1"/>
              <a:t>potensial</a:t>
            </a:r>
            <a:r>
              <a:rPr lang="en-US" sz="3200" dirty="0"/>
              <a:t> </a:t>
            </a:r>
            <a:r>
              <a:rPr lang="en-US" sz="3200" dirty="0" err="1"/>
              <a:t>terbesar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masuk</a:t>
            </a:r>
            <a:r>
              <a:rPr lang="en-US" sz="3200" dirty="0"/>
              <a:t> </a:t>
            </a:r>
            <a:r>
              <a:rPr lang="en-US" sz="3200" dirty="0" err="1"/>
              <a:t>ke</a:t>
            </a:r>
            <a:r>
              <a:rPr lang="en-US" sz="3200" dirty="0"/>
              <a:t> </a:t>
            </a:r>
            <a:r>
              <a:rPr lang="en-US" sz="3200" dirty="0" err="1"/>
              <a:t>saluran</a:t>
            </a:r>
            <a:r>
              <a:rPr lang="en-US" sz="3200" dirty="0"/>
              <a:t> </a:t>
            </a:r>
            <a:r>
              <a:rPr lang="en-US" sz="3200" dirty="0" err="1"/>
              <a:t>pernapasan</a:t>
            </a:r>
            <a:r>
              <a:rPr lang="en-US" sz="3200" dirty="0"/>
              <a:t>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jenis</a:t>
            </a:r>
            <a:r>
              <a:rPr lang="en-US" sz="3200" dirty="0"/>
              <a:t> gas dan </a:t>
            </a:r>
            <a:r>
              <a:rPr lang="en-US" sz="3200" dirty="0" err="1"/>
              <a:t>debu</a:t>
            </a:r>
            <a:r>
              <a:rPr lang="en-US" sz="32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CDA69-7A7C-B3E0-1262-BF01121F2B0D}"/>
              </a:ext>
            </a:extLst>
          </p:cNvPr>
          <p:cNvSpPr txBox="1"/>
          <p:nvPr/>
        </p:nvSpPr>
        <p:spPr>
          <a:xfrm>
            <a:off x="1523613" y="3865760"/>
            <a:ext cx="91447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a. </a:t>
            </a:r>
            <a:r>
              <a:rPr lang="en-US" sz="2800" b="1" dirty="0" err="1"/>
              <a:t>Pemaparan</a:t>
            </a:r>
            <a:r>
              <a:rPr lang="en-US" sz="2800" b="1" dirty="0"/>
              <a:t> </a:t>
            </a:r>
            <a:r>
              <a:rPr lang="en-US" sz="2800" b="1" dirty="0" err="1"/>
              <a:t>bahan</a:t>
            </a:r>
            <a:r>
              <a:rPr lang="en-US" sz="2800" b="1" dirty="0"/>
              <a:t> </a:t>
            </a:r>
            <a:r>
              <a:rPr lang="en-US" sz="2800" b="1" dirty="0" err="1"/>
              <a:t>kimia</a:t>
            </a:r>
            <a:r>
              <a:rPr lang="en-US" sz="2800" b="1" dirty="0"/>
              <a:t> </a:t>
            </a:r>
            <a:r>
              <a:rPr lang="en-US" sz="2800" b="1" dirty="0" err="1"/>
              <a:t>dalam</a:t>
            </a:r>
            <a:r>
              <a:rPr lang="en-US" sz="2800" b="1" dirty="0"/>
              <a:t> </a:t>
            </a:r>
            <a:r>
              <a:rPr lang="en-US" sz="2800" b="1" dirty="0" err="1"/>
              <a:t>bentuk</a:t>
            </a:r>
            <a:r>
              <a:rPr lang="en-US" sz="2800" b="1" dirty="0"/>
              <a:t> gas </a:t>
            </a:r>
            <a:r>
              <a:rPr lang="en-US" sz="2800" b="1" dirty="0" err="1"/>
              <a:t>Bahan</a:t>
            </a:r>
            <a:r>
              <a:rPr lang="en-US" sz="2800" b="1" dirty="0"/>
              <a:t> </a:t>
            </a:r>
            <a:r>
              <a:rPr lang="en-US" sz="2800" b="1" dirty="0" err="1"/>
              <a:t>kimia</a:t>
            </a:r>
            <a:r>
              <a:rPr lang="en-US" sz="2800" b="1" dirty="0"/>
              <a:t>    </a:t>
            </a:r>
            <a:r>
              <a:rPr lang="en-US" sz="2800" b="1" dirty="0" err="1"/>
              <a:t>berbentuk</a:t>
            </a:r>
            <a:r>
              <a:rPr lang="en-US" sz="2800" b="1" dirty="0"/>
              <a:t> gas </a:t>
            </a:r>
            <a:r>
              <a:rPr lang="en-US" sz="2800" b="1" dirty="0" err="1"/>
              <a:t>dapat</a:t>
            </a:r>
            <a:r>
              <a:rPr lang="en-US" sz="2800" b="1" dirty="0"/>
              <a:t> </a:t>
            </a:r>
            <a:r>
              <a:rPr lang="en-US" sz="2800" b="1" dirty="0" err="1"/>
              <a:t>kita</a:t>
            </a:r>
            <a:r>
              <a:rPr lang="en-US" sz="2800" b="1" dirty="0"/>
              <a:t> </a:t>
            </a:r>
            <a:r>
              <a:rPr lang="en-US" sz="2800" b="1" dirty="0" err="1"/>
              <a:t>kelompokkan</a:t>
            </a:r>
            <a:r>
              <a:rPr lang="en-US" sz="2800" b="1" dirty="0"/>
              <a:t> </a:t>
            </a:r>
            <a:r>
              <a:rPr lang="en-US" sz="2800" b="1" dirty="0" err="1"/>
              <a:t>menjadi</a:t>
            </a:r>
            <a:r>
              <a:rPr lang="en-US" sz="2800" b="1" dirty="0"/>
              <a:t> dua </a:t>
            </a:r>
            <a:r>
              <a:rPr lang="en-US" sz="2800" b="1" dirty="0" err="1"/>
              <a:t>yaitu</a:t>
            </a:r>
            <a:r>
              <a:rPr lang="en-US" sz="2800" b="1" dirty="0"/>
              <a:t>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F8EFBD-042A-6BC7-1454-B26BA8CDAA22}"/>
              </a:ext>
            </a:extLst>
          </p:cNvPr>
          <p:cNvSpPr txBox="1"/>
          <p:nvPr/>
        </p:nvSpPr>
        <p:spPr>
          <a:xfrm>
            <a:off x="1645142" y="5055816"/>
            <a:ext cx="994716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• Gas yang </a:t>
            </a:r>
            <a:r>
              <a:rPr lang="en-US" sz="2800" dirty="0" err="1"/>
              <a:t>larut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air, (mis. Karbon </a:t>
            </a:r>
            <a:r>
              <a:rPr lang="en-US" sz="2800" dirty="0" err="1"/>
              <a:t>dioksida</a:t>
            </a:r>
            <a:r>
              <a:rPr lang="en-US" sz="2800" dirty="0"/>
              <a:t>, </a:t>
            </a:r>
            <a:r>
              <a:rPr lang="en-US" sz="2800" dirty="0" err="1"/>
              <a:t>amoniak</a:t>
            </a:r>
            <a:r>
              <a:rPr lang="en-US" sz="2800" dirty="0"/>
              <a:t>, </a:t>
            </a:r>
            <a:r>
              <a:rPr lang="en-US" sz="2800" dirty="0" err="1"/>
              <a:t>Klorin</a:t>
            </a:r>
            <a:r>
              <a:rPr lang="en-US" sz="2800" dirty="0"/>
              <a:t> dan </a:t>
            </a:r>
            <a:r>
              <a:rPr lang="en-US" sz="2800" dirty="0" err="1"/>
              <a:t>oksigen</a:t>
            </a:r>
            <a:endParaRPr lang="en-US" sz="2800" dirty="0"/>
          </a:p>
          <a:p>
            <a:r>
              <a:rPr lang="en-US" sz="2800" dirty="0"/>
              <a:t>• Gas yang </a:t>
            </a:r>
            <a:r>
              <a:rPr lang="en-US" sz="2800" dirty="0" err="1"/>
              <a:t>larut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lemak</a:t>
            </a:r>
          </a:p>
        </p:txBody>
      </p:sp>
    </p:spTree>
    <p:extLst>
      <p:ext uri="{BB962C8B-B14F-4D97-AF65-F5344CB8AC3E}">
        <p14:creationId xmlns:p14="http://schemas.microsoft.com/office/powerpoint/2010/main" val="1660598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5906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FA7270-2536-4F1B-4A7A-3E4CD8003872}"/>
              </a:ext>
            </a:extLst>
          </p:cNvPr>
          <p:cNvSpPr txBox="1"/>
          <p:nvPr/>
        </p:nvSpPr>
        <p:spPr>
          <a:xfrm>
            <a:off x="1065943" y="1299695"/>
            <a:ext cx="72150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1" dirty="0"/>
              <a:t>b. Pemaparan bahan kimia berbentuk padat / debu</a:t>
            </a:r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1314F-6A1E-C81B-2AEE-66187636F438}"/>
              </a:ext>
            </a:extLst>
          </p:cNvPr>
          <p:cNvSpPr txBox="1"/>
          <p:nvPr/>
        </p:nvSpPr>
        <p:spPr>
          <a:xfrm>
            <a:off x="1336639" y="1976735"/>
            <a:ext cx="9721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Lokasi </a:t>
            </a:r>
            <a:r>
              <a:rPr lang="en-US" sz="2400" dirty="0" err="1"/>
              <a:t>penimbunan</a:t>
            </a:r>
            <a:r>
              <a:rPr lang="en-US" sz="2400" dirty="0"/>
              <a:t> dan </a:t>
            </a:r>
            <a:r>
              <a:rPr lang="en-US" sz="2400" dirty="0" err="1"/>
              <a:t>banyaknya</a:t>
            </a:r>
            <a:r>
              <a:rPr lang="en-US" sz="2400" dirty="0"/>
              <a:t> </a:t>
            </a:r>
            <a:r>
              <a:rPr lang="en-US" sz="2400" dirty="0" err="1"/>
              <a:t>partikel</a:t>
            </a:r>
            <a:r>
              <a:rPr lang="en-US" sz="2400" dirty="0"/>
              <a:t> </a:t>
            </a:r>
            <a:r>
              <a:rPr lang="en-US" sz="2400" dirty="0" err="1"/>
              <a:t>debu</a:t>
            </a:r>
            <a:r>
              <a:rPr lang="en-US" sz="2400" dirty="0"/>
              <a:t>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tertimbun</a:t>
            </a:r>
            <a:r>
              <a:rPr lang="en-US" sz="2400" dirty="0"/>
              <a:t> </a:t>
            </a:r>
            <a:r>
              <a:rPr lang="en-US" sz="2400" dirty="0" err="1"/>
              <a:t>didalam</a:t>
            </a:r>
            <a:r>
              <a:rPr lang="en-US" sz="2400" dirty="0"/>
              <a:t> </a:t>
            </a:r>
            <a:r>
              <a:rPr lang="en-US" sz="2400" dirty="0" err="1"/>
              <a:t>paru</a:t>
            </a:r>
            <a:r>
              <a:rPr lang="en-US" sz="2400" dirty="0"/>
              <a:t> – </a:t>
            </a:r>
            <a:r>
              <a:rPr lang="en-US" sz="2400" dirty="0" err="1"/>
              <a:t>paru</a:t>
            </a:r>
            <a:r>
              <a:rPr lang="en-US" sz="2400" dirty="0"/>
              <a:t> </a:t>
            </a:r>
            <a:r>
              <a:rPr lang="en-US" sz="2400" dirty="0" err="1"/>
              <a:t>dipengaruhi</a:t>
            </a:r>
            <a:r>
              <a:rPr lang="en-US" sz="2400" dirty="0"/>
              <a:t> oleh </a:t>
            </a:r>
            <a:r>
              <a:rPr lang="en-US" sz="2400" dirty="0" err="1"/>
              <a:t>anatomi</a:t>
            </a:r>
            <a:r>
              <a:rPr lang="en-US" sz="2400" dirty="0"/>
              <a:t> </a:t>
            </a:r>
            <a:r>
              <a:rPr lang="en-US" sz="2400" dirty="0" err="1"/>
              <a:t>pernapasan</a:t>
            </a:r>
            <a:r>
              <a:rPr lang="en-US" sz="2400" dirty="0"/>
              <a:t>, </a:t>
            </a:r>
            <a:r>
              <a:rPr lang="en-US" sz="2400" dirty="0" err="1"/>
              <a:t>ukuran</a:t>
            </a:r>
            <a:r>
              <a:rPr lang="en-US" sz="2400" dirty="0"/>
              <a:t> </a:t>
            </a:r>
            <a:r>
              <a:rPr lang="en-US" sz="2400" dirty="0" err="1"/>
              <a:t>partikel</a:t>
            </a:r>
            <a:r>
              <a:rPr lang="en-US" sz="2400" dirty="0"/>
              <a:t> dan </a:t>
            </a:r>
            <a:r>
              <a:rPr lang="en-US" sz="2400" dirty="0" err="1"/>
              <a:t>pola</a:t>
            </a:r>
            <a:r>
              <a:rPr lang="en-US" sz="2400" dirty="0"/>
              <a:t> </a:t>
            </a:r>
            <a:r>
              <a:rPr lang="en-US" sz="2400" dirty="0" err="1"/>
              <a:t>pernapasan</a:t>
            </a:r>
            <a:r>
              <a:rPr lang="en-US" sz="2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0A64A5-C264-73EE-4FF7-88CB4DC488C0}"/>
              </a:ext>
            </a:extLst>
          </p:cNvPr>
          <p:cNvSpPr txBox="1"/>
          <p:nvPr/>
        </p:nvSpPr>
        <p:spPr>
          <a:xfrm>
            <a:off x="1336640" y="3177064"/>
            <a:ext cx="972192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 err="1"/>
              <a:t>Ukuran</a:t>
            </a:r>
            <a:r>
              <a:rPr lang="en-US" sz="2400" dirty="0"/>
              <a:t> </a:t>
            </a:r>
            <a:r>
              <a:rPr lang="en-US" sz="2400" dirty="0" err="1"/>
              <a:t>partikel</a:t>
            </a:r>
            <a:r>
              <a:rPr lang="en-US" sz="2400" dirty="0"/>
              <a:t> sangat </a:t>
            </a:r>
            <a:r>
              <a:rPr lang="en-US" sz="2400" dirty="0" err="1"/>
              <a:t>berperan</a:t>
            </a:r>
            <a:r>
              <a:rPr lang="en-US" sz="2400" dirty="0"/>
              <a:t> pada proses </a:t>
            </a:r>
            <a:r>
              <a:rPr lang="en-US" sz="2400" dirty="0" err="1"/>
              <a:t>penimbunan</a:t>
            </a:r>
            <a:r>
              <a:rPr lang="en-US" sz="2400" dirty="0"/>
              <a:t> </a:t>
            </a:r>
            <a:r>
              <a:rPr lang="en-US" sz="2400" dirty="0" err="1"/>
              <a:t>partikel</a:t>
            </a:r>
            <a:r>
              <a:rPr lang="en-US" sz="2400" dirty="0"/>
              <a:t> di </a:t>
            </a:r>
            <a:r>
              <a:rPr lang="en-US" sz="2400" dirty="0" err="1"/>
              <a:t>paru-paru</a:t>
            </a:r>
            <a:r>
              <a:rPr lang="en-US" sz="2400" dirty="0"/>
              <a:t>. </a:t>
            </a:r>
            <a:r>
              <a:rPr lang="en-US" sz="2400" dirty="0" err="1"/>
              <a:t>Partikel</a:t>
            </a:r>
            <a:r>
              <a:rPr lang="en-US" sz="2400" dirty="0"/>
              <a:t> </a:t>
            </a:r>
            <a:r>
              <a:rPr lang="en-US" sz="2400" dirty="0" err="1"/>
              <a:t>debu</a:t>
            </a:r>
            <a:r>
              <a:rPr lang="en-US" sz="2400" dirty="0"/>
              <a:t> yang </a:t>
            </a:r>
            <a:r>
              <a:rPr lang="en-US" sz="2400" dirty="0" err="1"/>
              <a:t>berukuran</a:t>
            </a:r>
            <a:r>
              <a:rPr lang="en-US" sz="2400" dirty="0"/>
              <a:t> 20µ </a:t>
            </a:r>
            <a:r>
              <a:rPr lang="en-US" sz="2400" dirty="0" err="1"/>
              <a:t>keatas</a:t>
            </a:r>
            <a:r>
              <a:rPr lang="en-US" sz="2400" dirty="0"/>
              <a:t> </a:t>
            </a:r>
            <a:r>
              <a:rPr lang="en-US" sz="2400" dirty="0" err="1"/>
              <a:t>hampir</a:t>
            </a:r>
            <a:r>
              <a:rPr lang="en-US" sz="2400" dirty="0"/>
              <a:t> </a:t>
            </a:r>
            <a:r>
              <a:rPr lang="en-US" sz="2400" dirty="0" err="1"/>
              <a:t>semuanya</a:t>
            </a:r>
            <a:r>
              <a:rPr lang="en-US" sz="2400" dirty="0"/>
              <a:t> </a:t>
            </a:r>
            <a:r>
              <a:rPr lang="en-US" sz="2400" dirty="0" err="1"/>
              <a:t>terhambat</a:t>
            </a:r>
            <a:r>
              <a:rPr lang="en-US" sz="2400" dirty="0"/>
              <a:t> </a:t>
            </a:r>
            <a:r>
              <a:rPr lang="en-US" sz="2400" dirty="0" err="1"/>
              <a:t>dirongga</a:t>
            </a:r>
            <a:r>
              <a:rPr lang="en-US" sz="2400" dirty="0"/>
              <a:t> </a:t>
            </a:r>
            <a:r>
              <a:rPr lang="en-US" sz="2400" dirty="0" err="1"/>
              <a:t>hidung</a:t>
            </a:r>
            <a:r>
              <a:rPr lang="en-US" sz="2400" dirty="0"/>
              <a:t>, </a:t>
            </a:r>
            <a:r>
              <a:rPr lang="en-US" sz="2400" dirty="0" err="1"/>
              <a:t>partikel</a:t>
            </a:r>
            <a:r>
              <a:rPr lang="en-US" sz="2400" dirty="0"/>
              <a:t> </a:t>
            </a:r>
            <a:r>
              <a:rPr lang="en-US" sz="2400" dirty="0" err="1"/>
              <a:t>debu</a:t>
            </a:r>
            <a:r>
              <a:rPr lang="en-US" sz="2400" dirty="0"/>
              <a:t> yang </a:t>
            </a:r>
            <a:r>
              <a:rPr lang="en-US" sz="2400" dirty="0" err="1"/>
              <a:t>berukuran</a:t>
            </a:r>
            <a:r>
              <a:rPr lang="en-US" sz="2400" dirty="0"/>
              <a:t> 10µ </a:t>
            </a:r>
            <a:r>
              <a:rPr lang="en-US" sz="2400" dirty="0" err="1"/>
              <a:t>sampai</a:t>
            </a:r>
            <a:r>
              <a:rPr lang="en-US" sz="2400" dirty="0"/>
              <a:t> 20µ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masuk</a:t>
            </a:r>
            <a:r>
              <a:rPr lang="en-US" sz="2400" dirty="0"/>
              <a:t> </a:t>
            </a:r>
            <a:r>
              <a:rPr lang="en-US" sz="2400" dirty="0" err="1"/>
              <a:t>kedalam</a:t>
            </a:r>
            <a:r>
              <a:rPr lang="en-US" sz="2400" dirty="0"/>
              <a:t> </a:t>
            </a:r>
            <a:r>
              <a:rPr lang="en-US" sz="2400" dirty="0" err="1"/>
              <a:t>saluran</a:t>
            </a:r>
            <a:r>
              <a:rPr lang="en-US" sz="2400" dirty="0"/>
              <a:t> </a:t>
            </a:r>
            <a:r>
              <a:rPr lang="en-US" sz="2400" dirty="0" err="1"/>
              <a:t>pernapasan</a:t>
            </a:r>
            <a:r>
              <a:rPr lang="en-US" sz="2400" dirty="0"/>
              <a:t>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en-US" sz="2400" dirty="0"/>
              <a:t> dan </a:t>
            </a:r>
            <a:r>
              <a:rPr lang="en-US" sz="2400" dirty="0" err="1"/>
              <a:t>partikel</a:t>
            </a:r>
            <a:r>
              <a:rPr lang="en-US" sz="2400" dirty="0"/>
              <a:t> </a:t>
            </a:r>
            <a:r>
              <a:rPr lang="en-US" sz="2400" dirty="0" err="1"/>
              <a:t>debu</a:t>
            </a:r>
            <a:r>
              <a:rPr lang="en-US" sz="2400" dirty="0"/>
              <a:t> yang </a:t>
            </a:r>
            <a:r>
              <a:rPr lang="en-US" sz="2400" dirty="0" err="1"/>
              <a:t>berukuran</a:t>
            </a:r>
            <a:r>
              <a:rPr lang="en-US" sz="2400" dirty="0"/>
              <a:t> 3µsampai 10µ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berada</a:t>
            </a:r>
            <a:r>
              <a:rPr lang="en-US" sz="2400" dirty="0"/>
              <a:t> pada </a:t>
            </a:r>
            <a:r>
              <a:rPr lang="en-US" sz="2400" dirty="0" err="1"/>
              <a:t>saluran</a:t>
            </a:r>
            <a:r>
              <a:rPr lang="en-US" sz="2400" dirty="0"/>
              <a:t> </a:t>
            </a:r>
            <a:r>
              <a:rPr lang="en-US" sz="2400" dirty="0" err="1"/>
              <a:t>pernapasan</a:t>
            </a:r>
            <a:r>
              <a:rPr lang="en-US" sz="2400" dirty="0"/>
              <a:t>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bawah</a:t>
            </a:r>
            <a:r>
              <a:rPr lang="en-US" sz="2400" dirty="0"/>
              <a:t> </a:t>
            </a:r>
            <a:r>
              <a:rPr lang="en-US" sz="2400" dirty="0" err="1"/>
              <a:t>sedangkan</a:t>
            </a:r>
            <a:r>
              <a:rPr lang="en-US" sz="2400" dirty="0"/>
              <a:t> </a:t>
            </a:r>
            <a:r>
              <a:rPr lang="en-US" sz="2400" dirty="0" err="1"/>
              <a:t>partikel</a:t>
            </a:r>
            <a:r>
              <a:rPr lang="en-US" sz="2400" dirty="0"/>
              <a:t> </a:t>
            </a:r>
            <a:r>
              <a:rPr lang="en-US" sz="2400" dirty="0" err="1"/>
              <a:t>debu</a:t>
            </a:r>
            <a:r>
              <a:rPr lang="en-US" sz="2400" dirty="0"/>
              <a:t> yang </a:t>
            </a:r>
            <a:r>
              <a:rPr lang="en-US" sz="2400" dirty="0" err="1"/>
              <a:t>berukuran</a:t>
            </a:r>
            <a:r>
              <a:rPr lang="en-US" sz="2400" dirty="0"/>
              <a:t> 3 µ </a:t>
            </a:r>
            <a:r>
              <a:rPr lang="en-US" sz="2400" dirty="0" err="1"/>
              <a:t>kebawah</a:t>
            </a:r>
            <a:r>
              <a:rPr lang="en-US" sz="2400" dirty="0"/>
              <a:t> </a:t>
            </a:r>
            <a:r>
              <a:rPr lang="en-US" sz="2400" dirty="0" err="1"/>
              <a:t>mempunyai</a:t>
            </a:r>
            <a:r>
              <a:rPr lang="en-US" sz="2400" dirty="0"/>
              <a:t> </a:t>
            </a:r>
            <a:r>
              <a:rPr lang="en-US" sz="2400" dirty="0" err="1"/>
              <a:t>potensi</a:t>
            </a:r>
            <a:r>
              <a:rPr lang="en-US" sz="2400" dirty="0"/>
              <a:t> </a:t>
            </a:r>
            <a:r>
              <a:rPr lang="en-US" sz="2400" dirty="0" err="1"/>
              <a:t>terbesar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masuk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paru-paru</a:t>
            </a:r>
            <a:r>
              <a:rPr lang="en-US" sz="2400" dirty="0"/>
              <a:t> dan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menetap</a:t>
            </a:r>
            <a:r>
              <a:rPr lang="en-US" sz="2400" dirty="0"/>
              <a:t> </a:t>
            </a:r>
            <a:r>
              <a:rPr lang="en-US" sz="2400" dirty="0" err="1"/>
              <a:t>selama</a:t>
            </a:r>
            <a:r>
              <a:rPr lang="en-US" sz="2400" dirty="0"/>
              <a:t> </a:t>
            </a:r>
            <a:r>
              <a:rPr lang="en-US" sz="2400" dirty="0" err="1"/>
              <a:t>bertahun</a:t>
            </a:r>
            <a:r>
              <a:rPr lang="en-US" sz="2400" dirty="0"/>
              <a:t> – </a:t>
            </a:r>
            <a:r>
              <a:rPr lang="en-US" sz="2400" dirty="0" err="1"/>
              <a:t>tahun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diabsorbsi</a:t>
            </a:r>
            <a:r>
              <a:rPr lang="en-US" sz="2400" dirty="0"/>
              <a:t> oleh </a:t>
            </a:r>
            <a:r>
              <a:rPr lang="en-US" sz="2400" dirty="0" err="1"/>
              <a:t>cairan</a:t>
            </a:r>
            <a:r>
              <a:rPr lang="en-US" sz="2400" dirty="0"/>
              <a:t> </a:t>
            </a:r>
            <a:r>
              <a:rPr lang="en-US" sz="2400" dirty="0" err="1"/>
              <a:t>limfe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selanjutnya</a:t>
            </a:r>
            <a:r>
              <a:rPr lang="en-US" sz="2400" dirty="0"/>
              <a:t> </a:t>
            </a:r>
            <a:r>
              <a:rPr lang="en-US" sz="2400" dirty="0" err="1"/>
              <a:t>diteruskan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peredaran</a:t>
            </a:r>
            <a:r>
              <a:rPr lang="en-US" sz="2400" dirty="0"/>
              <a:t> </a:t>
            </a:r>
            <a:r>
              <a:rPr lang="en-US" sz="2400" dirty="0" err="1"/>
              <a:t>darah</a:t>
            </a:r>
            <a:r>
              <a:rPr lang="en-US" sz="2400" dirty="0"/>
              <a:t> dan </a:t>
            </a:r>
            <a:r>
              <a:rPr lang="en-US" sz="2400" dirty="0" err="1"/>
              <a:t>dikeluarkan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tubuh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728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C1218-55ED-E6DA-974F-E0EF6D1139DB}"/>
              </a:ext>
            </a:extLst>
          </p:cNvPr>
          <p:cNvSpPr txBox="1"/>
          <p:nvPr/>
        </p:nvSpPr>
        <p:spPr>
          <a:xfrm>
            <a:off x="1261926" y="1808519"/>
            <a:ext cx="972962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 err="1"/>
              <a:t>Partikel</a:t>
            </a:r>
            <a:r>
              <a:rPr lang="en-US" sz="2800" dirty="0"/>
              <a:t> </a:t>
            </a:r>
            <a:r>
              <a:rPr lang="en-US" sz="2800" dirty="0" err="1"/>
              <a:t>debu</a:t>
            </a:r>
            <a:r>
              <a:rPr lang="en-US" sz="2800" dirty="0"/>
              <a:t> yang </a:t>
            </a:r>
            <a:r>
              <a:rPr lang="en-US" sz="2800" dirty="0" err="1"/>
              <a:t>terdapat</a:t>
            </a:r>
            <a:r>
              <a:rPr lang="en-US" sz="2800" dirty="0"/>
              <a:t> di </a:t>
            </a:r>
            <a:r>
              <a:rPr lang="en-US" sz="2800" dirty="0" err="1"/>
              <a:t>bagian</a:t>
            </a:r>
            <a:r>
              <a:rPr lang="en-US" sz="2800" dirty="0"/>
              <a:t> </a:t>
            </a:r>
            <a:r>
              <a:rPr lang="en-US" sz="2800" dirty="0" err="1"/>
              <a:t>saluran</a:t>
            </a:r>
            <a:r>
              <a:rPr lang="en-US" sz="2800" dirty="0"/>
              <a:t> </a:t>
            </a:r>
            <a:r>
              <a:rPr lang="en-US" sz="2800" dirty="0" err="1"/>
              <a:t>pernapasan</a:t>
            </a:r>
            <a:r>
              <a:rPr lang="en-US" sz="2800" dirty="0"/>
              <a:t> yang </a:t>
            </a:r>
            <a:r>
              <a:rPr lang="en-US" sz="2800" dirty="0" err="1"/>
              <a:t>bercilia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dikeluarkan</a:t>
            </a:r>
            <a:r>
              <a:rPr lang="en-US" sz="2800" dirty="0"/>
              <a:t> </a:t>
            </a:r>
            <a:r>
              <a:rPr lang="en-US" sz="2800" dirty="0" err="1"/>
              <a:t>kembali</a:t>
            </a:r>
            <a:r>
              <a:rPr lang="en-US" sz="2800" dirty="0"/>
              <a:t> </a:t>
            </a:r>
            <a:r>
              <a:rPr lang="en-US" sz="2800" dirty="0" err="1"/>
              <a:t>melalui</a:t>
            </a:r>
            <a:r>
              <a:rPr lang="en-US" sz="2800" dirty="0"/>
              <a:t> Gerakan escalator dan </a:t>
            </a:r>
            <a:r>
              <a:rPr lang="en-US" sz="2800" dirty="0" err="1"/>
              <a:t>waktu</a:t>
            </a:r>
            <a:r>
              <a:rPr lang="en-US" sz="2800" dirty="0"/>
              <a:t> yang </a:t>
            </a:r>
            <a:r>
              <a:rPr lang="en-US" sz="2800" dirty="0" err="1"/>
              <a:t>diperlukan</a:t>
            </a:r>
            <a:r>
              <a:rPr lang="en-US" sz="2800" dirty="0"/>
              <a:t> </a:t>
            </a:r>
            <a:r>
              <a:rPr lang="en-US" sz="2800" dirty="0" err="1"/>
              <a:t>berkisar</a:t>
            </a:r>
            <a:r>
              <a:rPr lang="en-US" sz="2800" dirty="0"/>
              <a:t> </a:t>
            </a:r>
            <a:r>
              <a:rPr lang="en-US" sz="2800" dirty="0" err="1"/>
              <a:t>beberapa</a:t>
            </a:r>
            <a:r>
              <a:rPr lang="en-US" sz="2800" dirty="0"/>
              <a:t> </a:t>
            </a:r>
            <a:r>
              <a:rPr lang="en-US" sz="2800" dirty="0" err="1"/>
              <a:t>menit</a:t>
            </a:r>
            <a:r>
              <a:rPr lang="en-US" sz="2800" dirty="0"/>
              <a:t> </a:t>
            </a:r>
            <a:r>
              <a:rPr lang="en-US" sz="2800" dirty="0" err="1"/>
              <a:t>sampai</a:t>
            </a:r>
            <a:r>
              <a:rPr lang="en-US" sz="2800" dirty="0"/>
              <a:t> </a:t>
            </a:r>
            <a:r>
              <a:rPr lang="en-US" sz="2800" dirty="0" err="1"/>
              <a:t>beberapa</a:t>
            </a:r>
            <a:r>
              <a:rPr lang="en-US" sz="2800" dirty="0"/>
              <a:t> jam </a:t>
            </a:r>
            <a:r>
              <a:rPr lang="en-US" sz="2800" dirty="0" err="1"/>
              <a:t>melalui</a:t>
            </a:r>
            <a:r>
              <a:rPr lang="en-US" sz="2800" dirty="0"/>
              <a:t> </a:t>
            </a:r>
            <a:r>
              <a:rPr lang="en-US" sz="2800" dirty="0" err="1"/>
              <a:t>bersin</a:t>
            </a:r>
            <a:r>
              <a:rPr lang="en-US" sz="2800" dirty="0"/>
              <a:t>. </a:t>
            </a:r>
            <a:r>
              <a:rPr lang="en-US" sz="2800" dirty="0" err="1"/>
              <a:t>Sedangkan</a:t>
            </a:r>
            <a:r>
              <a:rPr lang="en-US" sz="2800" dirty="0"/>
              <a:t> </a:t>
            </a:r>
            <a:r>
              <a:rPr lang="en-US" sz="2800" dirty="0" err="1"/>
              <a:t>partikel</a:t>
            </a:r>
            <a:r>
              <a:rPr lang="en-US" sz="2800" dirty="0"/>
              <a:t> yang </a:t>
            </a:r>
            <a:r>
              <a:rPr lang="en-US" sz="2800" dirty="0" err="1"/>
              <a:t>menetap</a:t>
            </a:r>
            <a:r>
              <a:rPr lang="en-US" sz="2800" dirty="0"/>
              <a:t> di </a:t>
            </a:r>
            <a:r>
              <a:rPr lang="en-US" sz="2800" dirty="0" err="1"/>
              <a:t>paru-paru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menyebabkan</a:t>
            </a:r>
            <a:r>
              <a:rPr lang="en-US" sz="2800" dirty="0"/>
              <a:t> </a:t>
            </a:r>
            <a:r>
              <a:rPr lang="en-US" sz="2800" dirty="0" err="1"/>
              <a:t>penyakit</a:t>
            </a:r>
            <a:r>
              <a:rPr lang="en-US" sz="2800" dirty="0"/>
              <a:t> </a:t>
            </a:r>
            <a:r>
              <a:rPr lang="en-US" sz="2800" dirty="0" err="1"/>
              <a:t>kanker</a:t>
            </a:r>
            <a:r>
              <a:rPr lang="en-US" sz="2800" dirty="0"/>
              <a:t> </a:t>
            </a:r>
            <a:r>
              <a:rPr lang="en-US" sz="2800" dirty="0" err="1"/>
              <a:t>paru</a:t>
            </a:r>
            <a:r>
              <a:rPr lang="en-US" sz="2800" dirty="0"/>
              <a:t> </a:t>
            </a:r>
            <a:r>
              <a:rPr lang="en-US" sz="2800" dirty="0" err="1"/>
              <a:t>bila</a:t>
            </a:r>
            <a:r>
              <a:rPr lang="en-US" sz="2800" dirty="0"/>
              <a:t> </a:t>
            </a:r>
            <a:r>
              <a:rPr lang="en-US" sz="2800" dirty="0" err="1"/>
              <a:t>partikel</a:t>
            </a:r>
            <a:r>
              <a:rPr lang="en-US" sz="2800" dirty="0"/>
              <a:t> </a:t>
            </a:r>
            <a:r>
              <a:rPr lang="en-US" sz="2800" dirty="0" err="1"/>
              <a:t>debu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termasuk</a:t>
            </a:r>
            <a:r>
              <a:rPr lang="en-US" sz="2800" dirty="0"/>
              <a:t> </a:t>
            </a:r>
            <a:r>
              <a:rPr lang="en-US" sz="2800" dirty="0" err="1"/>
              <a:t>golongan</a:t>
            </a:r>
            <a:r>
              <a:rPr lang="en-US" sz="2800" dirty="0"/>
              <a:t> </a:t>
            </a:r>
            <a:r>
              <a:rPr lang="en-US" sz="2800" dirty="0" err="1"/>
              <a:t>debu</a:t>
            </a:r>
            <a:r>
              <a:rPr lang="en-US" sz="2800" dirty="0"/>
              <a:t> carcinogenic, </a:t>
            </a:r>
            <a:r>
              <a:rPr lang="en-US" sz="2800" dirty="0" err="1"/>
              <a:t>yaitu</a:t>
            </a:r>
            <a:r>
              <a:rPr lang="en-US" sz="2800" dirty="0"/>
              <a:t> </a:t>
            </a:r>
            <a:r>
              <a:rPr lang="en-US" sz="2800" dirty="0" err="1"/>
              <a:t>debu</a:t>
            </a:r>
            <a:r>
              <a:rPr lang="en-US" sz="2800" dirty="0"/>
              <a:t> yang </a:t>
            </a:r>
            <a:r>
              <a:rPr lang="en-US" sz="2800" dirty="0" err="1"/>
              <a:t>berpotensi</a:t>
            </a:r>
            <a:r>
              <a:rPr lang="en-US" sz="2800" dirty="0"/>
              <a:t> </a:t>
            </a:r>
            <a:r>
              <a:rPr lang="en-US" sz="2800" dirty="0" err="1"/>
              <a:t>menimbulkan</a:t>
            </a:r>
            <a:r>
              <a:rPr lang="en-US" sz="2800" dirty="0"/>
              <a:t> </a:t>
            </a:r>
            <a:r>
              <a:rPr lang="en-US" sz="2800" dirty="0" err="1"/>
              <a:t>penyakit</a:t>
            </a:r>
            <a:r>
              <a:rPr lang="en-US" sz="2800" dirty="0"/>
              <a:t> </a:t>
            </a:r>
            <a:r>
              <a:rPr lang="en-US" sz="2800" dirty="0" err="1"/>
              <a:t>kanker</a:t>
            </a:r>
            <a:r>
              <a:rPr lang="en-US" sz="2800" dirty="0"/>
              <a:t> </a:t>
            </a:r>
            <a:r>
              <a:rPr lang="en-US" sz="2800" dirty="0" err="1"/>
              <a:t>seperti</a:t>
            </a:r>
            <a:r>
              <a:rPr lang="en-US" sz="2800" dirty="0"/>
              <a:t> : </a:t>
            </a:r>
            <a:r>
              <a:rPr lang="en-US" sz="2800" dirty="0" err="1"/>
              <a:t>asbes</a:t>
            </a:r>
            <a:r>
              <a:rPr lang="en-US" sz="2800" dirty="0"/>
              <a:t>, silica, </a:t>
            </a:r>
            <a:r>
              <a:rPr lang="en-US" sz="2800" dirty="0" err="1"/>
              <a:t>besi</a:t>
            </a:r>
            <a:r>
              <a:rPr lang="en-US" sz="2800" dirty="0"/>
              <a:t>, </a:t>
            </a:r>
            <a:r>
              <a:rPr lang="en-US" sz="2800" dirty="0" err="1"/>
              <a:t>kapas</a:t>
            </a:r>
            <a:r>
              <a:rPr lang="en-US" sz="2800" dirty="0"/>
              <a:t> </a:t>
            </a:r>
            <a:r>
              <a:rPr lang="en-US" sz="2800" dirty="0" err="1"/>
              <a:t>dll</a:t>
            </a:r>
            <a:r>
              <a:rPr lang="en-US" sz="2800" dirty="0"/>
              <a:t>. Hal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ratarata</a:t>
            </a:r>
            <a:r>
              <a:rPr lang="en-US" sz="2800" dirty="0"/>
              <a:t> </a:t>
            </a:r>
            <a:r>
              <a:rPr lang="en-US" sz="2800" dirty="0" err="1"/>
              <a:t>timbul</a:t>
            </a:r>
            <a:r>
              <a:rPr lang="en-US" sz="2800" dirty="0"/>
              <a:t> </a:t>
            </a:r>
            <a:r>
              <a:rPr lang="en-US" sz="2800" dirty="0" err="1"/>
              <a:t>setelah</a:t>
            </a:r>
            <a:r>
              <a:rPr lang="en-US" sz="2800" dirty="0"/>
              <a:t> 10 </a:t>
            </a:r>
            <a:r>
              <a:rPr lang="en-US" sz="2800" dirty="0" err="1"/>
              <a:t>tahun</a:t>
            </a:r>
            <a:r>
              <a:rPr lang="en-US" sz="2800" dirty="0"/>
              <a:t> </a:t>
            </a:r>
            <a:r>
              <a:rPr lang="en-US" sz="2800" dirty="0" err="1"/>
              <a:t>keatas</a:t>
            </a:r>
            <a:r>
              <a:rPr lang="en-US" sz="2800" dirty="0"/>
              <a:t> </a:t>
            </a:r>
            <a:r>
              <a:rPr lang="en-US" sz="2800" dirty="0" err="1"/>
              <a:t>dikarenakan</a:t>
            </a:r>
            <a:r>
              <a:rPr lang="en-US" sz="2800" dirty="0"/>
              <a:t> </a:t>
            </a:r>
            <a:r>
              <a:rPr lang="en-US" sz="2800" dirty="0" err="1"/>
              <a:t>ternyata</a:t>
            </a:r>
            <a:r>
              <a:rPr lang="en-US" sz="2800" dirty="0"/>
              <a:t> </a:t>
            </a:r>
            <a:r>
              <a:rPr lang="en-US" sz="2800" dirty="0" err="1"/>
              <a:t>luas</a:t>
            </a:r>
            <a:r>
              <a:rPr lang="en-US" sz="2800" dirty="0"/>
              <a:t> </a:t>
            </a:r>
            <a:r>
              <a:rPr lang="en-US" sz="2800" dirty="0" err="1"/>
              <a:t>permukaan</a:t>
            </a:r>
            <a:r>
              <a:rPr lang="en-US" sz="2800" dirty="0"/>
              <a:t> </a:t>
            </a:r>
            <a:r>
              <a:rPr lang="en-US" sz="2800" dirty="0" err="1"/>
              <a:t>paru-paru</a:t>
            </a:r>
            <a:r>
              <a:rPr lang="en-US" sz="2800" dirty="0"/>
              <a:t> </a:t>
            </a:r>
            <a:r>
              <a:rPr lang="en-US" sz="2800" dirty="0" err="1"/>
              <a:t>kita</a:t>
            </a:r>
            <a:r>
              <a:rPr lang="en-US" sz="2800" dirty="0"/>
              <a:t> sangat </a:t>
            </a:r>
            <a:r>
              <a:rPr lang="en-US" sz="2800" dirty="0" err="1"/>
              <a:t>luas</a:t>
            </a:r>
            <a:r>
              <a:rPr lang="en-US" sz="2800" dirty="0"/>
              <a:t> </a:t>
            </a:r>
            <a:r>
              <a:rPr lang="en-US" sz="2800" dirty="0" err="1"/>
              <a:t>yaitu</a:t>
            </a:r>
            <a:r>
              <a:rPr lang="en-US" sz="2800" dirty="0"/>
              <a:t> </a:t>
            </a:r>
            <a:r>
              <a:rPr lang="en-US" sz="2800" dirty="0" err="1"/>
              <a:t>sekitar</a:t>
            </a:r>
            <a:r>
              <a:rPr lang="en-US" sz="2800" dirty="0"/>
              <a:t> 700 ft2 </a:t>
            </a:r>
            <a:r>
              <a:rPr lang="en-US" sz="2800" dirty="0" err="1"/>
              <a:t>sampai</a:t>
            </a:r>
            <a:r>
              <a:rPr lang="en-US" sz="2800" dirty="0"/>
              <a:t> 1100ft2</a:t>
            </a:r>
          </a:p>
          <a:p>
            <a:pPr algn="just"/>
            <a:r>
              <a:rPr lang="en-US" sz="280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6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7" y="-1142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93279-B729-D9EE-FF6C-99806A5BA090}"/>
              </a:ext>
            </a:extLst>
          </p:cNvPr>
          <p:cNvSpPr txBox="1"/>
          <p:nvPr/>
        </p:nvSpPr>
        <p:spPr>
          <a:xfrm>
            <a:off x="2116476" y="1292838"/>
            <a:ext cx="8650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ALAT PELINDUNG PERNAPASAN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687C5-D493-1B0D-E695-04533451D336}"/>
              </a:ext>
            </a:extLst>
          </p:cNvPr>
          <p:cNvSpPr txBox="1"/>
          <p:nvPr/>
        </p:nvSpPr>
        <p:spPr>
          <a:xfrm>
            <a:off x="1148136" y="2577304"/>
            <a:ext cx="6200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A. Alat </a:t>
            </a:r>
            <a:r>
              <a:rPr lang="en-US" sz="3600" b="1" dirty="0" err="1"/>
              <a:t>Pelindung</a:t>
            </a:r>
            <a:r>
              <a:rPr lang="en-US" sz="3600" b="1" dirty="0"/>
              <a:t> </a:t>
            </a:r>
            <a:r>
              <a:rPr lang="en-US" sz="3600" b="1" dirty="0" err="1"/>
              <a:t>Pernapasan</a:t>
            </a:r>
            <a:endParaRPr lang="en-US" sz="3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1D8B44-CB83-CC1A-CB9D-D9589F2FB317}"/>
              </a:ext>
            </a:extLst>
          </p:cNvPr>
          <p:cNvSpPr txBox="1"/>
          <p:nvPr/>
        </p:nvSpPr>
        <p:spPr>
          <a:xfrm>
            <a:off x="1148136" y="3621210"/>
            <a:ext cx="100555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memberikan</a:t>
            </a:r>
            <a:r>
              <a:rPr lang="en-US" sz="2800" dirty="0"/>
              <a:t> </a:t>
            </a:r>
            <a:r>
              <a:rPr lang="en-US" sz="2800" dirty="0" err="1"/>
              <a:t>perlindungan</a:t>
            </a:r>
            <a:r>
              <a:rPr lang="en-US" sz="2800" dirty="0"/>
              <a:t> </a:t>
            </a:r>
            <a:r>
              <a:rPr lang="en-US" sz="2800" dirty="0" err="1"/>
              <a:t>terhadap</a:t>
            </a:r>
            <a:r>
              <a:rPr lang="en-US" sz="2800" dirty="0"/>
              <a:t> </a:t>
            </a:r>
            <a:r>
              <a:rPr lang="en-US" sz="2800" dirty="0" err="1"/>
              <a:t>karyawan</a:t>
            </a:r>
            <a:r>
              <a:rPr lang="en-US" sz="2800" dirty="0"/>
              <a:t> yang </a:t>
            </a:r>
            <a:r>
              <a:rPr lang="en-US" sz="2800" dirty="0" err="1"/>
              <a:t>berada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sedang</a:t>
            </a:r>
            <a:r>
              <a:rPr lang="en-US" sz="2800" dirty="0"/>
              <a:t> </a:t>
            </a:r>
            <a:r>
              <a:rPr lang="en-US" sz="2800" dirty="0" err="1"/>
              <a:t>melakukan</a:t>
            </a:r>
            <a:r>
              <a:rPr lang="en-US" sz="2800" dirty="0"/>
              <a:t> </a:t>
            </a:r>
            <a:r>
              <a:rPr lang="en-US" sz="2800" dirty="0" err="1"/>
              <a:t>pekerjaan</a:t>
            </a:r>
            <a:r>
              <a:rPr lang="en-US" sz="2800" dirty="0"/>
              <a:t> yang </a:t>
            </a:r>
            <a:r>
              <a:rPr lang="en-US" sz="2800" dirty="0" err="1"/>
              <a:t>berhubungan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umber </a:t>
            </a:r>
            <a:r>
              <a:rPr lang="en-US" sz="2800" dirty="0" err="1"/>
              <a:t>bahaya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baik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waktu</a:t>
            </a:r>
            <a:r>
              <a:rPr lang="en-US" sz="2800" dirty="0"/>
              <a:t> </a:t>
            </a:r>
            <a:r>
              <a:rPr lang="en-US" sz="2800" dirty="0" err="1"/>
              <a:t>singkat</a:t>
            </a:r>
            <a:r>
              <a:rPr lang="en-US" sz="2800" dirty="0"/>
              <a:t> </a:t>
            </a:r>
            <a:r>
              <a:rPr lang="en-US" sz="2800" dirty="0" err="1"/>
              <a:t>maupun</a:t>
            </a:r>
            <a:r>
              <a:rPr lang="en-US" sz="2800" dirty="0"/>
              <a:t> lama, </a:t>
            </a:r>
            <a:r>
              <a:rPr lang="en-US" sz="2800" dirty="0" err="1"/>
              <a:t>harus</a:t>
            </a:r>
            <a:r>
              <a:rPr lang="en-US" sz="2800" dirty="0"/>
              <a:t> </a:t>
            </a:r>
            <a:r>
              <a:rPr lang="en-US" sz="2800" dirty="0" err="1"/>
              <a:t>disediakan</a:t>
            </a:r>
            <a:r>
              <a:rPr lang="en-US" sz="2800" dirty="0"/>
              <a:t> </a:t>
            </a:r>
            <a:r>
              <a:rPr lang="en-US" sz="2800" dirty="0" err="1"/>
              <a:t>alat</a:t>
            </a:r>
            <a:r>
              <a:rPr lang="en-US" sz="2800" dirty="0"/>
              <a:t> </a:t>
            </a:r>
            <a:r>
              <a:rPr lang="en-US" sz="2800" dirty="0" err="1"/>
              <a:t>pelindung</a:t>
            </a:r>
            <a:r>
              <a:rPr lang="en-US" sz="2800" dirty="0"/>
              <a:t> </a:t>
            </a:r>
            <a:r>
              <a:rPr lang="en-US" sz="2800" dirty="0" err="1"/>
              <a:t>pernapasan</a:t>
            </a:r>
            <a:r>
              <a:rPr lang="en-US" sz="2800" dirty="0"/>
              <a:t> yang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resiko</a:t>
            </a:r>
            <a:r>
              <a:rPr lang="en-US" sz="2800" dirty="0"/>
              <a:t> </a:t>
            </a:r>
            <a:r>
              <a:rPr lang="en-US" sz="2800" dirty="0" err="1"/>
              <a:t>bahayanya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05364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E84D7-0478-C03A-DF71-65E58362A900}"/>
              </a:ext>
            </a:extLst>
          </p:cNvPr>
          <p:cNvSpPr txBox="1"/>
          <p:nvPr/>
        </p:nvSpPr>
        <p:spPr>
          <a:xfrm>
            <a:off x="1775764" y="1645969"/>
            <a:ext cx="87433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Pada </a:t>
            </a:r>
            <a:r>
              <a:rPr lang="en-US" sz="3200" dirty="0" err="1"/>
              <a:t>dasarnya</a:t>
            </a:r>
            <a:r>
              <a:rPr lang="en-US" sz="3200" dirty="0"/>
              <a:t> </a:t>
            </a:r>
            <a:r>
              <a:rPr lang="en-US" sz="3200" dirty="0" err="1"/>
              <a:t>alat</a:t>
            </a:r>
            <a:r>
              <a:rPr lang="en-US" sz="3200" dirty="0"/>
              <a:t> </a:t>
            </a:r>
            <a:r>
              <a:rPr lang="en-US" sz="3200" dirty="0" err="1"/>
              <a:t>pelindung</a:t>
            </a:r>
            <a:r>
              <a:rPr lang="en-US" sz="3200" dirty="0"/>
              <a:t> </a:t>
            </a:r>
            <a:r>
              <a:rPr lang="en-US" sz="3200" dirty="0" err="1"/>
              <a:t>pernapasan</a:t>
            </a:r>
            <a:r>
              <a:rPr lang="en-US" sz="3200" dirty="0"/>
              <a:t> </a:t>
            </a:r>
            <a:r>
              <a:rPr lang="en-US" sz="3200" dirty="0" err="1"/>
              <a:t>dibagi</a:t>
            </a:r>
            <a:r>
              <a:rPr lang="en-US" sz="3200" dirty="0"/>
              <a:t> </a:t>
            </a:r>
            <a:r>
              <a:rPr lang="en-US" sz="3200" dirty="0" err="1"/>
              <a:t>menjadi</a:t>
            </a:r>
            <a:r>
              <a:rPr lang="en-US" sz="3200" dirty="0"/>
              <a:t> dua </a:t>
            </a:r>
            <a:r>
              <a:rPr lang="en-US" sz="3200" dirty="0" err="1"/>
              <a:t>golongan</a:t>
            </a:r>
            <a:r>
              <a:rPr lang="en-US" sz="3200" dirty="0"/>
              <a:t> </a:t>
            </a:r>
            <a:r>
              <a:rPr lang="en-US" sz="3200" dirty="0" err="1"/>
              <a:t>yaitu</a:t>
            </a:r>
            <a:r>
              <a:rPr lang="en-US" sz="3200" dirty="0"/>
              <a:t>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E039A-260C-8F96-C167-EAD7D0BD673E}"/>
              </a:ext>
            </a:extLst>
          </p:cNvPr>
          <p:cNvSpPr txBox="1"/>
          <p:nvPr/>
        </p:nvSpPr>
        <p:spPr>
          <a:xfrm>
            <a:off x="2257746" y="2837382"/>
            <a:ext cx="62004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• </a:t>
            </a:r>
            <a:r>
              <a:rPr lang="en-US" sz="2800" i="1" dirty="0"/>
              <a:t>Air Purifying Respirator</a:t>
            </a:r>
          </a:p>
          <a:p>
            <a:r>
              <a:rPr lang="en-US" sz="2800" i="1" dirty="0"/>
              <a:t>• Air Supplying Respirator </a:t>
            </a:r>
          </a:p>
        </p:txBody>
      </p:sp>
    </p:spTree>
    <p:extLst>
      <p:ext uri="{BB962C8B-B14F-4D97-AF65-F5344CB8AC3E}">
        <p14:creationId xmlns:p14="http://schemas.microsoft.com/office/powerpoint/2010/main" val="676913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3243B-9E11-8186-7245-D6BDF6174E9C}"/>
              </a:ext>
            </a:extLst>
          </p:cNvPr>
          <p:cNvSpPr txBox="1"/>
          <p:nvPr/>
        </p:nvSpPr>
        <p:spPr>
          <a:xfrm>
            <a:off x="1651569" y="1128747"/>
            <a:ext cx="6200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1) </a:t>
            </a:r>
            <a:r>
              <a:rPr lang="en-US" sz="3200" b="1" i="1" dirty="0"/>
              <a:t>Air Purifying Respirator</a:t>
            </a:r>
            <a:endParaRPr lang="en-US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B6CF5E-C702-E582-E2AA-A35A01CDBD1A}"/>
              </a:ext>
            </a:extLst>
          </p:cNvPr>
          <p:cNvSpPr txBox="1"/>
          <p:nvPr/>
        </p:nvSpPr>
        <p:spPr>
          <a:xfrm>
            <a:off x="821933" y="1874318"/>
            <a:ext cx="725483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Alat </a:t>
            </a:r>
            <a:r>
              <a:rPr lang="en-US" sz="2800" dirty="0" err="1"/>
              <a:t>pelindung</a:t>
            </a:r>
            <a:r>
              <a:rPr lang="en-US" sz="2800" dirty="0"/>
              <a:t> </a:t>
            </a:r>
            <a:r>
              <a:rPr lang="en-US" sz="2800" dirty="0" err="1"/>
              <a:t>pernapasan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bekerja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memurnikan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menyaring</a:t>
            </a:r>
            <a:r>
              <a:rPr lang="en-US" sz="2800" dirty="0"/>
              <a:t> </a:t>
            </a:r>
            <a:r>
              <a:rPr lang="en-US" sz="2800" dirty="0" err="1"/>
              <a:t>bahan</a:t>
            </a:r>
            <a:r>
              <a:rPr lang="en-US" sz="2800" dirty="0"/>
              <a:t> </a:t>
            </a:r>
            <a:r>
              <a:rPr lang="en-US" sz="2800" dirty="0" err="1"/>
              <a:t>kimia</a:t>
            </a:r>
            <a:r>
              <a:rPr lang="en-US" sz="2800" dirty="0"/>
              <a:t> yang </a:t>
            </a:r>
            <a:r>
              <a:rPr lang="en-US" sz="2800" dirty="0" err="1"/>
              <a:t>ada</a:t>
            </a:r>
            <a:r>
              <a:rPr lang="en-US" sz="2800" dirty="0"/>
              <a:t> di </a:t>
            </a:r>
            <a:r>
              <a:rPr lang="en-US" sz="2800" dirty="0" err="1"/>
              <a:t>udara.jenis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berdasarkan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kerjanya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dibedakan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DA9B4-BDDE-D831-150C-F86ED8BB277E}"/>
              </a:ext>
            </a:extLst>
          </p:cNvPr>
          <p:cNvSpPr txBox="1"/>
          <p:nvPr/>
        </p:nvSpPr>
        <p:spPr>
          <a:xfrm>
            <a:off x="728178" y="3821078"/>
            <a:ext cx="825271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/>
              <a:t>• Chemical Respirator (gas – gas </a:t>
            </a:r>
            <a:r>
              <a:rPr lang="en-US" sz="2800" i="1" dirty="0" err="1"/>
              <a:t>beracun</a:t>
            </a:r>
            <a:r>
              <a:rPr lang="en-US" sz="2800" i="1" dirty="0"/>
              <a:t>)</a:t>
            </a:r>
          </a:p>
          <a:p>
            <a:r>
              <a:rPr lang="en-US" sz="2800" i="1" dirty="0"/>
              <a:t>• Mechanical Respirator (</a:t>
            </a:r>
            <a:r>
              <a:rPr lang="en-US" sz="2800" i="1" dirty="0" err="1"/>
              <a:t>debu</a:t>
            </a:r>
            <a:r>
              <a:rPr lang="en-US" sz="2800" i="1" dirty="0"/>
              <a:t> – </a:t>
            </a:r>
            <a:r>
              <a:rPr lang="en-US" sz="2800" i="1" dirty="0" err="1"/>
              <a:t>debu</a:t>
            </a:r>
            <a:r>
              <a:rPr lang="en-US" sz="2800" i="1" dirty="0"/>
              <a:t> </a:t>
            </a:r>
            <a:r>
              <a:rPr lang="en-US" sz="2800" i="1" dirty="0" err="1"/>
              <a:t>berbahaya</a:t>
            </a:r>
            <a:r>
              <a:rPr lang="en-US" sz="2800" i="1" dirty="0"/>
              <a:t>)</a:t>
            </a:r>
          </a:p>
          <a:p>
            <a:r>
              <a:rPr lang="en-US" sz="2800" i="1" dirty="0"/>
              <a:t>• </a:t>
            </a:r>
            <a:r>
              <a:rPr lang="en-US" sz="2800" i="1" dirty="0" err="1"/>
              <a:t>Kombinasi</a:t>
            </a:r>
            <a:r>
              <a:rPr lang="en-US" sz="2800" i="1" dirty="0"/>
              <a:t> Chemical &amp; Mechanical Respirator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CFAFD7-A2E0-1A66-8A9B-7560EDB357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64469" y="2002729"/>
            <a:ext cx="3276174" cy="27476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AECD3D-C7A0-B11F-6382-218C9E07696E}"/>
              </a:ext>
            </a:extLst>
          </p:cNvPr>
          <p:cNvSpPr txBox="1"/>
          <p:nvPr/>
        </p:nvSpPr>
        <p:spPr>
          <a:xfrm>
            <a:off x="2987474" y="5280588"/>
            <a:ext cx="86048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Syarat</a:t>
            </a:r>
            <a:r>
              <a:rPr lang="en-US" sz="2800" dirty="0"/>
              <a:t> </a:t>
            </a:r>
            <a:r>
              <a:rPr lang="en-US" sz="2800" dirty="0" err="1"/>
              <a:t>penggunaan</a:t>
            </a:r>
            <a:r>
              <a:rPr lang="en-US" sz="2800" dirty="0"/>
              <a:t> Purifying Respirator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:</a:t>
            </a:r>
          </a:p>
          <a:p>
            <a:r>
              <a:rPr lang="en-US" sz="2800" dirty="0"/>
              <a:t>• Kadar </a:t>
            </a:r>
            <a:r>
              <a:rPr lang="en-US" sz="2800" dirty="0" err="1"/>
              <a:t>oksigen</a:t>
            </a:r>
            <a:r>
              <a:rPr lang="en-US" sz="2800" dirty="0"/>
              <a:t> (O2) </a:t>
            </a:r>
            <a:r>
              <a:rPr lang="en-US" sz="2800" dirty="0" err="1"/>
              <a:t>harus</a:t>
            </a:r>
            <a:r>
              <a:rPr lang="en-US" sz="2800" dirty="0"/>
              <a:t> </a:t>
            </a:r>
            <a:r>
              <a:rPr lang="en-US" sz="2800" dirty="0" err="1"/>
              <a:t>diatas</a:t>
            </a:r>
            <a:r>
              <a:rPr lang="en-US" sz="2800" dirty="0"/>
              <a:t> 19,5 %</a:t>
            </a:r>
          </a:p>
          <a:p>
            <a:r>
              <a:rPr lang="en-US" sz="2800" dirty="0"/>
              <a:t>• </a:t>
            </a:r>
            <a:r>
              <a:rPr lang="en-US" sz="2800" dirty="0" err="1"/>
              <a:t>Dianjurkan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toksisitas</a:t>
            </a:r>
            <a:r>
              <a:rPr lang="en-US" sz="2800" dirty="0"/>
              <a:t> </a:t>
            </a:r>
            <a:r>
              <a:rPr lang="en-US" sz="2800" dirty="0" err="1"/>
              <a:t>rendah</a:t>
            </a:r>
            <a:r>
              <a:rPr lang="en-US" sz="2800" dirty="0"/>
              <a:t> dan </a:t>
            </a:r>
            <a:r>
              <a:rPr lang="en-US" sz="2800" dirty="0" err="1"/>
              <a:t>sedang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54022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A789B8-87BE-10A2-1CFF-591EB6F7B717}"/>
              </a:ext>
            </a:extLst>
          </p:cNvPr>
          <p:cNvSpPr txBox="1"/>
          <p:nvPr/>
        </p:nvSpPr>
        <p:spPr>
          <a:xfrm>
            <a:off x="1949521" y="1068618"/>
            <a:ext cx="6200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2) </a:t>
            </a:r>
            <a:r>
              <a:rPr lang="en-US" sz="3200" b="1" i="1" dirty="0"/>
              <a:t>Air </a:t>
            </a:r>
            <a:r>
              <a:rPr lang="en-US" sz="3200" b="1" i="1" dirty="0" err="1"/>
              <a:t>Suppliying</a:t>
            </a:r>
            <a:r>
              <a:rPr lang="en-US" sz="3200" b="1" i="1" dirty="0"/>
              <a:t> Respirator</a:t>
            </a:r>
            <a:endParaRPr lang="en-US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BB2A3-A85B-796E-D2CB-1D45450E0A4B}"/>
              </a:ext>
            </a:extLst>
          </p:cNvPr>
          <p:cNvSpPr txBox="1"/>
          <p:nvPr/>
        </p:nvSpPr>
        <p:spPr>
          <a:xfrm>
            <a:off x="1311019" y="1776343"/>
            <a:ext cx="977316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 err="1"/>
              <a:t>Berbeda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air </a:t>
            </a:r>
            <a:r>
              <a:rPr lang="en-US" sz="2800" i="1" dirty="0"/>
              <a:t>purifying respirator</a:t>
            </a:r>
            <a:r>
              <a:rPr lang="en-US" sz="2800" dirty="0"/>
              <a:t>, </a:t>
            </a:r>
            <a:r>
              <a:rPr lang="en-US" sz="2800" dirty="0" err="1"/>
              <a:t>alat</a:t>
            </a:r>
            <a:r>
              <a:rPr lang="en-US" sz="2800" dirty="0"/>
              <a:t> </a:t>
            </a:r>
            <a:r>
              <a:rPr lang="en-US" sz="2800" dirty="0" err="1"/>
              <a:t>pelindung</a:t>
            </a:r>
            <a:r>
              <a:rPr lang="en-US" sz="2800" dirty="0"/>
              <a:t> </a:t>
            </a:r>
            <a:r>
              <a:rPr lang="en-US" sz="2800" dirty="0" err="1"/>
              <a:t>pernapasan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dilengkapi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filter / canister. Cara respirator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melindungi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 </a:t>
            </a:r>
            <a:r>
              <a:rPr lang="en-US" sz="2800" dirty="0" err="1"/>
              <a:t>pemakai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bahaya</a:t>
            </a:r>
            <a:r>
              <a:rPr lang="en-US" sz="2800" dirty="0"/>
              <a:t> </a:t>
            </a:r>
            <a:r>
              <a:rPr lang="en-US" sz="2800" dirty="0" err="1"/>
              <a:t>pemaparan</a:t>
            </a:r>
            <a:r>
              <a:rPr lang="en-US" sz="2800" dirty="0"/>
              <a:t> </a:t>
            </a:r>
            <a:r>
              <a:rPr lang="en-US" sz="2800" dirty="0" err="1"/>
              <a:t>bahan-bahan</a:t>
            </a:r>
            <a:r>
              <a:rPr lang="en-US" sz="2800" dirty="0"/>
              <a:t> </a:t>
            </a:r>
            <a:r>
              <a:rPr lang="en-US" sz="2800" dirty="0" err="1"/>
              <a:t>kimia</a:t>
            </a:r>
            <a:r>
              <a:rPr lang="en-US" sz="2800" dirty="0"/>
              <a:t> yang </a:t>
            </a:r>
            <a:r>
              <a:rPr lang="en-US" sz="2800" dirty="0" err="1"/>
              <a:t>toksik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sangat </a:t>
            </a:r>
            <a:r>
              <a:rPr lang="en-US" sz="2800" dirty="0" err="1"/>
              <a:t>toksik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bahaya</a:t>
            </a:r>
            <a:r>
              <a:rPr lang="en-US" sz="2800" dirty="0"/>
              <a:t> </a:t>
            </a:r>
            <a:r>
              <a:rPr lang="en-US" sz="2800" dirty="0" err="1"/>
              <a:t>kekurangan</a:t>
            </a:r>
            <a:r>
              <a:rPr lang="en-US" sz="2800" dirty="0"/>
              <a:t> </a:t>
            </a:r>
            <a:r>
              <a:rPr lang="en-US" sz="2800" dirty="0" err="1"/>
              <a:t>oksigen</a:t>
            </a:r>
            <a:r>
              <a:rPr lang="en-US" sz="2800" dirty="0"/>
              <a:t> (</a:t>
            </a:r>
            <a:r>
              <a:rPr lang="en-US" sz="2800" i="1" dirty="0" err="1"/>
              <a:t>defisiensi</a:t>
            </a:r>
            <a:r>
              <a:rPr lang="en-US" sz="2800" i="1" dirty="0"/>
              <a:t> </a:t>
            </a:r>
            <a:r>
              <a:rPr lang="en-US" sz="2800" i="1" dirty="0" err="1"/>
              <a:t>oksigen</a:t>
            </a:r>
            <a:r>
              <a:rPr lang="en-US" sz="2800" dirty="0"/>
              <a:t>)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mensuplai</a:t>
            </a:r>
            <a:r>
              <a:rPr lang="en-US" sz="2800" dirty="0"/>
              <a:t> </a:t>
            </a:r>
            <a:r>
              <a:rPr lang="en-US" sz="2800" dirty="0" err="1"/>
              <a:t>udara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oksigen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compressed air /oxygen (</a:t>
            </a:r>
            <a:r>
              <a:rPr lang="en-US" sz="2800" dirty="0" err="1"/>
              <a:t>silinder</a:t>
            </a:r>
            <a:r>
              <a:rPr lang="en-US" sz="2800" dirty="0"/>
              <a:t> / compressor) yang </a:t>
            </a:r>
            <a:r>
              <a:rPr lang="en-US" sz="2800" dirty="0" err="1"/>
              <a:t>dilengkapi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alat</a:t>
            </a:r>
            <a:r>
              <a:rPr lang="en-US" sz="2800" dirty="0"/>
              <a:t> </a:t>
            </a:r>
            <a:r>
              <a:rPr lang="en-US" sz="2800" dirty="0" err="1"/>
              <a:t>pengatur</a:t>
            </a:r>
            <a:r>
              <a:rPr lang="en-US" sz="2800" dirty="0"/>
              <a:t> </a:t>
            </a:r>
            <a:r>
              <a:rPr lang="en-US" sz="2800" dirty="0" err="1"/>
              <a:t>tekanan</a:t>
            </a:r>
            <a:r>
              <a:rPr lang="en-US" sz="2800" dirty="0"/>
              <a:t> / </a:t>
            </a:r>
            <a:r>
              <a:rPr lang="en-US" sz="2800" i="1" dirty="0"/>
              <a:t>pressure regulator.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2954C-9438-BEF0-4DB9-1FA51044E561}"/>
              </a:ext>
            </a:extLst>
          </p:cNvPr>
          <p:cNvSpPr txBox="1"/>
          <p:nvPr/>
        </p:nvSpPr>
        <p:spPr>
          <a:xfrm>
            <a:off x="1286714" y="5322989"/>
            <a:ext cx="95942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Secara</a:t>
            </a:r>
            <a:r>
              <a:rPr lang="en-US" sz="2800" dirty="0">
                <a:solidFill>
                  <a:srgbClr val="FF0000"/>
                </a:solidFill>
              </a:rPr>
              <a:t> garis </a:t>
            </a:r>
            <a:r>
              <a:rPr lang="en-US" sz="2800" dirty="0" err="1">
                <a:solidFill>
                  <a:srgbClr val="FF0000"/>
                </a:solidFill>
              </a:rPr>
              <a:t>besar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alat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ini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dapat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dibagi</a:t>
            </a:r>
            <a:r>
              <a:rPr lang="en-US" sz="2800" dirty="0">
                <a:solidFill>
                  <a:srgbClr val="FF0000"/>
                </a:solidFill>
              </a:rPr>
              <a:t> dua </a:t>
            </a:r>
            <a:r>
              <a:rPr lang="en-US" sz="2800" dirty="0" err="1">
                <a:solidFill>
                  <a:srgbClr val="FF0000"/>
                </a:solidFill>
              </a:rPr>
              <a:t>golongan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yaitu</a:t>
            </a:r>
            <a:r>
              <a:rPr lang="en-US" sz="2800" dirty="0">
                <a:solidFill>
                  <a:srgbClr val="FF0000"/>
                </a:solidFill>
              </a:rPr>
              <a:t> 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• </a:t>
            </a:r>
            <a:r>
              <a:rPr lang="en-US" sz="2800" i="1" dirty="0">
                <a:solidFill>
                  <a:srgbClr val="FF0000"/>
                </a:solidFill>
              </a:rPr>
              <a:t>Airline Respirator</a:t>
            </a:r>
          </a:p>
          <a:p>
            <a:r>
              <a:rPr lang="en-US" sz="2800" i="1" dirty="0">
                <a:solidFill>
                  <a:srgbClr val="FF0000"/>
                </a:solidFill>
              </a:rPr>
              <a:t>• Self Contained Breathing Apparatus (SCBA)</a:t>
            </a:r>
          </a:p>
        </p:txBody>
      </p:sp>
    </p:spTree>
    <p:extLst>
      <p:ext uri="{BB962C8B-B14F-4D97-AF65-F5344CB8AC3E}">
        <p14:creationId xmlns:p14="http://schemas.microsoft.com/office/powerpoint/2010/main" val="418148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D429E2-FE67-0A2B-4DBF-2DBE89108D91}"/>
              </a:ext>
            </a:extLst>
          </p:cNvPr>
          <p:cNvSpPr txBox="1"/>
          <p:nvPr/>
        </p:nvSpPr>
        <p:spPr>
          <a:xfrm>
            <a:off x="1418648" y="1236944"/>
            <a:ext cx="6200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a) </a:t>
            </a:r>
            <a:r>
              <a:rPr lang="en-US" sz="2800" b="1" i="1" dirty="0"/>
              <a:t>Airline Respirator</a:t>
            </a:r>
            <a:endParaRPr lang="en-US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45062F-31C7-B3EC-7665-6CB3F7064E10}"/>
              </a:ext>
            </a:extLst>
          </p:cNvPr>
          <p:cNvSpPr txBox="1"/>
          <p:nvPr/>
        </p:nvSpPr>
        <p:spPr>
          <a:xfrm>
            <a:off x="1127588" y="2062313"/>
            <a:ext cx="62004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i="1" dirty="0"/>
              <a:t>Respirator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terdiri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i="1" dirty="0"/>
              <a:t>full </a:t>
            </a:r>
            <a:r>
              <a:rPr lang="en-US" sz="2400" i="1" dirty="0" err="1"/>
              <a:t>atau</a:t>
            </a:r>
            <a:r>
              <a:rPr lang="en-US" sz="2400" i="1" dirty="0"/>
              <a:t> half </a:t>
            </a:r>
            <a:r>
              <a:rPr lang="en-US" sz="2400" i="1" dirty="0" err="1"/>
              <a:t>mask</a:t>
            </a:r>
            <a:r>
              <a:rPr lang="en-US" sz="2400" dirty="0" err="1"/>
              <a:t>,pipa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(</a:t>
            </a:r>
            <a:r>
              <a:rPr lang="en-US" sz="2400" i="1" dirty="0"/>
              <a:t>air line</a:t>
            </a:r>
            <a:r>
              <a:rPr lang="en-US" sz="2400" dirty="0"/>
              <a:t>) dan </a:t>
            </a:r>
            <a:r>
              <a:rPr lang="en-US" sz="2400" dirty="0" err="1"/>
              <a:t>silinder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kompresor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yang </a:t>
            </a:r>
            <a:r>
              <a:rPr lang="en-US" sz="2400" dirty="0" err="1"/>
              <a:t>dilengkapi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alat</a:t>
            </a:r>
            <a:r>
              <a:rPr lang="en-US" sz="2400" dirty="0"/>
              <a:t> </a:t>
            </a:r>
            <a:r>
              <a:rPr lang="en-US" sz="2400" dirty="0" err="1"/>
              <a:t>pengatur</a:t>
            </a:r>
            <a:r>
              <a:rPr lang="en-US" sz="2400" dirty="0"/>
              <a:t> </a:t>
            </a:r>
            <a:r>
              <a:rPr lang="en-US" sz="2400" dirty="0" err="1"/>
              <a:t>tekanan</a:t>
            </a:r>
            <a:r>
              <a:rPr lang="en-US" sz="2400" dirty="0"/>
              <a:t> yang </a:t>
            </a:r>
            <a:r>
              <a:rPr lang="en-US" sz="2400" dirty="0" err="1"/>
              <a:t>mengatur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tekanan</a:t>
            </a:r>
            <a:r>
              <a:rPr lang="en-US" sz="2400" dirty="0"/>
              <a:t> </a:t>
            </a:r>
            <a:r>
              <a:rPr lang="en-US" sz="2400" dirty="0" err="1"/>
              <a:t>tinggi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tekanan</a:t>
            </a:r>
            <a:r>
              <a:rPr lang="en-US" sz="2400" dirty="0"/>
              <a:t> </a:t>
            </a:r>
            <a:r>
              <a:rPr lang="en-US" sz="2400" dirty="0" err="1"/>
              <a:t>sedang</a:t>
            </a:r>
            <a:r>
              <a:rPr lang="en-US" sz="2400" dirty="0"/>
              <a:t> (</a:t>
            </a:r>
            <a:r>
              <a:rPr lang="en-US" sz="2400" i="1" dirty="0"/>
              <a:t>regulator</a:t>
            </a:r>
            <a:r>
              <a:rPr lang="en-US" sz="2400" dirty="0"/>
              <a:t>)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rendah</a:t>
            </a:r>
            <a:r>
              <a:rPr lang="en-US" sz="2400" dirty="0"/>
              <a:t> (</a:t>
            </a:r>
            <a:r>
              <a:rPr lang="en-US" sz="2400" i="1" dirty="0"/>
              <a:t>demand valve).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134057-2A75-E93A-D266-0B2753484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915" y="1645437"/>
            <a:ext cx="3128018" cy="484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15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B58C7-B7F9-0508-5BDF-8F045E74738C}"/>
              </a:ext>
            </a:extLst>
          </p:cNvPr>
          <p:cNvSpPr txBox="1"/>
          <p:nvPr/>
        </p:nvSpPr>
        <p:spPr>
          <a:xfrm>
            <a:off x="1302249" y="1498554"/>
            <a:ext cx="71727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b. </a:t>
            </a:r>
            <a:r>
              <a:rPr lang="en-US" sz="2800" b="1" i="1" dirty="0"/>
              <a:t>Self Contained Breathing Apparatus (SCBA</a:t>
            </a:r>
            <a:r>
              <a:rPr lang="en-US" sz="2800" i="1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EF554-DF7D-5538-C184-E407304C2179}"/>
              </a:ext>
            </a:extLst>
          </p:cNvPr>
          <p:cNvSpPr txBox="1"/>
          <p:nvPr/>
        </p:nvSpPr>
        <p:spPr>
          <a:xfrm>
            <a:off x="994024" y="2406494"/>
            <a:ext cx="620045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SCBA (Self Contained Breathing Apparatus)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alat</a:t>
            </a:r>
            <a:r>
              <a:rPr lang="en-US" sz="2800" dirty="0"/>
              <a:t> </a:t>
            </a:r>
            <a:r>
              <a:rPr lang="en-US" sz="2800" dirty="0" err="1"/>
              <a:t>pelindung</a:t>
            </a:r>
            <a:r>
              <a:rPr lang="en-US" sz="2800" dirty="0"/>
              <a:t> </a:t>
            </a:r>
            <a:r>
              <a:rPr lang="en-US" sz="2800" dirty="0" err="1"/>
              <a:t>pernapasan</a:t>
            </a:r>
            <a:r>
              <a:rPr lang="en-US" sz="2800" dirty="0"/>
              <a:t> yang </a:t>
            </a:r>
            <a:r>
              <a:rPr lang="en-US" sz="2800" dirty="0" err="1"/>
              <a:t>berisi</a:t>
            </a:r>
            <a:r>
              <a:rPr lang="en-US" sz="2800" dirty="0"/>
              <a:t> </a:t>
            </a:r>
            <a:r>
              <a:rPr lang="en-US" sz="2800" dirty="0" err="1"/>
              <a:t>udara</a:t>
            </a:r>
            <a:r>
              <a:rPr lang="en-US" sz="2800" dirty="0"/>
              <a:t> </a:t>
            </a:r>
            <a:r>
              <a:rPr lang="en-US" sz="2800" dirty="0" err="1"/>
              <a:t>bersih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oksigen</a:t>
            </a:r>
            <a:r>
              <a:rPr lang="en-US" sz="2800" dirty="0"/>
              <a:t> yang </a:t>
            </a:r>
            <a:r>
              <a:rPr lang="en-US" sz="2800" dirty="0" err="1"/>
              <a:t>tersimpan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tabung</a:t>
            </a:r>
            <a:r>
              <a:rPr lang="en-US" sz="2800" dirty="0"/>
              <a:t>. Alat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memungkinkan</a:t>
            </a:r>
            <a:r>
              <a:rPr lang="en-US" sz="2800" dirty="0"/>
              <a:t> </a:t>
            </a:r>
            <a:r>
              <a:rPr lang="en-US" sz="2800" dirty="0" err="1"/>
              <a:t>pengguna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bernapas</a:t>
            </a:r>
            <a:r>
              <a:rPr lang="en-US" sz="2800" dirty="0"/>
              <a:t> di </a:t>
            </a:r>
            <a:r>
              <a:rPr lang="en-US" sz="2800" dirty="0" err="1"/>
              <a:t>lingkungan</a:t>
            </a:r>
            <a:r>
              <a:rPr lang="en-US" sz="2800" dirty="0"/>
              <a:t> yang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aman</a:t>
            </a:r>
            <a:r>
              <a:rPr lang="en-US" sz="2800" dirty="0"/>
              <a:t>, </a:t>
            </a:r>
            <a:r>
              <a:rPr lang="en-US" sz="2800" dirty="0" err="1"/>
              <a:t>seperti</a:t>
            </a:r>
            <a:r>
              <a:rPr lang="en-US" sz="2800" dirty="0"/>
              <a:t> di </a:t>
            </a:r>
            <a:r>
              <a:rPr lang="en-US" sz="2800" dirty="0" err="1"/>
              <a:t>tempat</a:t>
            </a:r>
            <a:r>
              <a:rPr lang="en-US" sz="2800" dirty="0"/>
              <a:t> yang </a:t>
            </a:r>
            <a:r>
              <a:rPr lang="en-US" sz="2800" dirty="0" err="1"/>
              <a:t>berisiko</a:t>
            </a:r>
            <a:r>
              <a:rPr lang="en-US" sz="2800" dirty="0"/>
              <a:t> </a:t>
            </a:r>
            <a:r>
              <a:rPr lang="en-US" sz="2800" dirty="0" err="1"/>
              <a:t>terpapar</a:t>
            </a:r>
            <a:r>
              <a:rPr lang="en-US" sz="2800" dirty="0"/>
              <a:t> asap, gas </a:t>
            </a:r>
            <a:r>
              <a:rPr lang="en-US" sz="2800" dirty="0" err="1"/>
              <a:t>beracun</a:t>
            </a:r>
            <a:r>
              <a:rPr lang="en-US" sz="2800" dirty="0"/>
              <a:t>,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kekurangan</a:t>
            </a:r>
            <a:r>
              <a:rPr lang="en-US" sz="2800" dirty="0"/>
              <a:t> </a:t>
            </a:r>
            <a:r>
              <a:rPr lang="en-US" sz="2800" dirty="0" err="1"/>
              <a:t>oksigen</a:t>
            </a:r>
            <a:r>
              <a:rPr lang="en-US" sz="2800" dirty="0"/>
              <a:t>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07AE53-CAEE-F9FA-4A27-1EE8A5A709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47" y="2515147"/>
            <a:ext cx="2946174" cy="365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39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105946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53B3B-FDD2-F623-B775-40678D3169E3}"/>
              </a:ext>
            </a:extLst>
          </p:cNvPr>
          <p:cNvSpPr txBox="1"/>
          <p:nvPr/>
        </p:nvSpPr>
        <p:spPr>
          <a:xfrm>
            <a:off x="1466351" y="1498554"/>
            <a:ext cx="94624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Berdasarkan</a:t>
            </a:r>
            <a:r>
              <a:rPr lang="en-US" sz="2800" b="1" dirty="0"/>
              <a:t> </a:t>
            </a:r>
            <a:r>
              <a:rPr lang="en-US" sz="2800" b="1" dirty="0" err="1"/>
              <a:t>cara</a:t>
            </a:r>
            <a:r>
              <a:rPr lang="en-US" sz="2800" b="1" dirty="0"/>
              <a:t> </a:t>
            </a:r>
            <a:r>
              <a:rPr lang="en-US" sz="2800" b="1" dirty="0" err="1"/>
              <a:t>kerjanya</a:t>
            </a:r>
            <a:r>
              <a:rPr lang="en-US" sz="2800" b="1" dirty="0"/>
              <a:t> </a:t>
            </a:r>
            <a:r>
              <a:rPr lang="en-US" sz="2800" b="1" dirty="0" err="1"/>
              <a:t>dapat</a:t>
            </a:r>
            <a:r>
              <a:rPr lang="en-US" sz="2800" b="1" dirty="0"/>
              <a:t> </a:t>
            </a:r>
            <a:r>
              <a:rPr lang="en-US" sz="2800" b="1" dirty="0" err="1"/>
              <a:t>dibagi</a:t>
            </a:r>
            <a:r>
              <a:rPr lang="en-US" sz="2800" b="1" dirty="0"/>
              <a:t> </a:t>
            </a:r>
            <a:r>
              <a:rPr lang="en-US" sz="2800" b="1" dirty="0" err="1"/>
              <a:t>menjadi</a:t>
            </a:r>
            <a:r>
              <a:rPr lang="en-US" sz="2800" b="1" dirty="0"/>
              <a:t> dua </a:t>
            </a:r>
            <a:r>
              <a:rPr lang="en-US" sz="2800" b="1" dirty="0" err="1"/>
              <a:t>yaitu</a:t>
            </a:r>
            <a:r>
              <a:rPr lang="en-US" sz="2800" b="1" dirty="0"/>
              <a:t>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7CA2AA-9757-DA78-2C34-354D3A13176A}"/>
              </a:ext>
            </a:extLst>
          </p:cNvPr>
          <p:cNvSpPr txBox="1"/>
          <p:nvPr/>
        </p:nvSpPr>
        <p:spPr>
          <a:xfrm>
            <a:off x="3254339" y="2267995"/>
            <a:ext cx="62004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Open Circuit SCBA</a:t>
            </a:r>
          </a:p>
          <a:p>
            <a:r>
              <a:rPr lang="en-US" sz="2400" dirty="0"/>
              <a:t>• Closed Circuit SCBA</a:t>
            </a:r>
          </a:p>
        </p:txBody>
      </p:sp>
    </p:spTree>
    <p:extLst>
      <p:ext uri="{BB962C8B-B14F-4D97-AF65-F5344CB8AC3E}">
        <p14:creationId xmlns:p14="http://schemas.microsoft.com/office/powerpoint/2010/main" val="750233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9B542-275A-B5F3-335F-B8CBBC4547CD}"/>
              </a:ext>
            </a:extLst>
          </p:cNvPr>
          <p:cNvSpPr txBox="1"/>
          <p:nvPr/>
        </p:nvSpPr>
        <p:spPr>
          <a:xfrm>
            <a:off x="1418648" y="1360055"/>
            <a:ext cx="6200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1) </a:t>
            </a:r>
            <a:r>
              <a:rPr lang="en-US" sz="2800" b="1" i="1" dirty="0"/>
              <a:t>Open Circuit SCBA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EC52F-CCE0-EC84-7503-D73DA1252949}"/>
              </a:ext>
            </a:extLst>
          </p:cNvPr>
          <p:cNvSpPr txBox="1"/>
          <p:nvPr/>
        </p:nvSpPr>
        <p:spPr>
          <a:xfrm>
            <a:off x="593333" y="2129496"/>
            <a:ext cx="67835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 err="1"/>
              <a:t>jenis</a:t>
            </a:r>
            <a:r>
              <a:rPr lang="en-US" sz="2400" dirty="0"/>
              <a:t> SCBA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terdiri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silinder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oksigen</a:t>
            </a:r>
            <a:endParaRPr lang="en-US" sz="2400" dirty="0"/>
          </a:p>
          <a:p>
            <a:pPr algn="just"/>
            <a:r>
              <a:rPr lang="en-US" sz="2400" dirty="0"/>
              <a:t>yang </a:t>
            </a:r>
            <a:r>
              <a:rPr lang="en-US" sz="2400" dirty="0" err="1"/>
              <a:t>bertekanan</a:t>
            </a:r>
            <a:r>
              <a:rPr lang="en-US" sz="2400" dirty="0"/>
              <a:t>, pipa </a:t>
            </a:r>
            <a:r>
              <a:rPr lang="en-US" sz="2400" dirty="0" err="1"/>
              <a:t>udara</a:t>
            </a:r>
            <a:r>
              <a:rPr lang="en-US" sz="2400" dirty="0"/>
              <a:t> (</a:t>
            </a:r>
            <a:r>
              <a:rPr lang="en-US" sz="2400" i="1" dirty="0"/>
              <a:t>air line</a:t>
            </a:r>
            <a:r>
              <a:rPr lang="en-US" sz="2400" dirty="0"/>
              <a:t>), </a:t>
            </a:r>
            <a:r>
              <a:rPr lang="en-US" sz="2400" dirty="0" err="1"/>
              <a:t>alat</a:t>
            </a:r>
            <a:r>
              <a:rPr lang="en-US" sz="2400" dirty="0"/>
              <a:t> </a:t>
            </a:r>
            <a:r>
              <a:rPr lang="en-US" sz="2400" dirty="0" err="1"/>
              <a:t>pengukur</a:t>
            </a:r>
            <a:endParaRPr lang="en-US" sz="2400" dirty="0"/>
          </a:p>
          <a:p>
            <a:pPr algn="just"/>
            <a:r>
              <a:rPr lang="en-US" sz="2400" dirty="0" err="1"/>
              <a:t>tekanan</a:t>
            </a:r>
            <a:r>
              <a:rPr lang="en-US" sz="2400" dirty="0"/>
              <a:t> dan </a:t>
            </a:r>
            <a:r>
              <a:rPr lang="en-US" sz="2400" i="1" dirty="0"/>
              <a:t>full face mask</a:t>
            </a:r>
            <a:r>
              <a:rPr lang="en-US" sz="2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A4415-D0DA-7FC5-CB88-34806B9314AA}"/>
              </a:ext>
            </a:extLst>
          </p:cNvPr>
          <p:cNvSpPr txBox="1"/>
          <p:nvPr/>
        </p:nvSpPr>
        <p:spPr>
          <a:xfrm>
            <a:off x="599283" y="3420987"/>
            <a:ext cx="666454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 err="1"/>
              <a:t>Tipe</a:t>
            </a:r>
            <a:r>
              <a:rPr lang="en-US" sz="2400" dirty="0"/>
              <a:t> SCBA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yang paling </a:t>
            </a:r>
            <a:r>
              <a:rPr lang="en-US" sz="2400" dirty="0" err="1"/>
              <a:t>sering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,</a:t>
            </a:r>
          </a:p>
          <a:p>
            <a:pPr algn="just"/>
            <a:r>
              <a:rPr lang="en-US" sz="2400" dirty="0" err="1"/>
              <a:t>dimana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mensuplai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</a:t>
            </a:r>
            <a:r>
              <a:rPr lang="en-US" sz="2400" dirty="0" err="1"/>
              <a:t>sampai</a:t>
            </a:r>
            <a:r>
              <a:rPr lang="en-US" sz="2400" dirty="0"/>
              <a:t> ± 45 </a:t>
            </a:r>
            <a:r>
              <a:rPr lang="en-US" sz="2400" dirty="0" err="1"/>
              <a:t>menit</a:t>
            </a:r>
            <a:r>
              <a:rPr lang="en-US" sz="2400" dirty="0"/>
              <a:t> yang </a:t>
            </a:r>
            <a:r>
              <a:rPr lang="en-US" sz="2400" dirty="0" err="1"/>
              <a:t>terbagi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en-US" sz="2400" dirty="0"/>
              <a:t> </a:t>
            </a:r>
            <a:r>
              <a:rPr lang="en-US" sz="2400" i="1" dirty="0"/>
              <a:t>working duration </a:t>
            </a:r>
            <a:r>
              <a:rPr lang="en-US" sz="2400" dirty="0"/>
              <a:t>35 </a:t>
            </a:r>
            <a:r>
              <a:rPr lang="en-US" sz="2400" dirty="0" err="1"/>
              <a:t>menit</a:t>
            </a:r>
            <a:r>
              <a:rPr lang="en-US" sz="2400" dirty="0"/>
              <a:t> dan </a:t>
            </a:r>
            <a:r>
              <a:rPr lang="en-US" sz="2400" i="1" dirty="0"/>
              <a:t>safety margin </a:t>
            </a:r>
            <a:r>
              <a:rPr lang="en-US" sz="2400" dirty="0"/>
              <a:t>10 </a:t>
            </a:r>
            <a:r>
              <a:rPr lang="en-US" sz="2400" dirty="0" err="1"/>
              <a:t>menit</a:t>
            </a:r>
            <a:r>
              <a:rPr lang="en-US" sz="2400" dirty="0"/>
              <a:t>, </a:t>
            </a:r>
            <a:r>
              <a:rPr lang="en-US" sz="2400" dirty="0" err="1"/>
              <a:t>namun</a:t>
            </a:r>
            <a:r>
              <a:rPr lang="en-US" sz="2400" dirty="0"/>
              <a:t> lama </a:t>
            </a:r>
            <a:r>
              <a:rPr lang="en-US" sz="2400" dirty="0" err="1"/>
              <a:t>pemakaian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masih</a:t>
            </a:r>
            <a:r>
              <a:rPr lang="en-US" sz="2400" dirty="0"/>
              <a:t> </a:t>
            </a:r>
            <a:r>
              <a:rPr lang="en-US" sz="2400" dirty="0" err="1"/>
              <a:t>dipengaruhi</a:t>
            </a:r>
            <a:r>
              <a:rPr lang="en-US" sz="2400" dirty="0"/>
              <a:t> oleh </a:t>
            </a:r>
            <a:r>
              <a:rPr lang="en-US" sz="2400" dirty="0" err="1"/>
              <a:t>aktivitas</a:t>
            </a:r>
            <a:r>
              <a:rPr lang="en-US" sz="2400" dirty="0"/>
              <a:t> </a:t>
            </a:r>
            <a:r>
              <a:rPr lang="en-US" sz="2400" dirty="0" err="1"/>
              <a:t>fisik</a:t>
            </a:r>
            <a:r>
              <a:rPr lang="en-US" sz="2400" dirty="0"/>
              <a:t> dan </a:t>
            </a:r>
            <a:r>
              <a:rPr lang="en-US" sz="2400" dirty="0" err="1"/>
              <a:t>tingkat</a:t>
            </a:r>
            <a:r>
              <a:rPr lang="en-US" sz="2400" dirty="0"/>
              <a:t> stress yang </a:t>
            </a:r>
            <a:r>
              <a:rPr lang="en-US" sz="2400" dirty="0" err="1"/>
              <a:t>dialami</a:t>
            </a:r>
            <a:r>
              <a:rPr lang="en-US" sz="2400" dirty="0"/>
              <a:t> oleh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pemakai</a:t>
            </a:r>
            <a:r>
              <a:rPr lang="en-US" sz="2400" dirty="0"/>
              <a:t>,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mengurangi</a:t>
            </a:r>
            <a:r>
              <a:rPr lang="en-US" sz="2400" dirty="0"/>
              <a:t> lama </a:t>
            </a:r>
            <a:r>
              <a:rPr lang="en-US" sz="2400" dirty="0" err="1"/>
              <a:t>waktu</a:t>
            </a:r>
            <a:r>
              <a:rPr lang="en-US" sz="2400" dirty="0"/>
              <a:t> </a:t>
            </a:r>
            <a:r>
              <a:rPr lang="en-US" sz="2400" dirty="0" err="1"/>
              <a:t>pemakaian</a:t>
            </a:r>
            <a:r>
              <a:rPr lang="en-US" sz="2400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3D41B3-F469-9A01-C6FD-8B1B4A480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940" y="1991794"/>
            <a:ext cx="4162632" cy="467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4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6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5377E-6E34-4386-78FE-31BF75772C79}"/>
              </a:ext>
            </a:extLst>
          </p:cNvPr>
          <p:cNvSpPr txBox="1"/>
          <p:nvPr/>
        </p:nvSpPr>
        <p:spPr>
          <a:xfrm>
            <a:off x="1548827" y="1100493"/>
            <a:ext cx="6200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2) </a:t>
            </a:r>
            <a:r>
              <a:rPr lang="en-US" sz="2800" b="1" i="1" dirty="0"/>
              <a:t>Closed Circuit SCBA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639190-EEE7-0B8F-22F1-D00B0F3B007B}"/>
              </a:ext>
            </a:extLst>
          </p:cNvPr>
          <p:cNvSpPr txBox="1"/>
          <p:nvPr/>
        </p:nvSpPr>
        <p:spPr>
          <a:xfrm>
            <a:off x="593330" y="1663131"/>
            <a:ext cx="71559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Pada closed circuit SCBA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</a:t>
            </a:r>
            <a:r>
              <a:rPr lang="en-US" sz="2400" dirty="0" err="1"/>
              <a:t>expirasi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dikeluarkan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</a:t>
            </a:r>
            <a:r>
              <a:rPr lang="en-US" sz="2400" dirty="0" err="1"/>
              <a:t>atmosfer</a:t>
            </a:r>
            <a:r>
              <a:rPr lang="en-US" sz="2400" dirty="0"/>
              <a:t> </a:t>
            </a:r>
            <a:r>
              <a:rPr lang="en-US" sz="2400" dirty="0" err="1"/>
              <a:t>melainkan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kembali</a:t>
            </a:r>
            <a:r>
              <a:rPr lang="en-US" sz="2400" dirty="0"/>
              <a:t> </a:t>
            </a:r>
            <a:r>
              <a:rPr lang="en-US" sz="2400" dirty="0" err="1"/>
              <a:t>setelah</a:t>
            </a:r>
            <a:r>
              <a:rPr lang="en-US" sz="2400" dirty="0"/>
              <a:t> CO2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</a:t>
            </a:r>
            <a:r>
              <a:rPr lang="en-US" sz="2400" dirty="0" err="1"/>
              <a:t>pernapasan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diabsorbsi</a:t>
            </a:r>
            <a:r>
              <a:rPr lang="en-US" sz="2400" dirty="0"/>
              <a:t> oleh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bahan</a:t>
            </a:r>
            <a:r>
              <a:rPr lang="en-US" sz="2400" dirty="0"/>
              <a:t> </a:t>
            </a:r>
            <a:r>
              <a:rPr lang="en-US" sz="2400" dirty="0" err="1"/>
              <a:t>kimia</a:t>
            </a:r>
            <a:r>
              <a:rPr lang="en-US" sz="2400" dirty="0"/>
              <a:t> yang </a:t>
            </a:r>
            <a:r>
              <a:rPr lang="en-US" sz="2400" dirty="0" err="1"/>
              <a:t>terdapat</a:t>
            </a:r>
            <a:r>
              <a:rPr lang="en-US" sz="2400" dirty="0"/>
              <a:t> pada </a:t>
            </a:r>
            <a:r>
              <a:rPr lang="en-US" sz="2400" dirty="0" err="1"/>
              <a:t>alat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. </a:t>
            </a:r>
            <a:r>
              <a:rPr lang="en-US" sz="2400" i="1" dirty="0"/>
              <a:t>Service life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alat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mencapai</a:t>
            </a:r>
            <a:r>
              <a:rPr lang="en-US" sz="2400" dirty="0"/>
              <a:t> 4 jam.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02A7CD-328A-3545-598A-25EEFC036920}"/>
              </a:ext>
            </a:extLst>
          </p:cNvPr>
          <p:cNvSpPr txBox="1"/>
          <p:nvPr/>
        </p:nvSpPr>
        <p:spPr>
          <a:xfrm>
            <a:off x="593330" y="3753262"/>
            <a:ext cx="71559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 err="1"/>
              <a:t>Komponen</a:t>
            </a:r>
            <a:r>
              <a:rPr lang="en-US" sz="2400" dirty="0"/>
              <a:t> – </a:t>
            </a:r>
            <a:r>
              <a:rPr lang="en-US" sz="2400" dirty="0" err="1"/>
              <a:t>komponennya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lain </a:t>
            </a:r>
            <a:r>
              <a:rPr lang="en-US" sz="2400" dirty="0" err="1"/>
              <a:t>silinder</a:t>
            </a:r>
            <a:r>
              <a:rPr lang="en-US" sz="2400" dirty="0"/>
              <a:t> </a:t>
            </a:r>
            <a:r>
              <a:rPr lang="en-US" sz="2400" dirty="0" err="1"/>
              <a:t>oksigen</a:t>
            </a:r>
            <a:r>
              <a:rPr lang="en-US" sz="2400" dirty="0"/>
              <a:t> </a:t>
            </a:r>
            <a:r>
              <a:rPr lang="en-US" sz="2400" dirty="0" err="1"/>
              <a:t>bertekanan</a:t>
            </a:r>
            <a:r>
              <a:rPr lang="en-US" sz="2400" dirty="0"/>
              <a:t> yang relative </a:t>
            </a:r>
            <a:r>
              <a:rPr lang="en-US" sz="2400" dirty="0" err="1"/>
              <a:t>kecil</a:t>
            </a:r>
            <a:r>
              <a:rPr lang="en-US" sz="2400" dirty="0"/>
              <a:t>, </a:t>
            </a:r>
            <a:r>
              <a:rPr lang="en-US" sz="2400" dirty="0" err="1"/>
              <a:t>klep</a:t>
            </a:r>
            <a:r>
              <a:rPr lang="en-US" sz="2400" dirty="0"/>
              <a:t> </a:t>
            </a:r>
            <a:r>
              <a:rPr lang="en-US" sz="2400" dirty="0" err="1"/>
              <a:t>pengatur</a:t>
            </a:r>
            <a:r>
              <a:rPr lang="en-US" sz="2400" dirty="0"/>
              <a:t> </a:t>
            </a:r>
            <a:r>
              <a:rPr lang="en-US" sz="2400" dirty="0" err="1"/>
              <a:t>tekanan</a:t>
            </a:r>
            <a:r>
              <a:rPr lang="en-US" sz="2400" dirty="0"/>
              <a:t>,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kantong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</a:t>
            </a:r>
            <a:r>
              <a:rPr lang="en-US" sz="2400" dirty="0" err="1"/>
              <a:t>pernapasan</a:t>
            </a:r>
            <a:r>
              <a:rPr lang="en-US" sz="2400" dirty="0"/>
              <a:t> (breathing bag), face piece dan </a:t>
            </a:r>
            <a:r>
              <a:rPr lang="en-US" sz="2400" dirty="0" err="1"/>
              <a:t>suatu</a:t>
            </a:r>
            <a:r>
              <a:rPr lang="en-US" sz="2400" dirty="0"/>
              <a:t> adsorbent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mengadsorbsi</a:t>
            </a:r>
            <a:r>
              <a:rPr lang="en-US" sz="2400" dirty="0"/>
              <a:t> CO2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</a:t>
            </a:r>
            <a:r>
              <a:rPr lang="en-US" sz="2400" dirty="0" err="1"/>
              <a:t>expirasi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63E30-D447-E1EA-165A-BB518C460986}"/>
              </a:ext>
            </a:extLst>
          </p:cNvPr>
          <p:cNvSpPr txBox="1"/>
          <p:nvPr/>
        </p:nvSpPr>
        <p:spPr>
          <a:xfrm>
            <a:off x="593330" y="5781824"/>
            <a:ext cx="73074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 err="1"/>
              <a:t>Closed</a:t>
            </a:r>
            <a:r>
              <a:rPr lang="es-ES" sz="2400" dirty="0"/>
              <a:t> </a:t>
            </a:r>
            <a:r>
              <a:rPr lang="es-ES" sz="2400" dirty="0" err="1"/>
              <a:t>Circuit</a:t>
            </a:r>
            <a:r>
              <a:rPr lang="es-ES" sz="2400" dirty="0"/>
              <a:t> SCBA </a:t>
            </a:r>
            <a:r>
              <a:rPr lang="es-ES" sz="2400" dirty="0" err="1"/>
              <a:t>umumnya</a:t>
            </a:r>
            <a:r>
              <a:rPr lang="es-ES" sz="2400" dirty="0"/>
              <a:t> </a:t>
            </a:r>
            <a:r>
              <a:rPr lang="es-ES" sz="2400" dirty="0" err="1"/>
              <a:t>digunakan</a:t>
            </a:r>
            <a:r>
              <a:rPr lang="es-ES" sz="2400" dirty="0"/>
              <a:t> </a:t>
            </a:r>
            <a:r>
              <a:rPr lang="es-ES" sz="2400" dirty="0" err="1"/>
              <a:t>disaat</a:t>
            </a:r>
            <a:r>
              <a:rPr lang="es-ES" sz="2400" dirty="0"/>
              <a:t> </a:t>
            </a:r>
            <a:r>
              <a:rPr lang="es-ES" sz="2400" dirty="0" err="1"/>
              <a:t>membutuhkan</a:t>
            </a:r>
            <a:r>
              <a:rPr lang="es-ES" sz="2400" dirty="0"/>
              <a:t> </a:t>
            </a:r>
            <a:r>
              <a:rPr lang="es-ES" sz="2400" dirty="0" err="1"/>
              <a:t>pasokan</a:t>
            </a:r>
            <a:r>
              <a:rPr lang="es-ES" sz="2400" dirty="0"/>
              <a:t> gas </a:t>
            </a:r>
            <a:r>
              <a:rPr lang="es-ES" sz="2400" dirty="0" err="1"/>
              <a:t>pernapasan</a:t>
            </a:r>
            <a:r>
              <a:rPr lang="es-ES" sz="2400" dirty="0"/>
              <a:t> </a:t>
            </a:r>
            <a:r>
              <a:rPr lang="es-ES" sz="2400" dirty="0" err="1"/>
              <a:t>lebih</a:t>
            </a:r>
            <a:r>
              <a:rPr lang="es-ES" sz="2400" dirty="0"/>
              <a:t> lama.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627727-80CC-E05D-ACF6-9C5273A7F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2611" y="1883275"/>
            <a:ext cx="3534316" cy="444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94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5854E-A04B-0CEA-6110-5DB7549D9E7B}"/>
              </a:ext>
            </a:extLst>
          </p:cNvPr>
          <p:cNvSpPr txBox="1"/>
          <p:nvPr/>
        </p:nvSpPr>
        <p:spPr>
          <a:xfrm>
            <a:off x="3459822" y="1206166"/>
            <a:ext cx="6200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PROSEDUR PENGGUNAAN SCBA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0F89A-E5D6-6A34-27D5-11A93F958E66}"/>
              </a:ext>
            </a:extLst>
          </p:cNvPr>
          <p:cNvSpPr txBox="1"/>
          <p:nvPr/>
        </p:nvSpPr>
        <p:spPr>
          <a:xfrm>
            <a:off x="1202077" y="2484736"/>
            <a:ext cx="941112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SCBA </a:t>
            </a:r>
            <a:r>
              <a:rPr lang="en-US" sz="2800" dirty="0" err="1"/>
              <a:t>sebelum</a:t>
            </a:r>
            <a:r>
              <a:rPr lang="en-US" sz="2800" dirty="0"/>
              <a:t> </a:t>
            </a:r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perlu</a:t>
            </a:r>
            <a:r>
              <a:rPr lang="en-US" sz="2800" dirty="0"/>
              <a:t> </a:t>
            </a:r>
            <a:r>
              <a:rPr lang="en-US" sz="2800" dirty="0" err="1"/>
              <a:t>dilakukan</a:t>
            </a:r>
            <a:r>
              <a:rPr lang="en-US" sz="2800" dirty="0"/>
              <a:t> </a:t>
            </a:r>
            <a:r>
              <a:rPr lang="en-US" sz="2800" dirty="0" err="1"/>
              <a:t>pemeriksaan</a:t>
            </a:r>
            <a:r>
              <a:rPr lang="en-US" sz="2800" dirty="0"/>
              <a:t>, </a:t>
            </a:r>
            <a:r>
              <a:rPr lang="en-US" sz="2800" dirty="0" err="1"/>
              <a:t>yaitu</a:t>
            </a:r>
            <a:r>
              <a:rPr lang="en-US" sz="2800" dirty="0"/>
              <a:t> :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 err="1"/>
              <a:t>Pemeriksaan</a:t>
            </a:r>
            <a:r>
              <a:rPr lang="en-US" sz="2800" dirty="0"/>
              <a:t> </a:t>
            </a:r>
            <a:r>
              <a:rPr lang="en-US" sz="2800" dirty="0" err="1"/>
              <a:t>tekanan</a:t>
            </a:r>
            <a:r>
              <a:rPr lang="en-US" sz="2800" dirty="0"/>
              <a:t> </a:t>
            </a:r>
            <a:r>
              <a:rPr lang="en-US" sz="2800" dirty="0" err="1"/>
              <a:t>tinggi</a:t>
            </a:r>
            <a:r>
              <a:rPr lang="en-US" sz="2800" dirty="0"/>
              <a:t> (high pressure test)</a:t>
            </a:r>
          </a:p>
          <a:p>
            <a:pPr algn="ctr"/>
            <a:endParaRPr lang="en-US" sz="2800" dirty="0"/>
          </a:p>
          <a:p>
            <a:r>
              <a:rPr lang="en-US" sz="2800" dirty="0"/>
              <a:t>                                                      &amp;</a:t>
            </a:r>
          </a:p>
          <a:p>
            <a:endParaRPr lang="en-US" sz="2800" dirty="0"/>
          </a:p>
          <a:p>
            <a:pPr algn="ctr"/>
            <a:r>
              <a:rPr lang="en-US" sz="2800" dirty="0" err="1"/>
              <a:t>Pemeriksaan</a:t>
            </a:r>
            <a:r>
              <a:rPr lang="en-US" sz="2800" dirty="0"/>
              <a:t> </a:t>
            </a:r>
            <a:r>
              <a:rPr lang="en-US" sz="2800" dirty="0" err="1"/>
              <a:t>tekanan</a:t>
            </a:r>
            <a:r>
              <a:rPr lang="en-US" sz="2800" dirty="0"/>
              <a:t> </a:t>
            </a:r>
            <a:r>
              <a:rPr lang="en-US" sz="2800" dirty="0" err="1"/>
              <a:t>rendah</a:t>
            </a:r>
            <a:r>
              <a:rPr lang="en-US" sz="2800" dirty="0"/>
              <a:t> (low pressure test).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65641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00447" y="1058399"/>
            <a:ext cx="6096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sz="3200" b="1" dirty="0"/>
              <a:t>1) </a:t>
            </a:r>
            <a:r>
              <a:rPr lang="en-US" sz="3200" b="1" dirty="0" err="1"/>
              <a:t>Pemeriksaan</a:t>
            </a:r>
            <a:r>
              <a:rPr lang="en-US" sz="3200" b="1" dirty="0"/>
              <a:t> </a:t>
            </a:r>
            <a:r>
              <a:rPr lang="en-US" sz="3200" b="1" dirty="0" err="1"/>
              <a:t>Tekanan</a:t>
            </a:r>
            <a:r>
              <a:rPr lang="en-US" sz="3200" b="1" dirty="0"/>
              <a:t> Tinggi</a:t>
            </a: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0EA2D-1022-72AB-6395-ECF2602D4572}"/>
              </a:ext>
            </a:extLst>
          </p:cNvPr>
          <p:cNvSpPr txBox="1"/>
          <p:nvPr/>
        </p:nvSpPr>
        <p:spPr>
          <a:xfrm>
            <a:off x="1095992" y="2106282"/>
            <a:ext cx="951721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• Buka </a:t>
            </a:r>
            <a:r>
              <a:rPr lang="en-US" sz="2400" dirty="0" err="1"/>
              <a:t>kerangan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pelan</a:t>
            </a:r>
            <a:r>
              <a:rPr lang="en-US" sz="2400" dirty="0"/>
              <a:t> – </a:t>
            </a:r>
            <a:r>
              <a:rPr lang="en-US" sz="2400" dirty="0" err="1"/>
              <a:t>pelan</a:t>
            </a:r>
            <a:r>
              <a:rPr lang="en-US" sz="2400" dirty="0"/>
              <a:t>, </a:t>
            </a:r>
            <a:r>
              <a:rPr lang="en-US" sz="2400" dirty="0" err="1"/>
              <a:t>pemeriksa</a:t>
            </a:r>
            <a:r>
              <a:rPr lang="en-US" sz="2400" dirty="0"/>
              <a:t> </a:t>
            </a:r>
            <a:r>
              <a:rPr lang="en-US" sz="2400" dirty="0" err="1"/>
              <a:t>tekanannya</a:t>
            </a:r>
            <a:r>
              <a:rPr lang="en-US" sz="2400" dirty="0"/>
              <a:t> pada        	manometer, </a:t>
            </a:r>
            <a:r>
              <a:rPr lang="en-US" sz="2400" dirty="0" err="1"/>
              <a:t>bila</a:t>
            </a:r>
            <a:r>
              <a:rPr lang="en-US" sz="2400" dirty="0"/>
              <a:t> </a:t>
            </a:r>
            <a:r>
              <a:rPr lang="en-US" sz="2400" dirty="0" err="1"/>
              <a:t>tekanannya</a:t>
            </a:r>
            <a:r>
              <a:rPr lang="en-US" sz="2400" dirty="0"/>
              <a:t> </a:t>
            </a:r>
            <a:r>
              <a:rPr lang="en-US" sz="2400" dirty="0" err="1"/>
              <a:t>kurang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5/6 working pressure </a:t>
            </a:r>
            <a:r>
              <a:rPr lang="en-US" sz="2400" dirty="0" err="1"/>
              <a:t>maka</a:t>
            </a:r>
            <a:r>
              <a:rPr lang="en-US" sz="2400" dirty="0"/>
              <a:t> 	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botol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. </a:t>
            </a:r>
          </a:p>
          <a:p>
            <a:pPr algn="just"/>
            <a:r>
              <a:rPr lang="en-US" sz="2400" dirty="0"/>
              <a:t>• </a:t>
            </a:r>
            <a:r>
              <a:rPr lang="en-US" sz="2400" dirty="0" err="1"/>
              <a:t>Periksalah</a:t>
            </a:r>
            <a:r>
              <a:rPr lang="en-US" sz="2400" dirty="0"/>
              <a:t> </a:t>
            </a:r>
            <a:r>
              <a:rPr lang="en-US" sz="2400" dirty="0" err="1"/>
              <a:t>jarum</a:t>
            </a:r>
            <a:r>
              <a:rPr lang="en-US" sz="2400" dirty="0"/>
              <a:t> manometer,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menunjukkan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</a:t>
            </a:r>
            <a:r>
              <a:rPr lang="en-US" sz="2400" dirty="0" err="1"/>
              <a:t>maksimum</a:t>
            </a:r>
            <a:r>
              <a:rPr lang="en-US" sz="2400" dirty="0"/>
              <a:t> 	</a:t>
            </a:r>
            <a:r>
              <a:rPr lang="en-US" sz="2400" dirty="0" err="1"/>
              <a:t>tutuplah</a:t>
            </a:r>
            <a:r>
              <a:rPr lang="en-US" sz="2400" dirty="0"/>
              <a:t> </a:t>
            </a:r>
            <a:r>
              <a:rPr lang="en-US" sz="2400" dirty="0" err="1"/>
              <a:t>kembali</a:t>
            </a:r>
            <a:r>
              <a:rPr lang="en-US" sz="2400" dirty="0"/>
              <a:t> </a:t>
            </a:r>
            <a:r>
              <a:rPr lang="en-US" sz="2400" dirty="0" err="1"/>
              <a:t>kerangan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• </a:t>
            </a:r>
            <a:r>
              <a:rPr lang="en-US" sz="2400" dirty="0" err="1"/>
              <a:t>Perhatikan</a:t>
            </a:r>
            <a:r>
              <a:rPr lang="en-US" sz="2400" dirty="0"/>
              <a:t> manometer </a:t>
            </a:r>
            <a:r>
              <a:rPr lang="en-US" sz="2400" dirty="0" err="1"/>
              <a:t>bila</a:t>
            </a:r>
            <a:r>
              <a:rPr lang="en-US" sz="2400" dirty="0"/>
              <a:t> </a:t>
            </a:r>
            <a:r>
              <a:rPr lang="en-US" sz="2400" dirty="0" err="1"/>
              <a:t>tekanannya</a:t>
            </a:r>
            <a:r>
              <a:rPr lang="en-US" sz="2400" dirty="0"/>
              <a:t> </a:t>
            </a:r>
            <a:r>
              <a:rPr lang="en-US" sz="2400" dirty="0" err="1"/>
              <a:t>turun</a:t>
            </a:r>
            <a:r>
              <a:rPr lang="en-US" sz="2400" dirty="0"/>
              <a:t> 10 bar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selama</a:t>
            </a:r>
            <a:r>
              <a:rPr lang="en-US" sz="2400" dirty="0"/>
              <a:t> 1 	</a:t>
            </a:r>
            <a:r>
              <a:rPr lang="en-US" sz="2400" dirty="0" err="1"/>
              <a:t>menit</a:t>
            </a:r>
            <a:r>
              <a:rPr lang="en-US" sz="2400" dirty="0"/>
              <a:t> (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kebocoran</a:t>
            </a:r>
            <a:r>
              <a:rPr lang="en-US" sz="2400" dirty="0"/>
              <a:t>)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sambungan</a:t>
            </a:r>
            <a:r>
              <a:rPr lang="en-US" sz="2400" dirty="0"/>
              <a:t> – </a:t>
            </a:r>
            <a:r>
              <a:rPr lang="en-US" sz="2400" dirty="0" err="1"/>
              <a:t>sambungan</a:t>
            </a:r>
            <a:r>
              <a:rPr lang="en-US" sz="2400" dirty="0"/>
              <a:t> yang 	</a:t>
            </a:r>
            <a:r>
              <a:rPr lang="en-US" sz="2400" dirty="0" err="1"/>
              <a:t>dipasang</a:t>
            </a:r>
            <a:r>
              <a:rPr lang="en-US" sz="2400" dirty="0"/>
              <a:t>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diperiksa</a:t>
            </a:r>
            <a:r>
              <a:rPr lang="en-US" sz="2400" dirty="0"/>
              <a:t> </a:t>
            </a:r>
            <a:r>
              <a:rPr lang="en-US" sz="2400" dirty="0" err="1"/>
              <a:t>kembali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• Buka by-</a:t>
            </a:r>
            <a:r>
              <a:rPr lang="en-US" sz="2400" dirty="0" err="1"/>
              <a:t>passs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pelan</a:t>
            </a:r>
            <a:r>
              <a:rPr lang="en-US" sz="2400" dirty="0"/>
              <a:t> yang </a:t>
            </a:r>
            <a:r>
              <a:rPr lang="en-US" sz="2400" dirty="0" err="1"/>
              <a:t>terletak</a:t>
            </a:r>
            <a:r>
              <a:rPr lang="en-US" sz="2400" dirty="0"/>
              <a:t> pada </a:t>
            </a:r>
            <a:r>
              <a:rPr lang="en-US" sz="2400" dirty="0" err="1"/>
              <a:t>deman</a:t>
            </a:r>
            <a:r>
              <a:rPr lang="en-US" sz="2400" dirty="0"/>
              <a:t> regulator dan 	</a:t>
            </a:r>
            <a:r>
              <a:rPr lang="en-US" sz="2400" dirty="0" err="1"/>
              <a:t>perhatikan</a:t>
            </a:r>
            <a:r>
              <a:rPr lang="en-US" sz="2400" dirty="0"/>
              <a:t> suling (warning whistle)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berbunyi</a:t>
            </a:r>
            <a:r>
              <a:rPr lang="en-US" sz="2400" dirty="0"/>
              <a:t> pada 	</a:t>
            </a:r>
            <a:r>
              <a:rPr lang="en-US" sz="2400" dirty="0" err="1"/>
              <a:t>tekanan</a:t>
            </a:r>
            <a:r>
              <a:rPr lang="en-US" sz="2400" dirty="0"/>
              <a:t> </a:t>
            </a:r>
            <a:r>
              <a:rPr lang="en-US" sz="2400" dirty="0" err="1"/>
              <a:t>sekitar</a:t>
            </a:r>
            <a:r>
              <a:rPr lang="en-US" sz="2400" dirty="0"/>
              <a:t> 40 – 50 bar.</a:t>
            </a:r>
          </a:p>
        </p:txBody>
      </p:sp>
    </p:spTree>
    <p:extLst>
      <p:ext uri="{BB962C8B-B14F-4D97-AF65-F5344CB8AC3E}">
        <p14:creationId xmlns:p14="http://schemas.microsoft.com/office/powerpoint/2010/main" val="685407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71" y="340937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87B7F-C6C3-D569-6757-7B21F3AC5B71}"/>
              </a:ext>
            </a:extLst>
          </p:cNvPr>
          <p:cNvSpPr txBox="1"/>
          <p:nvPr/>
        </p:nvSpPr>
        <p:spPr>
          <a:xfrm>
            <a:off x="1980343" y="1298500"/>
            <a:ext cx="73485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2) </a:t>
            </a:r>
            <a:r>
              <a:rPr lang="en-US" sz="3200" b="1" dirty="0" err="1"/>
              <a:t>Pemeriksaan</a:t>
            </a:r>
            <a:r>
              <a:rPr lang="en-US" sz="3200" b="1" dirty="0"/>
              <a:t> </a:t>
            </a:r>
            <a:r>
              <a:rPr lang="en-US" sz="3200" b="1" dirty="0" err="1"/>
              <a:t>Tekanan</a:t>
            </a:r>
            <a:r>
              <a:rPr lang="en-US" sz="3200" b="1" dirty="0"/>
              <a:t> </a:t>
            </a:r>
            <a:r>
              <a:rPr lang="en-US" sz="3200" b="1" dirty="0" err="1"/>
              <a:t>Rendah</a:t>
            </a:r>
            <a:endParaRPr lang="en-US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878337-128A-8799-F0A2-300EBA6FD88C}"/>
              </a:ext>
            </a:extLst>
          </p:cNvPr>
          <p:cNvSpPr txBox="1"/>
          <p:nvPr/>
        </p:nvSpPr>
        <p:spPr>
          <a:xfrm>
            <a:off x="983749" y="1910598"/>
            <a:ext cx="991713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/>
              <a:t>Buat</a:t>
            </a:r>
            <a:r>
              <a:rPr lang="en-US" sz="2400" dirty="0"/>
              <a:t> </a:t>
            </a:r>
            <a:r>
              <a:rPr lang="en-US" sz="2400" dirty="0" err="1"/>
              <a:t>kerangan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 dan </a:t>
            </a:r>
            <a:r>
              <a:rPr lang="en-US" sz="2400" dirty="0" err="1"/>
              <a:t>pakailah</a:t>
            </a:r>
            <a:r>
              <a:rPr lang="en-US" sz="2400" dirty="0"/>
              <a:t> face mask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Kuatkan</a:t>
            </a:r>
            <a:r>
              <a:rPr lang="en-US" sz="2400" dirty="0"/>
              <a:t> </a:t>
            </a:r>
            <a:r>
              <a:rPr lang="en-US" sz="2400" dirty="0" err="1"/>
              <a:t>ikatan</a:t>
            </a:r>
            <a:r>
              <a:rPr lang="en-US" sz="2400" dirty="0"/>
              <a:t> head strap, </a:t>
            </a:r>
            <a:r>
              <a:rPr lang="en-US" sz="2400" dirty="0" err="1"/>
              <a:t>mulai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bawah</a:t>
            </a:r>
            <a:r>
              <a:rPr lang="en-US" sz="2400" dirty="0"/>
              <a:t>, Tengah dan yang </a:t>
            </a:r>
            <a:r>
              <a:rPr lang="en-US" sz="2400" dirty="0" err="1"/>
              <a:t>terakhir</a:t>
            </a:r>
            <a:r>
              <a:rPr lang="en-US" sz="2400" dirty="0"/>
              <a:t>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Bernapaslah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biasa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Tangan</a:t>
            </a:r>
            <a:r>
              <a:rPr lang="en-US" sz="2400" dirty="0"/>
              <a:t> </a:t>
            </a:r>
            <a:r>
              <a:rPr lang="en-US" sz="2400" dirty="0" err="1"/>
              <a:t>kiri</a:t>
            </a:r>
            <a:r>
              <a:rPr lang="en-US" sz="2400" dirty="0"/>
              <a:t> </a:t>
            </a:r>
            <a:r>
              <a:rPr lang="en-US" sz="2400" dirty="0" err="1"/>
              <a:t>memegang</a:t>
            </a:r>
            <a:r>
              <a:rPr lang="en-US" sz="2400" dirty="0"/>
              <a:t> manometer, </a:t>
            </a:r>
            <a:r>
              <a:rPr lang="en-US" sz="2400" dirty="0" err="1"/>
              <a:t>sambil</a:t>
            </a:r>
            <a:r>
              <a:rPr lang="en-US" sz="2400" dirty="0"/>
              <a:t> </a:t>
            </a:r>
            <a:r>
              <a:rPr lang="en-US" sz="2400" dirty="0" err="1"/>
              <a:t>melihat</a:t>
            </a:r>
            <a:r>
              <a:rPr lang="en-US" sz="2400" dirty="0"/>
              <a:t> </a:t>
            </a:r>
            <a:r>
              <a:rPr lang="en-US" sz="2400" dirty="0" err="1"/>
              <a:t>jarum</a:t>
            </a:r>
            <a:r>
              <a:rPr lang="en-US" sz="2400" dirty="0"/>
              <a:t> </a:t>
            </a:r>
            <a:r>
              <a:rPr lang="en-US" sz="2400" dirty="0" err="1"/>
              <a:t>penunjuk</a:t>
            </a:r>
            <a:r>
              <a:rPr lang="en-US" sz="2400" dirty="0"/>
              <a:t> </a:t>
            </a:r>
            <a:r>
              <a:rPr lang="en-US" sz="2400" dirty="0" err="1"/>
              <a:t>tekanan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Tutup</a:t>
            </a:r>
            <a:r>
              <a:rPr lang="en-US" sz="2400" dirty="0"/>
              <a:t> </a:t>
            </a:r>
            <a:r>
              <a:rPr lang="en-US" sz="2400" dirty="0" err="1"/>
              <a:t>kembali</a:t>
            </a:r>
            <a:r>
              <a:rPr lang="en-US" sz="2400" dirty="0"/>
              <a:t> </a:t>
            </a:r>
            <a:r>
              <a:rPr lang="en-US" sz="2400" dirty="0" err="1"/>
              <a:t>kerangan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tangan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 yang </a:t>
            </a:r>
            <a:r>
              <a:rPr lang="en-US" sz="2400" dirty="0" err="1"/>
              <a:t>tetap</a:t>
            </a:r>
            <a:r>
              <a:rPr lang="en-US" sz="2400" dirty="0"/>
              <a:t> </a:t>
            </a:r>
            <a:r>
              <a:rPr lang="en-US" sz="2400" dirty="0" err="1"/>
              <a:t>berada</a:t>
            </a:r>
            <a:r>
              <a:rPr lang="en-US" sz="2400" dirty="0"/>
              <a:t> </a:t>
            </a:r>
            <a:r>
              <a:rPr lang="en-US" sz="2400" dirty="0" err="1"/>
              <a:t>didekat</a:t>
            </a:r>
            <a:r>
              <a:rPr lang="en-US" sz="2400" dirty="0"/>
              <a:t> </a:t>
            </a:r>
            <a:r>
              <a:rPr lang="en-US" sz="2400" dirty="0" err="1"/>
              <a:t>kerangan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Bernapas</a:t>
            </a:r>
            <a:r>
              <a:rPr lang="en-US" sz="2400" dirty="0"/>
              <a:t> </a:t>
            </a:r>
            <a:r>
              <a:rPr lang="en-US" sz="2400" dirty="0" err="1"/>
              <a:t>terus</a:t>
            </a:r>
            <a:r>
              <a:rPr lang="en-US" sz="2400" dirty="0"/>
              <a:t>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14321A-F938-D3C7-43CD-6E0BD29C0C61}"/>
              </a:ext>
            </a:extLst>
          </p:cNvPr>
          <p:cNvSpPr txBox="1"/>
          <p:nvPr/>
        </p:nvSpPr>
        <p:spPr>
          <a:xfrm>
            <a:off x="1486328" y="5293121"/>
            <a:ext cx="96097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– </a:t>
            </a:r>
            <a:r>
              <a:rPr lang="en-US" sz="2400" dirty="0" err="1"/>
              <a:t>Perhatikan</a:t>
            </a:r>
            <a:r>
              <a:rPr lang="en-US" sz="2400" dirty="0"/>
              <a:t> manometer dan pada </a:t>
            </a:r>
            <a:r>
              <a:rPr lang="en-US" sz="2400" dirty="0" err="1"/>
              <a:t>angka</a:t>
            </a:r>
            <a:r>
              <a:rPr lang="en-US" sz="2400" dirty="0"/>
              <a:t> </a:t>
            </a:r>
            <a:r>
              <a:rPr lang="en-US" sz="2400" dirty="0" err="1"/>
              <a:t>berapa</a:t>
            </a:r>
            <a:r>
              <a:rPr lang="en-US" sz="2400" dirty="0"/>
              <a:t> suling </a:t>
            </a:r>
            <a:r>
              <a:rPr lang="en-US" sz="2400" dirty="0" err="1"/>
              <a:t>berbunyi</a:t>
            </a:r>
            <a:endParaRPr lang="en-US" sz="2400" dirty="0"/>
          </a:p>
          <a:p>
            <a:r>
              <a:rPr lang="en-US" sz="2400" dirty="0"/>
              <a:t>– </a:t>
            </a:r>
            <a:r>
              <a:rPr lang="en-US" sz="2400" dirty="0" err="1"/>
              <a:t>Bernapas</a:t>
            </a:r>
            <a:r>
              <a:rPr lang="en-US" sz="2400" dirty="0"/>
              <a:t> </a:t>
            </a:r>
            <a:r>
              <a:rPr lang="en-US" sz="2400" dirty="0" err="1"/>
              <a:t>terus</a:t>
            </a:r>
            <a:r>
              <a:rPr lang="en-US" sz="2400" dirty="0"/>
              <a:t> </a:t>
            </a:r>
            <a:r>
              <a:rPr lang="en-US" sz="2400" dirty="0" err="1"/>
              <a:t>sampai</a:t>
            </a:r>
            <a:r>
              <a:rPr lang="en-US" sz="2400" dirty="0"/>
              <a:t> </a:t>
            </a:r>
            <a:r>
              <a:rPr lang="en-US" sz="2400" dirty="0" err="1"/>
              <a:t>jarum</a:t>
            </a:r>
            <a:r>
              <a:rPr lang="en-US" sz="2400" dirty="0"/>
              <a:t> manometer </a:t>
            </a:r>
            <a:r>
              <a:rPr lang="en-US" sz="2400" dirty="0" err="1"/>
              <a:t>menunjuk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</a:t>
            </a:r>
            <a:r>
              <a:rPr lang="en-US" sz="2400" dirty="0" err="1"/>
              <a:t>nol</a:t>
            </a:r>
            <a:r>
              <a:rPr lang="en-US" sz="2400" dirty="0"/>
              <a:t>, dan </a:t>
            </a:r>
            <a:r>
              <a:rPr lang="en-US" sz="2400" dirty="0" err="1"/>
              <a:t>goyangkanlah</a:t>
            </a:r>
            <a:r>
              <a:rPr lang="en-US" sz="2400" dirty="0"/>
              <a:t> </a:t>
            </a:r>
            <a:r>
              <a:rPr lang="en-US" sz="2400" dirty="0" err="1"/>
              <a:t>kepala</a:t>
            </a:r>
            <a:r>
              <a:rPr lang="en-US" sz="2400" dirty="0"/>
              <a:t> </a:t>
            </a:r>
            <a:r>
              <a:rPr lang="en-US" sz="2400" dirty="0" err="1"/>
              <a:t>kekiri</a:t>
            </a:r>
            <a:r>
              <a:rPr lang="en-US" sz="2400" dirty="0"/>
              <a:t>,   	</a:t>
            </a:r>
            <a:r>
              <a:rPr lang="en-US" sz="2400" dirty="0" err="1"/>
              <a:t>kekanan</a:t>
            </a:r>
            <a:r>
              <a:rPr lang="en-US" sz="2400" dirty="0"/>
              <a:t>, dan </a:t>
            </a:r>
            <a:r>
              <a:rPr lang="en-US" sz="2400" dirty="0" err="1"/>
              <a:t>keatas</a:t>
            </a:r>
            <a:r>
              <a:rPr lang="en-US" sz="2400" dirty="0"/>
              <a:t> </a:t>
            </a:r>
            <a:r>
              <a:rPr lang="en-US" sz="2400" dirty="0" err="1"/>
              <a:t>sambil</a:t>
            </a:r>
            <a:r>
              <a:rPr lang="en-US" sz="2400" dirty="0"/>
              <a:t> </a:t>
            </a:r>
            <a:r>
              <a:rPr lang="en-US" sz="2400" dirty="0" err="1"/>
              <a:t>bernapas</a:t>
            </a:r>
            <a:r>
              <a:rPr lang="en-US" sz="2400" dirty="0"/>
              <a:t>, </a:t>
            </a:r>
            <a:r>
              <a:rPr lang="en-US" sz="2400" dirty="0" err="1"/>
              <a:t>bila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kebocoran</a:t>
            </a:r>
            <a:r>
              <a:rPr lang="en-US" sz="2400" dirty="0"/>
              <a:t> </a:t>
            </a:r>
            <a:r>
              <a:rPr lang="en-US" sz="2400" dirty="0" err="1"/>
              <a:t>disekitar</a:t>
            </a:r>
            <a:r>
              <a:rPr lang="en-US" sz="2400" dirty="0"/>
              <a:t> </a:t>
            </a:r>
            <a:r>
              <a:rPr lang="en-US" sz="2400" dirty="0" err="1"/>
              <a:t>muka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alat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	</a:t>
            </a:r>
            <a:r>
              <a:rPr lang="en-US" sz="2400" dirty="0" err="1"/>
              <a:t>siap</a:t>
            </a:r>
            <a:r>
              <a:rPr lang="en-US" sz="2400" dirty="0"/>
              <a:t> </a:t>
            </a:r>
            <a:r>
              <a:rPr lang="en-US" sz="2400" dirty="0" err="1"/>
              <a:t>dipakai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7996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2A694-D58F-9764-E679-46144E86178B}"/>
              </a:ext>
            </a:extLst>
          </p:cNvPr>
          <p:cNvSpPr txBox="1"/>
          <p:nvPr/>
        </p:nvSpPr>
        <p:spPr>
          <a:xfrm>
            <a:off x="4318618" y="1113834"/>
            <a:ext cx="6200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MERAKIT SCBA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C28F93-86BD-E43E-A483-A490F1251147}"/>
              </a:ext>
            </a:extLst>
          </p:cNvPr>
          <p:cNvSpPr txBox="1"/>
          <p:nvPr/>
        </p:nvSpPr>
        <p:spPr>
          <a:xfrm>
            <a:off x="1982913" y="1883275"/>
            <a:ext cx="9769058" cy="465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Atur</a:t>
            </a:r>
            <a:r>
              <a:rPr lang="en-US" sz="2400" dirty="0"/>
              <a:t> </a:t>
            </a:r>
            <a:r>
              <a:rPr lang="en-US" sz="2400" dirty="0" err="1"/>
              <a:t>sebaik</a:t>
            </a:r>
            <a:r>
              <a:rPr lang="en-US" sz="2400" dirty="0"/>
              <a:t>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letak</a:t>
            </a:r>
            <a:r>
              <a:rPr lang="en-US" sz="2400" dirty="0"/>
              <a:t> </a:t>
            </a:r>
            <a:r>
              <a:rPr lang="en-US" sz="2400" i="1" dirty="0"/>
              <a:t>hardness</a:t>
            </a:r>
            <a:r>
              <a:rPr lang="en-US" sz="2400" dirty="0"/>
              <a:t> </a:t>
            </a:r>
            <a:r>
              <a:rPr lang="en-US" sz="2400" dirty="0" err="1"/>
              <a:t>pembawa</a:t>
            </a:r>
            <a:r>
              <a:rPr lang="en-US" sz="2400" dirty="0"/>
              <a:t> SCBA</a:t>
            </a:r>
          </a:p>
          <a:p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• </a:t>
            </a:r>
            <a:r>
              <a:rPr lang="en-US" sz="2400" dirty="0" err="1"/>
              <a:t>Longgarkan</a:t>
            </a:r>
            <a:r>
              <a:rPr lang="en-US" sz="2400" dirty="0"/>
              <a:t> </a:t>
            </a:r>
            <a:r>
              <a:rPr lang="en-US" sz="2400" dirty="0" err="1"/>
              <a:t>sabuk</a:t>
            </a:r>
            <a:r>
              <a:rPr lang="en-US" sz="2400" dirty="0"/>
              <a:t> </a:t>
            </a:r>
            <a:r>
              <a:rPr lang="en-US" sz="2400" dirty="0" err="1"/>
              <a:t>penggendong</a:t>
            </a:r>
            <a:r>
              <a:rPr lang="en-US" sz="2400" dirty="0"/>
              <a:t> dan </a:t>
            </a:r>
            <a:r>
              <a:rPr lang="en-US" sz="2400" dirty="0" err="1"/>
              <a:t>sabuk</a:t>
            </a:r>
            <a:r>
              <a:rPr lang="en-US" sz="2400" dirty="0"/>
              <a:t> ikat </a:t>
            </a:r>
            <a:r>
              <a:rPr lang="en-US" sz="2400" dirty="0" err="1"/>
              <a:t>pinggang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• Ambil </a:t>
            </a:r>
            <a:r>
              <a:rPr lang="en-US" sz="2400" dirty="0" err="1"/>
              <a:t>botol</a:t>
            </a:r>
            <a:r>
              <a:rPr lang="en-US" sz="2400" dirty="0"/>
              <a:t> BA yang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tersedia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• Buang </a:t>
            </a:r>
            <a:r>
              <a:rPr lang="en-US" sz="2400" dirty="0" err="1"/>
              <a:t>udara</a:t>
            </a:r>
            <a:r>
              <a:rPr lang="en-US" sz="2400" dirty="0"/>
              <a:t> </a:t>
            </a:r>
            <a:r>
              <a:rPr lang="en-US" sz="2400" dirty="0" err="1"/>
              <a:t>sedikit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botol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• </a:t>
            </a:r>
            <a:r>
              <a:rPr lang="en-US" sz="2400" dirty="0" err="1"/>
              <a:t>Hubungkan</a:t>
            </a:r>
            <a:r>
              <a:rPr lang="en-US" sz="2400" dirty="0"/>
              <a:t> </a:t>
            </a:r>
            <a:r>
              <a:rPr lang="en-US" sz="2400" dirty="0" err="1"/>
              <a:t>penyambung</a:t>
            </a:r>
            <a:r>
              <a:rPr lang="en-US" sz="2400" dirty="0"/>
              <a:t> </a:t>
            </a:r>
            <a:r>
              <a:rPr lang="en-US" sz="2400" dirty="0" err="1"/>
              <a:t>selang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botol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• </a:t>
            </a:r>
            <a:r>
              <a:rPr lang="en-US" sz="2400" dirty="0" err="1"/>
              <a:t>Ikatlah</a:t>
            </a:r>
            <a:r>
              <a:rPr lang="en-US" sz="2400" dirty="0"/>
              <a:t> </a:t>
            </a:r>
            <a:r>
              <a:rPr lang="en-US" sz="2400" dirty="0" err="1"/>
              <a:t>botol</a:t>
            </a:r>
            <a:r>
              <a:rPr lang="en-US" sz="2400" dirty="0"/>
              <a:t> pada hardness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</a:t>
            </a:r>
            <a:r>
              <a:rPr lang="en-US" sz="2400" dirty="0" err="1"/>
              <a:t>Sambung</a:t>
            </a:r>
            <a:r>
              <a:rPr lang="en-US" sz="2400" dirty="0"/>
              <a:t> facemask </a:t>
            </a:r>
            <a:r>
              <a:rPr lang="en-US" sz="2400" dirty="0" err="1"/>
              <a:t>dengan</a:t>
            </a:r>
            <a:r>
              <a:rPr lang="en-US" sz="2400" dirty="0"/>
              <a:t> Demand Valve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</a:t>
            </a:r>
            <a:r>
              <a:rPr lang="en-US" sz="2400" dirty="0" err="1"/>
              <a:t>Longgarkan</a:t>
            </a:r>
            <a:r>
              <a:rPr lang="en-US" sz="2400" dirty="0"/>
              <a:t> </a:t>
            </a:r>
            <a:r>
              <a:rPr lang="en-US" sz="2400" dirty="0" err="1"/>
              <a:t>headstrap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638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" y="9611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541AA-4D94-196F-D254-56CD62110735}"/>
              </a:ext>
            </a:extLst>
          </p:cNvPr>
          <p:cNvSpPr txBox="1"/>
          <p:nvPr/>
        </p:nvSpPr>
        <p:spPr>
          <a:xfrm>
            <a:off x="2658438" y="1236944"/>
            <a:ext cx="6200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PEMASANGAN SCBA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C28C12-CCBB-980D-98DE-AAB7DA23F523}"/>
              </a:ext>
            </a:extLst>
          </p:cNvPr>
          <p:cNvSpPr txBox="1"/>
          <p:nvPr/>
        </p:nvSpPr>
        <p:spPr>
          <a:xfrm>
            <a:off x="1993187" y="2251317"/>
            <a:ext cx="9210490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• </a:t>
            </a:r>
            <a:r>
              <a:rPr lang="en-US" sz="2400" dirty="0" err="1"/>
              <a:t>Berdirikan</a:t>
            </a:r>
            <a:r>
              <a:rPr lang="en-US" sz="2400" dirty="0"/>
              <a:t> </a:t>
            </a:r>
            <a:r>
              <a:rPr lang="en-US" sz="2400" dirty="0" err="1"/>
              <a:t>botol</a:t>
            </a:r>
            <a:r>
              <a:rPr lang="en-US" sz="2400" dirty="0"/>
              <a:t> BA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keadaan</a:t>
            </a:r>
            <a:r>
              <a:rPr lang="en-US" sz="2400" dirty="0"/>
              <a:t> </a:t>
            </a:r>
            <a:r>
              <a:rPr lang="en-US" sz="2400" dirty="0" err="1"/>
              <a:t>terbalik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• Masukkan </a:t>
            </a:r>
            <a:r>
              <a:rPr lang="en-US" sz="2400" dirty="0" err="1"/>
              <a:t>lengan</a:t>
            </a:r>
            <a:r>
              <a:rPr lang="en-US" sz="2400" dirty="0"/>
              <a:t> </a:t>
            </a:r>
            <a:r>
              <a:rPr lang="en-US" sz="2400" dirty="0" err="1"/>
              <a:t>kiri</a:t>
            </a:r>
            <a:r>
              <a:rPr lang="en-US" sz="2400" dirty="0"/>
              <a:t> dan </a:t>
            </a:r>
            <a:r>
              <a:rPr lang="en-US" sz="2400" dirty="0" err="1"/>
              <a:t>kanan</a:t>
            </a:r>
            <a:r>
              <a:rPr lang="en-US" sz="2400" dirty="0"/>
              <a:t> </a:t>
            </a:r>
            <a:r>
              <a:rPr lang="en-US" sz="2400" dirty="0" err="1"/>
              <a:t>kerangkaian</a:t>
            </a:r>
            <a:r>
              <a:rPr lang="en-US" sz="2400" dirty="0"/>
              <a:t> hardness yang </a:t>
            </a:r>
            <a:r>
              <a:rPr lang="en-US" sz="2400" dirty="0" err="1"/>
              <a:t>tersedia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• </a:t>
            </a:r>
            <a:r>
              <a:rPr lang="en-US" sz="2400" dirty="0" err="1"/>
              <a:t>Betulkan</a:t>
            </a:r>
            <a:r>
              <a:rPr lang="en-US" sz="2400" dirty="0"/>
              <a:t> </a:t>
            </a:r>
            <a:r>
              <a:rPr lang="en-US" sz="2400" dirty="0" err="1"/>
              <a:t>kedudukan</a:t>
            </a:r>
            <a:r>
              <a:rPr lang="en-US" sz="2400" dirty="0"/>
              <a:t> BA set </a:t>
            </a:r>
            <a:r>
              <a:rPr lang="en-US" sz="2400" dirty="0" err="1"/>
              <a:t>dipunggung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posisi</a:t>
            </a:r>
            <a:r>
              <a:rPr lang="en-US" sz="2400" dirty="0"/>
              <a:t> yang </a:t>
            </a:r>
            <a:r>
              <a:rPr lang="en-US" sz="2400" dirty="0" err="1"/>
              <a:t>nyaman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• </a:t>
            </a:r>
            <a:r>
              <a:rPr lang="en-US" sz="2400" dirty="0" err="1"/>
              <a:t>Ikatkan</a:t>
            </a:r>
            <a:r>
              <a:rPr lang="en-US" sz="2400" dirty="0"/>
              <a:t> </a:t>
            </a:r>
            <a:r>
              <a:rPr lang="en-US" sz="2400" dirty="0" err="1"/>
              <a:t>sabuk</a:t>
            </a:r>
            <a:r>
              <a:rPr lang="en-US" sz="2400" dirty="0"/>
              <a:t> </a:t>
            </a:r>
            <a:r>
              <a:rPr lang="en-US" sz="2400" dirty="0" err="1"/>
              <a:t>pinggangnya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82661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89948-55F6-27CE-F1CC-A8164A778831}"/>
              </a:ext>
            </a:extLst>
          </p:cNvPr>
          <p:cNvSpPr txBox="1"/>
          <p:nvPr/>
        </p:nvSpPr>
        <p:spPr>
          <a:xfrm>
            <a:off x="2902225" y="1360055"/>
            <a:ext cx="6200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CARA BERJALAN DENGAN SCBA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18CCC-713C-0AD6-5D01-C88D6E020137}"/>
              </a:ext>
            </a:extLst>
          </p:cNvPr>
          <p:cNvSpPr txBox="1"/>
          <p:nvPr/>
        </p:nvSpPr>
        <p:spPr>
          <a:xfrm>
            <a:off x="1148136" y="2129496"/>
            <a:ext cx="7862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1) </a:t>
            </a:r>
            <a:r>
              <a:rPr lang="en-US" sz="2400" dirty="0" err="1"/>
              <a:t>Berjalan</a:t>
            </a:r>
            <a:r>
              <a:rPr lang="en-US" sz="2400" dirty="0"/>
              <a:t> </a:t>
            </a:r>
            <a:r>
              <a:rPr lang="en-US" sz="2400" dirty="0" err="1"/>
              <a:t>tanpa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tali</a:t>
            </a:r>
            <a:r>
              <a:rPr lang="en-US" sz="2400" dirty="0"/>
              <a:t> </a:t>
            </a:r>
            <a:r>
              <a:rPr lang="en-US" sz="2400" dirty="0" err="1"/>
              <a:t>penunjuk</a:t>
            </a:r>
            <a:r>
              <a:rPr lang="en-US" sz="2400" dirty="0"/>
              <a:t> </a:t>
            </a:r>
            <a:r>
              <a:rPr lang="en-US" sz="2400" i="1" dirty="0"/>
              <a:t>(Guide Line)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8DFA25-4082-F336-8D9E-C248C4E762AA}"/>
              </a:ext>
            </a:extLst>
          </p:cNvPr>
          <p:cNvSpPr txBox="1"/>
          <p:nvPr/>
        </p:nvSpPr>
        <p:spPr>
          <a:xfrm>
            <a:off x="1425538" y="2837382"/>
            <a:ext cx="87356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Satu </a:t>
            </a:r>
            <a:r>
              <a:rPr lang="en-US" sz="2400" dirty="0" err="1"/>
              <a:t>tangan</a:t>
            </a:r>
            <a:r>
              <a:rPr lang="en-US" sz="2400" dirty="0"/>
              <a:t> </a:t>
            </a:r>
            <a:r>
              <a:rPr lang="en-US" sz="2400" dirty="0" err="1"/>
              <a:t>diulurkan</a:t>
            </a:r>
            <a:r>
              <a:rPr lang="en-US" sz="2400" dirty="0"/>
              <a:t> </a:t>
            </a:r>
            <a:r>
              <a:rPr lang="en-US" sz="2400" dirty="0" err="1"/>
              <a:t>kedepan</a:t>
            </a:r>
            <a:r>
              <a:rPr lang="en-US" sz="2400" dirty="0"/>
              <a:t> </a:t>
            </a:r>
            <a:r>
              <a:rPr lang="en-US" sz="2400" dirty="0" err="1"/>
              <a:t>muka</a:t>
            </a:r>
            <a:r>
              <a:rPr lang="en-US" sz="2400" dirty="0"/>
              <a:t> / </a:t>
            </a:r>
            <a:r>
              <a:rPr lang="en-US" sz="2400" dirty="0" err="1"/>
              <a:t>badandengan</a:t>
            </a:r>
            <a:r>
              <a:rPr lang="en-US" sz="2400" dirty="0"/>
              <a:t> </a:t>
            </a:r>
            <a:r>
              <a:rPr lang="en-US" sz="2400" dirty="0" err="1"/>
              <a:t>telapak</a:t>
            </a:r>
            <a:r>
              <a:rPr lang="en-US" sz="2400" dirty="0"/>
              <a:t> </a:t>
            </a:r>
            <a:r>
              <a:rPr lang="en-US" sz="2400" dirty="0" err="1"/>
              <a:t>tangan</a:t>
            </a:r>
            <a:r>
              <a:rPr lang="en-US" sz="2400" dirty="0"/>
              <a:t> </a:t>
            </a:r>
            <a:r>
              <a:rPr lang="en-US" sz="2400" dirty="0" err="1"/>
              <a:t>menghadap</a:t>
            </a:r>
            <a:r>
              <a:rPr lang="en-US" sz="2400" dirty="0"/>
              <a:t> </a:t>
            </a:r>
            <a:r>
              <a:rPr lang="en-US" sz="2400" dirty="0" err="1"/>
              <a:t>kedalam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Satu </a:t>
            </a:r>
            <a:r>
              <a:rPr lang="en-US" sz="2400" dirty="0" err="1"/>
              <a:t>tangan</a:t>
            </a:r>
            <a:r>
              <a:rPr lang="en-US" sz="2400" dirty="0"/>
              <a:t> </a:t>
            </a:r>
            <a:r>
              <a:rPr lang="en-US" sz="2400" dirty="0" err="1"/>
              <a:t>berada</a:t>
            </a:r>
            <a:r>
              <a:rPr lang="en-US" sz="2400" dirty="0"/>
              <a:t> </a:t>
            </a:r>
            <a:r>
              <a:rPr lang="en-US" sz="2400" dirty="0" err="1"/>
              <a:t>didepan</a:t>
            </a:r>
            <a:r>
              <a:rPr lang="en-US" sz="2400" dirty="0"/>
              <a:t> face mask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jarak</a:t>
            </a:r>
            <a:r>
              <a:rPr lang="en-US" sz="2400" dirty="0"/>
              <a:t> ± 10cm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Berjalan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menggeser</a:t>
            </a:r>
            <a:r>
              <a:rPr lang="en-US" sz="2400" dirty="0"/>
              <a:t> kaki, </a:t>
            </a:r>
            <a:r>
              <a:rPr lang="en-US" sz="2400" dirty="0" err="1"/>
              <a:t>berat</a:t>
            </a:r>
            <a:r>
              <a:rPr lang="en-US" sz="2400" dirty="0"/>
              <a:t> badan </a:t>
            </a:r>
            <a:r>
              <a:rPr lang="en-US" sz="2400" dirty="0" err="1"/>
              <a:t>bertumpu</a:t>
            </a:r>
            <a:r>
              <a:rPr lang="en-US" sz="2400" dirty="0"/>
              <a:t> di kaki </a:t>
            </a:r>
            <a:r>
              <a:rPr lang="en-US" sz="2400" dirty="0" err="1"/>
              <a:t>belakang</a:t>
            </a:r>
            <a:r>
              <a:rPr lang="en-US" sz="2400" dirty="0"/>
              <a:t> dan </a:t>
            </a:r>
            <a:r>
              <a:rPr lang="en-US" sz="2400" dirty="0" err="1"/>
              <a:t>jangan</a:t>
            </a:r>
            <a:r>
              <a:rPr lang="en-US" sz="2400" dirty="0"/>
              <a:t>   </a:t>
            </a:r>
            <a:r>
              <a:rPr lang="en-US" sz="2400" dirty="0" err="1"/>
              <a:t>sekali</a:t>
            </a:r>
            <a:r>
              <a:rPr lang="en-US" sz="2400" dirty="0"/>
              <a:t>-kali </a:t>
            </a:r>
            <a:r>
              <a:rPr lang="en-US" sz="2400" dirty="0" err="1"/>
              <a:t>melangkahkan</a:t>
            </a:r>
            <a:r>
              <a:rPr lang="en-US" sz="2400" dirty="0"/>
              <a:t> kaki. </a:t>
            </a:r>
          </a:p>
        </p:txBody>
      </p:sp>
    </p:spTree>
    <p:extLst>
      <p:ext uri="{BB962C8B-B14F-4D97-AF65-F5344CB8AC3E}">
        <p14:creationId xmlns:p14="http://schemas.microsoft.com/office/powerpoint/2010/main" val="2352105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43865" y="751047"/>
            <a:ext cx="915427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800" b="1" dirty="0"/>
              <a:t>2) </a:t>
            </a:r>
            <a:r>
              <a:rPr lang="en-US" sz="2800" b="1" dirty="0" err="1"/>
              <a:t>Berjalan</a:t>
            </a:r>
            <a:r>
              <a:rPr lang="en-US" sz="2800" b="1" dirty="0"/>
              <a:t> </a:t>
            </a:r>
            <a:r>
              <a:rPr lang="en-US" sz="2800" b="1" dirty="0" err="1"/>
              <a:t>dengan</a:t>
            </a:r>
            <a:r>
              <a:rPr lang="en-US" sz="2800" b="1" dirty="0"/>
              <a:t> </a:t>
            </a:r>
            <a:r>
              <a:rPr lang="en-US" sz="2800" b="1" dirty="0" err="1"/>
              <a:t>menggunakan</a:t>
            </a:r>
            <a:r>
              <a:rPr lang="en-US" sz="2800" b="1" dirty="0"/>
              <a:t> </a:t>
            </a:r>
            <a:r>
              <a:rPr lang="en-US" sz="2800" b="1" dirty="0" err="1"/>
              <a:t>tali</a:t>
            </a:r>
            <a:r>
              <a:rPr lang="en-US" sz="2800" b="1" dirty="0"/>
              <a:t> </a:t>
            </a:r>
            <a:r>
              <a:rPr lang="en-US" sz="2800" b="1" dirty="0" err="1"/>
              <a:t>penunjuk</a:t>
            </a:r>
            <a:r>
              <a:rPr lang="en-US" sz="2800" b="1" dirty="0"/>
              <a:t> (Guide Line)</a:t>
            </a:r>
          </a:p>
          <a:p>
            <a:r>
              <a:rPr lang="en-US" sz="2800" dirty="0"/>
              <a:t>	• </a:t>
            </a:r>
            <a:r>
              <a:rPr lang="en-US" sz="2800" dirty="0" err="1"/>
              <a:t>Berjalan</a:t>
            </a:r>
            <a:r>
              <a:rPr lang="en-US" sz="2800" dirty="0"/>
              <a:t>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prinsip</a:t>
            </a:r>
            <a:r>
              <a:rPr lang="en-US" sz="2800" dirty="0"/>
              <a:t> “1”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diatas</a:t>
            </a:r>
            <a:endParaRPr lang="en-US" sz="2800" dirty="0"/>
          </a:p>
          <a:p>
            <a:r>
              <a:rPr lang="en-US" sz="2800" dirty="0"/>
              <a:t>	• </a:t>
            </a:r>
            <a:r>
              <a:rPr lang="en-US" sz="2800" dirty="0" err="1"/>
              <a:t>Telusuri</a:t>
            </a:r>
            <a:r>
              <a:rPr lang="en-US" sz="2800" dirty="0"/>
              <a:t> </a:t>
            </a:r>
            <a:r>
              <a:rPr lang="en-US" sz="2800" dirty="0" err="1"/>
              <a:t>tali</a:t>
            </a:r>
            <a:endParaRPr lang="en-US" sz="2800" dirty="0"/>
          </a:p>
          <a:p>
            <a:r>
              <a:rPr lang="en-US" sz="2800" dirty="0"/>
              <a:t>	• </a:t>
            </a:r>
            <a:r>
              <a:rPr lang="en-US" sz="2800" dirty="0" err="1"/>
              <a:t>Perhatikan</a:t>
            </a:r>
            <a:r>
              <a:rPr lang="en-US" sz="2800" dirty="0"/>
              <a:t> </a:t>
            </a:r>
            <a:r>
              <a:rPr lang="en-US" sz="2800" dirty="0" err="1"/>
              <a:t>simpul</a:t>
            </a:r>
            <a:r>
              <a:rPr lang="en-US" sz="2800" dirty="0"/>
              <a:t> pada </a:t>
            </a:r>
            <a:r>
              <a:rPr lang="en-US" sz="2800" dirty="0" err="1"/>
              <a:t>tali</a:t>
            </a:r>
            <a:endParaRPr lang="en-US" sz="28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CFA3A-E2B9-F7A3-F24B-B3E7F0A6C39E}"/>
              </a:ext>
            </a:extLst>
          </p:cNvPr>
          <p:cNvSpPr txBox="1"/>
          <p:nvPr/>
        </p:nvSpPr>
        <p:spPr>
          <a:xfrm>
            <a:off x="1643865" y="3343412"/>
            <a:ext cx="107056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3) </a:t>
            </a:r>
            <a:r>
              <a:rPr lang="en-US" sz="2800" b="1" dirty="0" err="1"/>
              <a:t>Pemakaian</a:t>
            </a:r>
            <a:r>
              <a:rPr lang="en-US" sz="2800" b="1" dirty="0"/>
              <a:t> SCBA pada </a:t>
            </a:r>
            <a:r>
              <a:rPr lang="en-US" sz="2800" b="1" dirty="0" err="1"/>
              <a:t>saat</a:t>
            </a:r>
            <a:r>
              <a:rPr lang="en-US" sz="2800" b="1" dirty="0"/>
              <a:t> </a:t>
            </a:r>
            <a:r>
              <a:rPr lang="en-US" sz="2800" b="1" dirty="0" err="1"/>
              <a:t>terjebak</a:t>
            </a:r>
            <a:endParaRPr lang="en-US" sz="2800" b="1" dirty="0"/>
          </a:p>
          <a:p>
            <a:r>
              <a:rPr lang="en-US" sz="2800" dirty="0"/>
              <a:t>	• </a:t>
            </a:r>
            <a:r>
              <a:rPr lang="en-US" sz="2800" dirty="0" err="1"/>
              <a:t>Hentikan</a:t>
            </a:r>
            <a:r>
              <a:rPr lang="en-US" sz="2800" dirty="0"/>
              <a:t> </a:t>
            </a:r>
            <a:r>
              <a:rPr lang="en-US" sz="2800" dirty="0" err="1"/>
              <a:t>semua</a:t>
            </a:r>
            <a:r>
              <a:rPr lang="en-US" sz="2800" dirty="0"/>
              <a:t> </a:t>
            </a:r>
            <a:r>
              <a:rPr lang="en-US" sz="2800" dirty="0" err="1"/>
              <a:t>kegiatan</a:t>
            </a:r>
            <a:endParaRPr lang="en-US" sz="2800" dirty="0"/>
          </a:p>
          <a:p>
            <a:r>
              <a:rPr lang="en-US" sz="2800" dirty="0"/>
              <a:t>	• </a:t>
            </a:r>
            <a:r>
              <a:rPr lang="en-US" sz="2800" dirty="0" err="1"/>
              <a:t>Tetap</a:t>
            </a:r>
            <a:r>
              <a:rPr lang="en-US" sz="2800" dirty="0"/>
              <a:t> </a:t>
            </a:r>
            <a:r>
              <a:rPr lang="en-US" sz="2800" dirty="0" err="1"/>
              <a:t>tenangkan</a:t>
            </a:r>
            <a:r>
              <a:rPr lang="en-US" sz="2800" dirty="0"/>
              <a:t> </a:t>
            </a:r>
            <a:r>
              <a:rPr lang="en-US" sz="2800" dirty="0" err="1"/>
              <a:t>pikiran</a:t>
            </a:r>
            <a:endParaRPr lang="en-US" sz="2800" dirty="0"/>
          </a:p>
          <a:p>
            <a:r>
              <a:rPr lang="en-US" sz="2800" dirty="0"/>
              <a:t>	• </a:t>
            </a:r>
            <a:r>
              <a:rPr lang="en-US" sz="2800" dirty="0" err="1"/>
              <a:t>Aturlah</a:t>
            </a:r>
            <a:r>
              <a:rPr lang="en-US" sz="2800" dirty="0"/>
              <a:t> </a:t>
            </a:r>
            <a:r>
              <a:rPr lang="en-US" sz="2800" dirty="0" err="1"/>
              <a:t>pernapasan</a:t>
            </a:r>
            <a:r>
              <a:rPr lang="en-US" sz="2800" dirty="0"/>
              <a:t> </a:t>
            </a:r>
            <a:r>
              <a:rPr lang="en-US" sz="2800" dirty="0" err="1"/>
              <a:t>sehemat</a:t>
            </a:r>
            <a:r>
              <a:rPr lang="en-US" sz="2800" dirty="0"/>
              <a:t> </a:t>
            </a:r>
            <a:r>
              <a:rPr lang="en-US" sz="2800" dirty="0" err="1"/>
              <a:t>mungkin</a:t>
            </a:r>
            <a:endParaRPr lang="en-US" sz="2800" dirty="0"/>
          </a:p>
          <a:p>
            <a:r>
              <a:rPr lang="en-US" sz="2800" dirty="0"/>
              <a:t>	• </a:t>
            </a:r>
            <a:r>
              <a:rPr lang="en-US" sz="2800" dirty="0" err="1"/>
              <a:t>Usahakan</a:t>
            </a:r>
            <a:r>
              <a:rPr lang="en-US" sz="2800" dirty="0"/>
              <a:t> </a:t>
            </a:r>
            <a:r>
              <a:rPr lang="en-US" sz="2800" dirty="0" err="1"/>
              <a:t>hubungan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pengawas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menggunakan</a:t>
            </a:r>
            <a:r>
              <a:rPr lang="en-US" sz="2800" dirty="0"/>
              <a:t>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AE560-3F54-CAFE-27B8-7F0FD011A874}"/>
              </a:ext>
            </a:extLst>
          </p:cNvPr>
          <p:cNvSpPr txBox="1"/>
          <p:nvPr/>
        </p:nvSpPr>
        <p:spPr>
          <a:xfrm>
            <a:off x="3287730" y="5653333"/>
            <a:ext cx="62261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Alat </a:t>
            </a:r>
            <a:r>
              <a:rPr lang="en-US" sz="2800" dirty="0" err="1"/>
              <a:t>komunikasi</a:t>
            </a:r>
            <a:r>
              <a:rPr lang="en-US" sz="2800" dirty="0"/>
              <a:t> </a:t>
            </a:r>
            <a:r>
              <a:rPr lang="en-US" sz="2800" dirty="0" err="1"/>
              <a:t>tersedia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Distress Signal Unit (DSU)</a:t>
            </a:r>
          </a:p>
        </p:txBody>
      </p:sp>
    </p:spTree>
    <p:extLst>
      <p:ext uri="{BB962C8B-B14F-4D97-AF65-F5344CB8AC3E}">
        <p14:creationId xmlns:p14="http://schemas.microsoft.com/office/powerpoint/2010/main" val="4288927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3DAB3-CD99-4251-91E8-04223723B0F6}"/>
              </a:ext>
            </a:extLst>
          </p:cNvPr>
          <p:cNvSpPr txBox="1"/>
          <p:nvPr/>
        </p:nvSpPr>
        <p:spPr>
          <a:xfrm>
            <a:off x="1733764" y="1360055"/>
            <a:ext cx="6200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2800" b="1" dirty="0"/>
              <a:t>4) Hal – hal lain yang perlu diperhatikan</a:t>
            </a:r>
            <a:endParaRPr lang="en-US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0DBD3-5ED2-94A3-6CEC-8D05769F5258}"/>
              </a:ext>
            </a:extLst>
          </p:cNvPr>
          <p:cNvSpPr txBox="1"/>
          <p:nvPr/>
        </p:nvSpPr>
        <p:spPr>
          <a:xfrm>
            <a:off x="2424185" y="2188081"/>
            <a:ext cx="93808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• Cek / test SCBA </a:t>
            </a:r>
            <a:r>
              <a:rPr lang="en-US" sz="2800" dirty="0" err="1"/>
              <a:t>sebelum</a:t>
            </a:r>
            <a:r>
              <a:rPr lang="en-US" sz="2800" dirty="0"/>
              <a:t> </a:t>
            </a:r>
            <a:r>
              <a:rPr lang="en-US" sz="2800" dirty="0" err="1"/>
              <a:t>dioperasikan</a:t>
            </a:r>
            <a:endParaRPr lang="en-US" sz="2800" dirty="0"/>
          </a:p>
          <a:p>
            <a:r>
              <a:rPr lang="en-US" sz="2800" dirty="0"/>
              <a:t>• </a:t>
            </a:r>
            <a:r>
              <a:rPr lang="en-US" sz="2800" dirty="0" err="1"/>
              <a:t>Pemakaian</a:t>
            </a:r>
            <a:r>
              <a:rPr lang="en-US" sz="2800" dirty="0"/>
              <a:t> SCBA </a:t>
            </a:r>
            <a:r>
              <a:rPr lang="en-US" sz="2800" dirty="0" err="1"/>
              <a:t>sewaktu</a:t>
            </a:r>
            <a:r>
              <a:rPr lang="en-US" sz="2800" dirty="0"/>
              <a:t> </a:t>
            </a:r>
            <a:r>
              <a:rPr lang="en-US" sz="2800" dirty="0" err="1"/>
              <a:t>beroperasi</a:t>
            </a:r>
            <a:r>
              <a:rPr lang="en-US" sz="2800" dirty="0"/>
              <a:t> minimum 2 orang</a:t>
            </a:r>
          </a:p>
          <a:p>
            <a:r>
              <a:rPr lang="en-US" sz="2800" dirty="0"/>
              <a:t>• Harus </a:t>
            </a:r>
            <a:r>
              <a:rPr lang="en-US" sz="2800" dirty="0" err="1"/>
              <a:t>ada</a:t>
            </a:r>
            <a:r>
              <a:rPr lang="en-US" sz="2800" dirty="0"/>
              <a:t> </a:t>
            </a:r>
            <a:r>
              <a:rPr lang="en-US" sz="2800" dirty="0" err="1"/>
              <a:t>regu</a:t>
            </a:r>
            <a:r>
              <a:rPr lang="en-US" sz="2800" dirty="0"/>
              <a:t> </a:t>
            </a:r>
            <a:r>
              <a:rPr lang="en-US" sz="2800" dirty="0" err="1"/>
              <a:t>bantuan</a:t>
            </a:r>
            <a:r>
              <a:rPr lang="en-US" sz="2800" dirty="0"/>
              <a:t> </a:t>
            </a:r>
            <a:r>
              <a:rPr lang="en-US" sz="2800" dirty="0" err="1"/>
              <a:t>diluar</a:t>
            </a:r>
            <a:r>
              <a:rPr lang="en-US" sz="2800" dirty="0"/>
              <a:t> yang </a:t>
            </a:r>
            <a:r>
              <a:rPr lang="en-US" sz="2800" dirty="0" err="1"/>
              <a:t>siap</a:t>
            </a:r>
            <a:r>
              <a:rPr lang="en-US" sz="2800" dirty="0"/>
              <a:t> </a:t>
            </a:r>
            <a:r>
              <a:rPr lang="en-US" sz="2800" dirty="0" err="1"/>
              <a:t>siaga</a:t>
            </a:r>
            <a:endParaRPr lang="en-US" sz="2800" dirty="0"/>
          </a:p>
          <a:p>
            <a:r>
              <a:rPr lang="en-US" sz="2800" dirty="0"/>
              <a:t>• </a:t>
            </a:r>
            <a:r>
              <a:rPr lang="en-US" sz="2800" dirty="0" err="1"/>
              <a:t>Jangan</a:t>
            </a:r>
            <a:r>
              <a:rPr lang="en-US" sz="2800" dirty="0"/>
              <a:t> </a:t>
            </a:r>
            <a:r>
              <a:rPr lang="en-US" sz="2800" dirty="0" err="1"/>
              <a:t>sekali</a:t>
            </a:r>
            <a:r>
              <a:rPr lang="en-US" sz="2800" dirty="0"/>
              <a:t> – kali </a:t>
            </a:r>
            <a:r>
              <a:rPr lang="en-US" sz="2800" dirty="0" err="1"/>
              <a:t>membentur</a:t>
            </a:r>
            <a:r>
              <a:rPr lang="en-US" sz="2800" dirty="0"/>
              <a:t> </a:t>
            </a:r>
            <a:r>
              <a:rPr lang="en-US" sz="2800" dirty="0" err="1"/>
              <a:t>botol</a:t>
            </a:r>
            <a:r>
              <a:rPr lang="en-US" sz="2800" dirty="0"/>
              <a:t> BA </a:t>
            </a: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keras</a:t>
            </a:r>
            <a:endParaRPr lang="en-US" sz="2800" dirty="0"/>
          </a:p>
          <a:p>
            <a:r>
              <a:rPr lang="en-US" sz="2800" dirty="0"/>
              <a:t>• </a:t>
            </a:r>
            <a:r>
              <a:rPr lang="en-US" sz="2800" dirty="0" err="1"/>
              <a:t>Perhitungkan</a:t>
            </a:r>
            <a:r>
              <a:rPr lang="en-US" sz="2800" dirty="0"/>
              <a:t> </a:t>
            </a:r>
            <a:r>
              <a:rPr lang="en-US" sz="2800" dirty="0" err="1"/>
              <a:t>waktu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persediaan</a:t>
            </a:r>
            <a:r>
              <a:rPr lang="en-US" sz="2800" dirty="0"/>
              <a:t> </a:t>
            </a:r>
            <a:r>
              <a:rPr lang="en-US" sz="2800" dirty="0" err="1"/>
              <a:t>isi</a:t>
            </a:r>
            <a:r>
              <a:rPr lang="en-US" sz="2800" dirty="0"/>
              <a:t> </a:t>
            </a:r>
            <a:r>
              <a:rPr lang="en-US" sz="2800" dirty="0" err="1"/>
              <a:t>udara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botol</a:t>
            </a:r>
            <a:endParaRPr lang="en-US" sz="2800" dirty="0"/>
          </a:p>
          <a:p>
            <a:r>
              <a:rPr lang="en-US" sz="2800" dirty="0"/>
              <a:t>• </a:t>
            </a:r>
            <a:r>
              <a:rPr lang="en-US" sz="2800" dirty="0" err="1"/>
              <a:t>Jangan</a:t>
            </a:r>
            <a:r>
              <a:rPr lang="en-US" sz="2800" dirty="0"/>
              <a:t> </a:t>
            </a:r>
            <a:r>
              <a:rPr lang="en-US" sz="2800" dirty="0" err="1"/>
              <a:t>panik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37700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BB6C3-423D-69E3-7670-2D53715F45C7}"/>
              </a:ext>
            </a:extLst>
          </p:cNvPr>
          <p:cNvSpPr txBox="1"/>
          <p:nvPr/>
        </p:nvSpPr>
        <p:spPr>
          <a:xfrm>
            <a:off x="2697823" y="1236944"/>
            <a:ext cx="6200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PERHITUNGAN PEMAKAIAN SCBA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68D242-3118-D838-E5C9-5F82CB150E6F}"/>
              </a:ext>
            </a:extLst>
          </p:cNvPr>
          <p:cNvSpPr txBox="1"/>
          <p:nvPr/>
        </p:nvSpPr>
        <p:spPr>
          <a:xfrm>
            <a:off x="1672118" y="2135244"/>
            <a:ext cx="88383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Pada </a:t>
            </a:r>
            <a:r>
              <a:rPr lang="en-US" sz="2800" dirty="0" err="1"/>
              <a:t>penggunaan</a:t>
            </a:r>
            <a:r>
              <a:rPr lang="en-US" sz="2800" dirty="0"/>
              <a:t> SCBA </a:t>
            </a:r>
            <a:r>
              <a:rPr lang="en-US" sz="2800" dirty="0" err="1"/>
              <a:t>kita</a:t>
            </a:r>
            <a:r>
              <a:rPr lang="en-US" sz="2800" dirty="0"/>
              <a:t> </a:t>
            </a:r>
            <a:r>
              <a:rPr lang="en-US" sz="2800" dirty="0" err="1"/>
              <a:t>mengenal</a:t>
            </a:r>
            <a:r>
              <a:rPr lang="en-US" sz="2800" dirty="0"/>
              <a:t> </a:t>
            </a:r>
            <a:r>
              <a:rPr lang="en-US" sz="2800" dirty="0" err="1"/>
              <a:t>beberapa</a:t>
            </a:r>
            <a:r>
              <a:rPr lang="en-US" sz="2800" dirty="0"/>
              <a:t> </a:t>
            </a:r>
            <a:r>
              <a:rPr lang="en-US" sz="2800" dirty="0" err="1"/>
              <a:t>istilah</a:t>
            </a:r>
            <a:r>
              <a:rPr lang="en-US" sz="2800" dirty="0"/>
              <a:t> </a:t>
            </a:r>
            <a:r>
              <a:rPr lang="en-US" sz="2800" dirty="0" err="1"/>
              <a:t>berikut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303877-16F5-D712-B6DC-F09062919CCE}"/>
              </a:ext>
            </a:extLst>
          </p:cNvPr>
          <p:cNvSpPr txBox="1"/>
          <p:nvPr/>
        </p:nvSpPr>
        <p:spPr>
          <a:xfrm>
            <a:off x="1368746" y="3428703"/>
            <a:ext cx="965770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2400" dirty="0"/>
              <a:t>Full Duration (FD),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waktu</a:t>
            </a:r>
            <a:r>
              <a:rPr lang="en-US" sz="2400" dirty="0"/>
              <a:t> </a:t>
            </a:r>
            <a:r>
              <a:rPr lang="en-US" sz="2400" dirty="0" err="1"/>
              <a:t>penggunaan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tekanan</a:t>
            </a:r>
            <a:r>
              <a:rPr lang="en-US" sz="2400" dirty="0"/>
              <a:t> </a:t>
            </a:r>
            <a:r>
              <a:rPr lang="en-US" sz="2400" dirty="0" err="1"/>
              <a:t>penuh</a:t>
            </a:r>
            <a:r>
              <a:rPr lang="en-US" sz="2400" dirty="0"/>
              <a:t> </a:t>
            </a:r>
            <a:r>
              <a:rPr lang="en-US" sz="2400" dirty="0" err="1"/>
              <a:t>sampai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tabung</a:t>
            </a:r>
            <a:r>
              <a:rPr lang="en-US" sz="2400" dirty="0"/>
              <a:t> </a:t>
            </a:r>
            <a:r>
              <a:rPr lang="en-US" sz="2400" dirty="0" err="1"/>
              <a:t>habis</a:t>
            </a:r>
            <a:r>
              <a:rPr lang="en-US" sz="2400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/>
              <a:t>Safety Margin (SM),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waktu</a:t>
            </a:r>
            <a:r>
              <a:rPr lang="en-US" sz="2400" dirty="0"/>
              <a:t> </a:t>
            </a:r>
            <a:r>
              <a:rPr lang="en-US" sz="2400" dirty="0" err="1"/>
              <a:t>penggunaan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mulai</a:t>
            </a:r>
            <a:r>
              <a:rPr lang="en-US" sz="2400" dirty="0"/>
              <a:t> </a:t>
            </a:r>
            <a:r>
              <a:rPr lang="en-US" sz="2400" dirty="0" err="1"/>
              <a:t>peluit</a:t>
            </a:r>
            <a:r>
              <a:rPr lang="en-US" sz="2400" dirty="0"/>
              <a:t> (warning whistle) </a:t>
            </a:r>
            <a:r>
              <a:rPr lang="en-US" sz="2400" dirty="0" err="1"/>
              <a:t>berbunyi</a:t>
            </a:r>
            <a:r>
              <a:rPr lang="en-US" sz="2400" dirty="0"/>
              <a:t> </a:t>
            </a:r>
            <a:r>
              <a:rPr lang="en-US" sz="2400" dirty="0" err="1"/>
              <a:t>sampai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tabung</a:t>
            </a:r>
            <a:r>
              <a:rPr lang="en-US" sz="2400" dirty="0"/>
              <a:t> </a:t>
            </a:r>
            <a:r>
              <a:rPr lang="en-US" sz="2400" dirty="0" err="1"/>
              <a:t>habis</a:t>
            </a:r>
            <a:r>
              <a:rPr lang="en-US" sz="2400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/>
              <a:t>Working Duration (WD),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waktu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bekerja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aktifitas</a:t>
            </a:r>
            <a:r>
              <a:rPr lang="en-US" sz="2400" dirty="0"/>
              <a:t>, </a:t>
            </a:r>
            <a:r>
              <a:rPr lang="en-US" sz="2400" dirty="0" err="1"/>
              <a:t>dimulai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tekanan</a:t>
            </a:r>
            <a:r>
              <a:rPr lang="en-US" sz="2400" dirty="0"/>
              <a:t> </a:t>
            </a:r>
            <a:r>
              <a:rPr lang="en-US" sz="2400" dirty="0" err="1"/>
              <a:t>penuh</a:t>
            </a:r>
            <a:r>
              <a:rPr lang="en-US" sz="2400" dirty="0"/>
              <a:t> </a:t>
            </a:r>
            <a:r>
              <a:rPr lang="en-US" sz="2400" dirty="0" err="1"/>
              <a:t>hingga</a:t>
            </a:r>
            <a:r>
              <a:rPr lang="en-US" sz="2400" dirty="0"/>
              <a:t> </a:t>
            </a:r>
            <a:r>
              <a:rPr lang="en-US" sz="2400" dirty="0" err="1"/>
              <a:t>peluit</a:t>
            </a:r>
            <a:r>
              <a:rPr lang="en-US" sz="2400" dirty="0"/>
              <a:t> (warning whistle) </a:t>
            </a:r>
            <a:r>
              <a:rPr lang="en-US" sz="2400" dirty="0" err="1"/>
              <a:t>berbunyi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8178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776E2B-66ED-14C0-3E36-5AFC011F8DF7}"/>
              </a:ext>
            </a:extLst>
          </p:cNvPr>
          <p:cNvSpPr txBox="1"/>
          <p:nvPr/>
        </p:nvSpPr>
        <p:spPr>
          <a:xfrm>
            <a:off x="1160980" y="1974318"/>
            <a:ext cx="10042697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/>
              <a:t>3.   Inhalation Standard (IS),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kebutuhan</a:t>
            </a:r>
            <a:r>
              <a:rPr lang="en-US" sz="2400" dirty="0"/>
              <a:t> </a:t>
            </a:r>
            <a:r>
              <a:rPr lang="en-US" sz="2400" dirty="0" err="1"/>
              <a:t>udara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kebutuhan</a:t>
            </a:r>
            <a:r>
              <a:rPr lang="en-US" sz="2400" dirty="0"/>
              <a:t> </a:t>
            </a:r>
            <a:r>
              <a:rPr lang="en-US" sz="2400" dirty="0" err="1"/>
              <a:t>bernapas</a:t>
            </a:r>
            <a:r>
              <a:rPr lang="en-US" sz="2400" dirty="0"/>
              <a:t>     </a:t>
            </a:r>
            <a:r>
              <a:rPr lang="en-US" sz="2400" dirty="0" err="1"/>
              <a:t>manusia</a:t>
            </a:r>
            <a:r>
              <a:rPr lang="en-US" sz="2400" dirty="0"/>
              <a:t> ± 40 </a:t>
            </a:r>
            <a:r>
              <a:rPr lang="en-US" sz="2400" dirty="0" err="1"/>
              <a:t>lt</a:t>
            </a:r>
            <a:r>
              <a:rPr lang="en-US" sz="2400" dirty="0"/>
              <a:t>/</a:t>
            </a:r>
            <a:r>
              <a:rPr lang="en-US" sz="2400" dirty="0" err="1"/>
              <a:t>mnt.BAR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i="1" dirty="0"/>
              <a:t>4.    Full Pressure (FP),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tekanan</a:t>
            </a:r>
            <a:r>
              <a:rPr lang="en-US" sz="2400" dirty="0"/>
              <a:t> </a:t>
            </a:r>
            <a:r>
              <a:rPr lang="en-US" sz="2400" dirty="0" err="1"/>
              <a:t>tabung</a:t>
            </a:r>
            <a:r>
              <a:rPr lang="en-US" sz="2400" dirty="0"/>
              <a:t> </a:t>
            </a:r>
            <a:r>
              <a:rPr lang="en-US" sz="2400" dirty="0" err="1"/>
              <a:t>penuh</a:t>
            </a:r>
            <a:r>
              <a:rPr lang="en-US" sz="2400" dirty="0"/>
              <a:t> 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tekanan</a:t>
            </a:r>
            <a:r>
              <a:rPr lang="en-US" sz="2400" dirty="0"/>
              <a:t> </a:t>
            </a:r>
            <a:r>
              <a:rPr lang="en-US" sz="2400" dirty="0" err="1"/>
              <a:t>kerjanya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i="1" dirty="0"/>
              <a:t>5.    Standard Pressure (SP</a:t>
            </a:r>
            <a:r>
              <a:rPr lang="en-US" sz="2400" dirty="0"/>
              <a:t>),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besaran</a:t>
            </a:r>
            <a:r>
              <a:rPr lang="en-US" sz="2400" dirty="0"/>
              <a:t> </a:t>
            </a:r>
            <a:r>
              <a:rPr lang="en-US" sz="2400" dirty="0" err="1"/>
              <a:t>tekanan</a:t>
            </a:r>
            <a:r>
              <a:rPr lang="en-US" sz="2400" dirty="0"/>
              <a:t> pada </a:t>
            </a:r>
            <a:r>
              <a:rPr lang="en-US" sz="2400" dirty="0" err="1"/>
              <a:t>waktu</a:t>
            </a:r>
            <a:r>
              <a:rPr lang="en-US" sz="2400" dirty="0"/>
              <a:t> </a:t>
            </a:r>
            <a:r>
              <a:rPr lang="en-US" sz="2400" dirty="0" err="1"/>
              <a:t>peluit</a:t>
            </a:r>
            <a:r>
              <a:rPr lang="en-US" sz="2400" dirty="0"/>
              <a:t> </a:t>
            </a:r>
            <a:r>
              <a:rPr lang="en-US" sz="2400" i="1" dirty="0"/>
              <a:t>(warning whistle) </a:t>
            </a:r>
            <a:r>
              <a:rPr lang="en-US" sz="2400" i="1" dirty="0" err="1"/>
              <a:t>mulai</a:t>
            </a:r>
            <a:r>
              <a:rPr lang="en-US" sz="2400" i="1" dirty="0"/>
              <a:t> </a:t>
            </a:r>
            <a:r>
              <a:rPr lang="en-US" sz="2400" dirty="0" err="1"/>
              <a:t>berbunyi</a:t>
            </a:r>
            <a:r>
              <a:rPr lang="en-US" sz="2400" dirty="0"/>
              <a:t>, </a:t>
            </a:r>
            <a:r>
              <a:rPr lang="en-US" sz="2400" dirty="0" err="1"/>
              <a:t>hal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bias di </a:t>
            </a:r>
            <a:r>
              <a:rPr lang="en-US" sz="2400" dirty="0" err="1"/>
              <a:t>lihat</a:t>
            </a:r>
            <a:r>
              <a:rPr lang="en-US" sz="2400" dirty="0"/>
              <a:t> di </a:t>
            </a:r>
            <a:r>
              <a:rPr lang="en-US" sz="2400" i="1" dirty="0"/>
              <a:t>pressure gauge</a:t>
            </a:r>
          </a:p>
        </p:txBody>
      </p:sp>
    </p:spTree>
    <p:extLst>
      <p:ext uri="{BB962C8B-B14F-4D97-AF65-F5344CB8AC3E}">
        <p14:creationId xmlns:p14="http://schemas.microsoft.com/office/powerpoint/2010/main" val="26886406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1902B-EDD6-5B18-91FA-5C01B8BF5BBC}"/>
              </a:ext>
            </a:extLst>
          </p:cNvPr>
          <p:cNvSpPr txBox="1"/>
          <p:nvPr/>
        </p:nvSpPr>
        <p:spPr>
          <a:xfrm>
            <a:off x="1191802" y="1368970"/>
            <a:ext cx="91645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bila</a:t>
            </a:r>
            <a:r>
              <a:rPr lang="en-US" sz="2400" dirty="0"/>
              <a:t> </a:t>
            </a:r>
            <a:r>
              <a:rPr lang="en-US" sz="2400" dirty="0" err="1"/>
              <a:t>diketahui</a:t>
            </a:r>
            <a:r>
              <a:rPr lang="en-US" sz="2400" dirty="0"/>
              <a:t> Volume </a:t>
            </a:r>
            <a:r>
              <a:rPr lang="en-US" sz="2400" dirty="0" err="1"/>
              <a:t>tabung</a:t>
            </a:r>
            <a:r>
              <a:rPr lang="en-US" sz="2400" dirty="0"/>
              <a:t> SCBA 9 liter, </a:t>
            </a:r>
            <a:r>
              <a:rPr lang="en-US" sz="2400" dirty="0" err="1"/>
              <a:t>tekanan</a:t>
            </a:r>
            <a:r>
              <a:rPr lang="en-US" sz="2400" dirty="0"/>
              <a:t> 200 BAR</a:t>
            </a:r>
          </a:p>
          <a:p>
            <a:r>
              <a:rPr lang="en-US" sz="2400" dirty="0"/>
              <a:t>dan </a:t>
            </a:r>
            <a:r>
              <a:rPr lang="en-US" sz="2400" dirty="0" err="1"/>
              <a:t>peluit</a:t>
            </a:r>
            <a:r>
              <a:rPr lang="en-US" sz="2400" dirty="0"/>
              <a:t> </a:t>
            </a:r>
            <a:r>
              <a:rPr lang="en-US" sz="2400" dirty="0" err="1"/>
              <a:t>berbunyi</a:t>
            </a:r>
            <a:r>
              <a:rPr lang="en-US" sz="2400" dirty="0"/>
              <a:t> pada </a:t>
            </a:r>
            <a:r>
              <a:rPr lang="en-US" sz="2400" dirty="0" err="1"/>
              <a:t>tekanan</a:t>
            </a:r>
            <a:r>
              <a:rPr lang="en-US" sz="2400" dirty="0"/>
              <a:t> 45 BAR,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dihitung</a:t>
            </a:r>
            <a:r>
              <a:rPr lang="en-US" sz="2400" dirty="0"/>
              <a:t> </a:t>
            </a:r>
            <a:r>
              <a:rPr lang="en-US" sz="2400" dirty="0" err="1"/>
              <a:t>sbb</a:t>
            </a:r>
            <a:r>
              <a:rPr lang="en-US" sz="2400" dirty="0"/>
              <a:t> : </a:t>
            </a:r>
          </a:p>
          <a:p>
            <a:endParaRPr lang="en-US" sz="2400" dirty="0"/>
          </a:p>
          <a:p>
            <a:r>
              <a:rPr lang="en-US" sz="2400" dirty="0"/>
              <a:t>WD = FD – SM</a:t>
            </a:r>
          </a:p>
          <a:p>
            <a:r>
              <a:rPr lang="en-US" sz="2400" dirty="0"/>
              <a:t>FD = Volume x FP / IS</a:t>
            </a:r>
          </a:p>
          <a:p>
            <a:r>
              <a:rPr lang="en-US" sz="2400" dirty="0"/>
              <a:t>= 9 </a:t>
            </a:r>
            <a:r>
              <a:rPr lang="en-US" sz="2400" dirty="0" err="1"/>
              <a:t>lt</a:t>
            </a:r>
            <a:r>
              <a:rPr lang="en-US" sz="2400" dirty="0"/>
              <a:t> x 200 BAR / 40 </a:t>
            </a:r>
            <a:r>
              <a:rPr lang="en-US" sz="2400" dirty="0" err="1"/>
              <a:t>lt</a:t>
            </a:r>
            <a:r>
              <a:rPr lang="en-US" sz="2400" dirty="0"/>
              <a:t>/</a:t>
            </a:r>
            <a:r>
              <a:rPr lang="en-US" sz="2400" dirty="0" err="1"/>
              <a:t>mnt.BAR</a:t>
            </a:r>
            <a:endParaRPr lang="en-US" sz="2400" dirty="0"/>
          </a:p>
          <a:p>
            <a:r>
              <a:rPr lang="en-US" sz="2400" dirty="0"/>
              <a:t>= 45 </a:t>
            </a:r>
            <a:r>
              <a:rPr lang="en-US" sz="2400" dirty="0" err="1"/>
              <a:t>mnt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DE9554-32F7-7766-E269-CA9B869EA362}"/>
              </a:ext>
            </a:extLst>
          </p:cNvPr>
          <p:cNvSpPr txBox="1"/>
          <p:nvPr/>
        </p:nvSpPr>
        <p:spPr>
          <a:xfrm>
            <a:off x="6096000" y="2427963"/>
            <a:ext cx="62004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/>
              <a:t>SM = Volume x SP / IS</a:t>
            </a:r>
          </a:p>
          <a:p>
            <a:r>
              <a:rPr lang="nl-NL" sz="2400" dirty="0"/>
              <a:t>= 9 lt x 45 BAR / 40 lt/mnt.BAR</a:t>
            </a:r>
          </a:p>
          <a:p>
            <a:r>
              <a:rPr lang="nl-NL" sz="2400" dirty="0"/>
              <a:t>= 10,125 mnt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BB767D-0A4E-5B2E-F63D-980CD9F9D314}"/>
              </a:ext>
            </a:extLst>
          </p:cNvPr>
          <p:cNvSpPr txBox="1"/>
          <p:nvPr/>
        </p:nvSpPr>
        <p:spPr>
          <a:xfrm>
            <a:off x="1271427" y="4276782"/>
            <a:ext cx="62004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Jadi, Working Duration </a:t>
            </a:r>
            <a:r>
              <a:rPr lang="en-US" sz="2400" dirty="0" err="1"/>
              <a:t>nya</a:t>
            </a:r>
            <a:endParaRPr lang="en-US" sz="2400" dirty="0"/>
          </a:p>
          <a:p>
            <a:r>
              <a:rPr lang="en-US" sz="2400" dirty="0"/>
              <a:t>= (45 – 10 ) </a:t>
            </a:r>
            <a:r>
              <a:rPr lang="en-US" sz="2400" dirty="0" err="1"/>
              <a:t>mnt</a:t>
            </a:r>
            <a:endParaRPr lang="en-US" sz="2400" dirty="0"/>
          </a:p>
          <a:p>
            <a:r>
              <a:rPr lang="en-US" sz="2400" dirty="0"/>
              <a:t>= 35 </a:t>
            </a:r>
            <a:r>
              <a:rPr lang="en-US" sz="2400" dirty="0" err="1"/>
              <a:t>mnt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1A24C4-EEB2-DF15-4F33-3A29A596E49C}"/>
              </a:ext>
            </a:extLst>
          </p:cNvPr>
          <p:cNvSpPr txBox="1"/>
          <p:nvPr/>
        </p:nvSpPr>
        <p:spPr>
          <a:xfrm>
            <a:off x="4622146" y="4774670"/>
            <a:ext cx="71653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</a:rPr>
              <a:t>Artinya</a:t>
            </a:r>
            <a:r>
              <a:rPr lang="en-US" sz="2400" dirty="0">
                <a:solidFill>
                  <a:srgbClr val="C00000"/>
                </a:solidFill>
              </a:rPr>
              <a:t> SCBA </a:t>
            </a:r>
            <a:r>
              <a:rPr lang="en-US" sz="2400" dirty="0" err="1">
                <a:solidFill>
                  <a:srgbClr val="C00000"/>
                </a:solidFill>
              </a:rPr>
              <a:t>diatas</a:t>
            </a:r>
            <a:r>
              <a:rPr lang="en-US" sz="2400" dirty="0">
                <a:solidFill>
                  <a:srgbClr val="C00000"/>
                </a:solidFill>
              </a:rPr>
              <a:t> bias </a:t>
            </a:r>
            <a:r>
              <a:rPr lang="en-US" sz="2400" dirty="0" err="1">
                <a:solidFill>
                  <a:srgbClr val="C00000"/>
                </a:solidFill>
              </a:rPr>
              <a:t>dipakai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bekerja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selama</a:t>
            </a:r>
            <a:r>
              <a:rPr lang="en-US" sz="2400" dirty="0">
                <a:solidFill>
                  <a:srgbClr val="C00000"/>
                </a:solidFill>
              </a:rPr>
              <a:t> 35 </a:t>
            </a:r>
            <a:r>
              <a:rPr lang="en-US" sz="2400" dirty="0" err="1">
                <a:solidFill>
                  <a:srgbClr val="C00000"/>
                </a:solidFill>
              </a:rPr>
              <a:t>menit</a:t>
            </a:r>
            <a:r>
              <a:rPr lang="en-US" sz="2400" dirty="0">
                <a:solidFill>
                  <a:srgbClr val="C00000"/>
                </a:solidFill>
              </a:rPr>
              <a:t> dan </a:t>
            </a:r>
            <a:r>
              <a:rPr lang="en-US" sz="2400" dirty="0" err="1">
                <a:solidFill>
                  <a:srgbClr val="C00000"/>
                </a:solidFill>
              </a:rPr>
              <a:t>mulai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peluit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berbunyi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kita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mempunyai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waktu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untuk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segera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meninggalkan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tempat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kerja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untuk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menghindari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bahaya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keracunan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atau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defisiensi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oksigen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dalam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waktu</a:t>
            </a:r>
            <a:r>
              <a:rPr lang="en-US" sz="2400" dirty="0">
                <a:solidFill>
                  <a:srgbClr val="C00000"/>
                </a:solidFill>
              </a:rPr>
              <a:t> ±10 </a:t>
            </a:r>
            <a:r>
              <a:rPr lang="en-US" sz="2400" dirty="0" err="1">
                <a:solidFill>
                  <a:srgbClr val="C00000"/>
                </a:solidFill>
              </a:rPr>
              <a:t>menit</a:t>
            </a:r>
            <a:r>
              <a:rPr lang="en-US" sz="2400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9797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A84EFE-9C1A-C4DC-83CA-61BE5F73321B}"/>
              </a:ext>
            </a:extLst>
          </p:cNvPr>
          <p:cNvSpPr txBox="1"/>
          <p:nvPr/>
        </p:nvSpPr>
        <p:spPr>
          <a:xfrm>
            <a:off x="2997485" y="2943814"/>
            <a:ext cx="62004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C00000"/>
                </a:solidFill>
              </a:rPr>
              <a:t>TERIMA KASIH </a:t>
            </a:r>
          </a:p>
        </p:txBody>
      </p:sp>
    </p:spTree>
    <p:extLst>
      <p:ext uri="{BB962C8B-B14F-4D97-AF65-F5344CB8AC3E}">
        <p14:creationId xmlns:p14="http://schemas.microsoft.com/office/powerpoint/2010/main" val="3956127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9627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37779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52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1877</Words>
  <Application>Microsoft Office PowerPoint</Application>
  <PresentationFormat>Widescreen</PresentationFormat>
  <Paragraphs>150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Wingdings</vt:lpstr>
      <vt:lpstr>Office Theme</vt:lpstr>
      <vt:lpstr>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ALAT PELINDUNG DIRI (APD)</dc:title>
  <dc:creator>asus</dc:creator>
  <cp:lastModifiedBy>asus</cp:lastModifiedBy>
  <cp:revision>39</cp:revision>
  <dcterms:created xsi:type="dcterms:W3CDTF">2024-08-11T00:35:09Z</dcterms:created>
  <dcterms:modified xsi:type="dcterms:W3CDTF">2024-09-25T15:00:22Z</dcterms:modified>
</cp:coreProperties>
</file>